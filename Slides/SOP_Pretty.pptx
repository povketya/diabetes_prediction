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3408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3AACB8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2286000"/>
            <a:ext cx="5486400" cy="5486400"/>
          </a:xfrm>
          <a:prstGeom prst="ellipse">
            <a:avLst/>
          </a:prstGeom>
          <a:solidFill>
            <a:srgbClr val="C9973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2A8A94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" y="0"/>
            <a:ext cx="9089136" cy="347472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E5B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OVERVIEW  ·  DATA SECURITY  ·  MISTI INTERNSHIP 2025–2026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566928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Security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Operating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5B9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Procedures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502920" y="2944368"/>
            <a:ext cx="2560320" cy="36576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3090672"/>
            <a:ext cx="2697480" cy="310896"/>
          </a:xfrm>
          <a:prstGeom prst="roundRect">
            <a:avLst>
              <a:gd name="adj" fmla="val 14706"/>
            </a:avLst>
          </a:prstGeom>
          <a:solidFill>
            <a:srgbClr val="1E2530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3090672"/>
            <a:ext cx="54864" cy="310896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090672"/>
            <a:ext cx="2496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7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Overview &amp; Research Problem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01568" y="3090672"/>
            <a:ext cx="2697480" cy="310896"/>
          </a:xfrm>
          <a:prstGeom prst="roundRect">
            <a:avLst>
              <a:gd name="adj" fmla="val 14706"/>
            </a:avLst>
          </a:prstGeom>
          <a:solidFill>
            <a:srgbClr val="1E2530"/>
          </a:solidFill>
          <a:ln/>
        </p:spPr>
      </p:sp>
      <p:sp>
        <p:nvSpPr>
          <p:cNvPr id="16" name="Shape 14"/>
          <p:cNvSpPr/>
          <p:nvPr/>
        </p:nvSpPr>
        <p:spPr>
          <a:xfrm>
            <a:off x="3401568" y="3090672"/>
            <a:ext cx="54864" cy="310896"/>
          </a:xfrm>
          <a:prstGeom prst="rect">
            <a:avLst/>
          </a:prstGeom>
          <a:solidFill>
            <a:srgbClr val="3AACB8"/>
          </a:solidFill>
          <a:ln/>
        </p:spPr>
      </p:sp>
      <p:sp>
        <p:nvSpPr>
          <p:cNvPr id="17" name="Text 15"/>
          <p:cNvSpPr/>
          <p:nvPr/>
        </p:nvSpPr>
        <p:spPr>
          <a:xfrm>
            <a:off x="3557016" y="3090672"/>
            <a:ext cx="2496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7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Results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00216" y="3090672"/>
            <a:ext cx="2697480" cy="310896"/>
          </a:xfrm>
          <a:prstGeom prst="roundRect">
            <a:avLst>
              <a:gd name="adj" fmla="val 14706"/>
            </a:avLst>
          </a:prstGeom>
          <a:solidFill>
            <a:srgbClr val="1E2530"/>
          </a:solidFill>
          <a:ln/>
        </p:spPr>
      </p:sp>
      <p:sp>
        <p:nvSpPr>
          <p:cNvPr id="19" name="Shape 17"/>
          <p:cNvSpPr/>
          <p:nvPr/>
        </p:nvSpPr>
        <p:spPr>
          <a:xfrm>
            <a:off x="6300216" y="3090672"/>
            <a:ext cx="54864" cy="310896"/>
          </a:xfrm>
          <a:prstGeom prst="rect">
            <a:avLst/>
          </a:prstGeom>
          <a:solidFill>
            <a:srgbClr val="8A7FC8"/>
          </a:solidFill>
          <a:ln/>
        </p:spPr>
      </p:sp>
      <p:sp>
        <p:nvSpPr>
          <p:cNvPr id="20" name="Text 18"/>
          <p:cNvSpPr/>
          <p:nvPr/>
        </p:nvSpPr>
        <p:spPr>
          <a:xfrm>
            <a:off x="6455664" y="3090672"/>
            <a:ext cx="2496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7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389534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Engineering  |  Royal University of Phnom Penh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418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" y="0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85800" y="164592"/>
            <a:ext cx="36576" cy="237744"/>
          </a:xfrm>
          <a:prstGeom prst="rect">
            <a:avLst/>
          </a:prstGeom>
          <a:solidFill>
            <a:srgbClr val="3A4550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Overview &amp; Research Problem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56032" y="676656"/>
            <a:ext cx="8631936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4C9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676656"/>
            <a:ext cx="54864" cy="694944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88696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Security Standard Operating Procedures (SOPs)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56032" y="1481328"/>
            <a:ext cx="4169664" cy="3218688"/>
          </a:xfrm>
          <a:prstGeom prst="rect">
            <a:avLst/>
          </a:prstGeom>
          <a:solidFill>
            <a:srgbClr val="1E2530"/>
          </a:solidFill>
          <a:ln w="6350">
            <a:solidFill>
              <a:srgbClr val="3A45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1481328"/>
            <a:ext cx="4169664" cy="365760"/>
          </a:xfrm>
          <a:prstGeom prst="rect">
            <a:avLst/>
          </a:prstGeom>
          <a:solidFill>
            <a:srgbClr val="2B3340"/>
          </a:solidFill>
          <a:ln/>
        </p:spPr>
      </p:sp>
      <p:sp>
        <p:nvSpPr>
          <p:cNvPr id="15" name="Shape 13"/>
          <p:cNvSpPr/>
          <p:nvPr/>
        </p:nvSpPr>
        <p:spPr>
          <a:xfrm>
            <a:off x="292608" y="1499616"/>
            <a:ext cx="310896" cy="310896"/>
          </a:xfrm>
          <a:prstGeom prst="ellipse">
            <a:avLst/>
          </a:prstGeom>
          <a:solidFill>
            <a:srgbClr val="C9973A"/>
          </a:solidFill>
          <a:ln/>
        </p:spPr>
      </p:sp>
      <p:sp>
        <p:nvSpPr>
          <p:cNvPr id="16" name="Text 14"/>
          <p:cNvSpPr/>
          <p:nvPr/>
        </p:nvSpPr>
        <p:spPr>
          <a:xfrm>
            <a:off x="292608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4944" y="148132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E5B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PROBLEM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938528"/>
            <a:ext cx="54864" cy="347472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1920240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Cambodia ranks lowest in cybersecurity commitment among all ASEAN countries (Global Cybersecurity Index).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473452"/>
            <a:ext cx="54864" cy="347472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" y="2455164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MISTI handles citizen PII, chemical records, and business registrations with no standardized data security procedures.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008376"/>
            <a:ext cx="54864" cy="347472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" y="2990088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absence of comprehensive data governance in Cambodia — no enforced classification, no SOP framework.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543300"/>
            <a:ext cx="54864" cy="347472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" y="3525012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Overconfidence in current data security reflects a lack of technical awareness across institutions.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078224"/>
            <a:ext cx="54864" cy="347472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" y="4059936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digital transformation (e-government, KHQR, digital IDs) expands the attack surface faster than security can keep up.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18304" y="1481328"/>
            <a:ext cx="4169664" cy="3218688"/>
          </a:xfrm>
          <a:prstGeom prst="rect">
            <a:avLst/>
          </a:prstGeom>
          <a:solidFill>
            <a:srgbClr val="FFFFFF"/>
          </a:solidFill>
          <a:ln w="9525">
            <a:solidFill>
              <a:srgbClr val="D4C9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18304" y="1481328"/>
            <a:ext cx="4169664" cy="365760"/>
          </a:xfrm>
          <a:prstGeom prst="rect">
            <a:avLst/>
          </a:prstGeom>
          <a:solidFill>
            <a:srgbClr val="EDE8DF"/>
          </a:solidFill>
          <a:ln/>
        </p:spPr>
      </p:sp>
      <p:sp>
        <p:nvSpPr>
          <p:cNvPr id="30" name="Shape 28"/>
          <p:cNvSpPr/>
          <p:nvPr/>
        </p:nvSpPr>
        <p:spPr>
          <a:xfrm>
            <a:off x="4718304" y="1481328"/>
            <a:ext cx="54864" cy="365760"/>
          </a:xfrm>
          <a:prstGeom prst="rect">
            <a:avLst/>
          </a:prstGeom>
          <a:solidFill>
            <a:srgbClr val="3AACB8"/>
          </a:solidFill>
          <a:ln/>
        </p:spPr>
      </p:sp>
      <p:sp>
        <p:nvSpPr>
          <p:cNvPr id="31" name="Text 29"/>
          <p:cNvSpPr/>
          <p:nvPr/>
        </p:nvSpPr>
        <p:spPr>
          <a:xfrm>
            <a:off x="4864608" y="14813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9744" y="1920240"/>
            <a:ext cx="1920240" cy="713232"/>
          </a:xfrm>
          <a:prstGeom prst="roundRect">
            <a:avLst>
              <a:gd name="adj" fmla="val 6410"/>
            </a:avLst>
          </a:prstGeom>
          <a:solidFill>
            <a:srgbClr val="EDE8DF"/>
          </a:solidFill>
          <a:ln/>
        </p:spPr>
      </p:sp>
      <p:sp>
        <p:nvSpPr>
          <p:cNvPr id="33" name="Shape 31"/>
          <p:cNvSpPr/>
          <p:nvPr/>
        </p:nvSpPr>
        <p:spPr>
          <a:xfrm>
            <a:off x="4809744" y="1920240"/>
            <a:ext cx="1920240" cy="45720"/>
          </a:xfrm>
          <a:prstGeom prst="rect">
            <a:avLst/>
          </a:prstGeom>
          <a:solidFill>
            <a:srgbClr val="3AACB8"/>
          </a:solidFill>
          <a:ln/>
        </p:spPr>
      </p:sp>
      <p:sp>
        <p:nvSpPr>
          <p:cNvPr id="34" name="Text 32"/>
          <p:cNvSpPr/>
          <p:nvPr/>
        </p:nvSpPr>
        <p:spPr>
          <a:xfrm>
            <a:off x="4809744" y="19933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A8A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4.4M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809744" y="235915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breach cost 2025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876288" y="1920240"/>
            <a:ext cx="1920240" cy="713232"/>
          </a:xfrm>
          <a:prstGeom prst="roundRect">
            <a:avLst>
              <a:gd name="adj" fmla="val 6410"/>
            </a:avLst>
          </a:prstGeom>
          <a:solidFill>
            <a:srgbClr val="EDE8DF"/>
          </a:solidFill>
          <a:ln/>
        </p:spPr>
      </p:sp>
      <p:sp>
        <p:nvSpPr>
          <p:cNvPr id="37" name="Shape 35"/>
          <p:cNvSpPr/>
          <p:nvPr/>
        </p:nvSpPr>
        <p:spPr>
          <a:xfrm>
            <a:off x="6876288" y="1920240"/>
            <a:ext cx="1920240" cy="4572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38" name="Text 36"/>
          <p:cNvSpPr/>
          <p:nvPr/>
        </p:nvSpPr>
        <p:spPr>
          <a:xfrm>
            <a:off x="6876288" y="19933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82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#Lowest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876288" y="235915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ASEAN cybersecurity rank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809744" y="2761488"/>
            <a:ext cx="91440" cy="91440"/>
          </a:xfrm>
          <a:prstGeom prst="ellipse">
            <a:avLst/>
          </a:prstGeom>
          <a:solidFill>
            <a:srgbClr val="3AACB8"/>
          </a:solidFill>
          <a:ln/>
        </p:spPr>
      </p:sp>
      <p:sp>
        <p:nvSpPr>
          <p:cNvPr id="41" name="Text 39"/>
          <p:cNvSpPr/>
          <p:nvPr/>
        </p:nvSpPr>
        <p:spPr>
          <a:xfrm>
            <a:off x="4992624" y="2734056"/>
            <a:ext cx="380390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SOPs, sensitive data is handled inconsistently leading to breaches, financial loss, and legal penalties.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09744" y="3236976"/>
            <a:ext cx="91440" cy="91440"/>
          </a:xfrm>
          <a:prstGeom prst="ellipse">
            <a:avLst/>
          </a:prstGeom>
          <a:solidFill>
            <a:srgbClr val="3AACB8"/>
          </a:solidFill>
          <a:ln/>
        </p:spPr>
      </p:sp>
      <p:sp>
        <p:nvSpPr>
          <p:cNvPr id="43" name="Text 41"/>
          <p:cNvSpPr/>
          <p:nvPr/>
        </p:nvSpPr>
        <p:spPr>
          <a:xfrm>
            <a:off x="4992624" y="3209544"/>
            <a:ext cx="380390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27001, NIST, and GDPR all mandate data classification and tiered controls Cambodia's ministries currently lack these.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09744" y="3712464"/>
            <a:ext cx="91440" cy="91440"/>
          </a:xfrm>
          <a:prstGeom prst="ellipse">
            <a:avLst/>
          </a:prstGeom>
          <a:solidFill>
            <a:srgbClr val="3AACB8"/>
          </a:solidFill>
          <a:ln/>
        </p:spPr>
      </p:sp>
      <p:sp>
        <p:nvSpPr>
          <p:cNvPr id="45" name="Text 43"/>
          <p:cNvSpPr/>
          <p:nvPr/>
        </p:nvSpPr>
        <p:spPr>
          <a:xfrm>
            <a:off x="4992624" y="3685032"/>
            <a:ext cx="380390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DSSOP at MISTI creates a replicable model for all Cambodian government ministries.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09744" y="4187952"/>
            <a:ext cx="91440" cy="91440"/>
          </a:xfrm>
          <a:prstGeom prst="ellipse">
            <a:avLst/>
          </a:prstGeom>
          <a:solidFill>
            <a:srgbClr val="3AACB8"/>
          </a:solidFill>
          <a:ln/>
        </p:spPr>
      </p:sp>
      <p:sp>
        <p:nvSpPr>
          <p:cNvPr id="47" name="Text 45"/>
          <p:cNvSpPr/>
          <p:nvPr/>
        </p:nvSpPr>
        <p:spPr>
          <a:xfrm>
            <a:off x="4992624" y="4160520"/>
            <a:ext cx="380390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SOPs protect citizen data, meet international standards, and build public trust in digital services.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56032" y="4663440"/>
            <a:ext cx="8631936" cy="146304"/>
          </a:xfrm>
          <a:prstGeom prst="roundRect">
            <a:avLst>
              <a:gd name="adj" fmla="val 18750"/>
            </a:avLst>
          </a:prstGeom>
          <a:solidFill>
            <a:srgbClr val="EDE8D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3AACB8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C9973A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3AACB8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" y="0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85800" y="164592"/>
            <a:ext cx="36576" cy="237744"/>
          </a:xfrm>
          <a:prstGeom prst="rect">
            <a:avLst/>
          </a:prstGeom>
          <a:solidFill>
            <a:srgbClr val="3A4550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Methodology, Results &amp; Key Findings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56032" y="676656"/>
            <a:ext cx="4169664" cy="4023360"/>
          </a:xfrm>
          <a:prstGeom prst="rect">
            <a:avLst/>
          </a:prstGeom>
          <a:solidFill>
            <a:srgbClr val="1E2530"/>
          </a:solidFill>
          <a:ln w="6350">
            <a:solidFill>
              <a:srgbClr val="3A45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676656"/>
            <a:ext cx="4169664" cy="329184"/>
          </a:xfrm>
          <a:prstGeom prst="rect">
            <a:avLst/>
          </a:prstGeom>
          <a:solidFill>
            <a:srgbClr val="2B3340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" y="67665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3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1078992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C9973A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6384" y="108813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86384" y="1280160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NIST SP 800-12r1, NIST SP 800-53, ASD ISM (Australia), and Cambodia's National Data Governance Baseline Report.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347472" y="1645920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AACB8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6384" y="1655064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Mapping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86384" y="1847088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ISO/IEC 27001, NIST RMF, and GDPR Articles 9/25/30/35 to MISTI's specific organizational context.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347472" y="2212848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8A7FC8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6384" y="2221992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Design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86384" y="2414016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4-tier model (Public → Internal → Confidential → Restricted) using CIA Triad: Confidentiality, Integrity, Availability.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347472" y="2779776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C9973A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" y="2779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6384" y="278892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Classification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86384" y="2980944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classification to real MISTI forms: Chemical, EEE Modification, Representative, Domestic Product, Restricted Chemicals.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347472" y="3346704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AACB8"/>
          </a:solidFill>
          <a:ln/>
        </p:spPr>
      </p:sp>
      <p:sp>
        <p:nvSpPr>
          <p:cNvPr id="31" name="Text 29"/>
          <p:cNvSpPr/>
          <p:nvPr/>
        </p:nvSpPr>
        <p:spPr>
          <a:xfrm>
            <a:off x="347472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86384" y="3355848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DSSOP Development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86384" y="3547872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full DSSOP structure: Introduction, Methodology, Data Security, Data Privacy &amp; Ethics, Digital Identity, Review Plan.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4718304" y="676656"/>
            <a:ext cx="4169664" cy="4023360"/>
          </a:xfrm>
          <a:prstGeom prst="rect">
            <a:avLst/>
          </a:prstGeom>
          <a:solidFill>
            <a:srgbClr val="1E2530"/>
          </a:solidFill>
          <a:ln w="6350">
            <a:solidFill>
              <a:srgbClr val="3A45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18304" y="676656"/>
            <a:ext cx="4169664" cy="329184"/>
          </a:xfrm>
          <a:prstGeom prst="rect">
            <a:avLst/>
          </a:prstGeom>
          <a:solidFill>
            <a:srgbClr val="2B3340"/>
          </a:solidFill>
          <a:ln/>
        </p:spPr>
      </p:sp>
      <p:sp>
        <p:nvSpPr>
          <p:cNvPr id="36" name="Text 34"/>
          <p:cNvSpPr/>
          <p:nvPr/>
        </p:nvSpPr>
        <p:spPr>
          <a:xfrm>
            <a:off x="4864608" y="67665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E5B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KEY FINDINGS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09744" y="1078992"/>
            <a:ext cx="1243584" cy="914400"/>
          </a:xfrm>
          <a:prstGeom prst="roundRect">
            <a:avLst>
              <a:gd name="adj" fmla="val 5000"/>
            </a:avLst>
          </a:prstGeom>
          <a:solidFill>
            <a:srgbClr val="2B3340"/>
          </a:solidFill>
          <a:ln/>
        </p:spPr>
      </p:sp>
      <p:sp>
        <p:nvSpPr>
          <p:cNvPr id="38" name="Shape 36"/>
          <p:cNvSpPr/>
          <p:nvPr/>
        </p:nvSpPr>
        <p:spPr>
          <a:xfrm>
            <a:off x="4809744" y="1078992"/>
            <a:ext cx="1243584" cy="54864"/>
          </a:xfrm>
          <a:prstGeom prst="rect">
            <a:avLst/>
          </a:prstGeom>
          <a:solidFill>
            <a:srgbClr val="3AACB8"/>
          </a:solidFill>
          <a:ln/>
        </p:spPr>
      </p:sp>
      <p:sp>
        <p:nvSpPr>
          <p:cNvPr id="39" name="Text 37"/>
          <p:cNvSpPr/>
          <p:nvPr/>
        </p:nvSpPr>
        <p:spPr>
          <a:xfrm>
            <a:off x="4809744" y="1161288"/>
            <a:ext cx="12435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AC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Levels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4809744" y="1572768"/>
            <a:ext cx="1243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applied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163056" y="1078992"/>
            <a:ext cx="1243584" cy="914400"/>
          </a:xfrm>
          <a:prstGeom prst="roundRect">
            <a:avLst>
              <a:gd name="adj" fmla="val 5000"/>
            </a:avLst>
          </a:prstGeom>
          <a:solidFill>
            <a:srgbClr val="2B3340"/>
          </a:solidFill>
          <a:ln/>
        </p:spPr>
      </p:sp>
      <p:sp>
        <p:nvSpPr>
          <p:cNvPr id="42" name="Shape 40"/>
          <p:cNvSpPr/>
          <p:nvPr/>
        </p:nvSpPr>
        <p:spPr>
          <a:xfrm>
            <a:off x="6163056" y="1078992"/>
            <a:ext cx="1243584" cy="54864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43" name="Text 41"/>
          <p:cNvSpPr/>
          <p:nvPr/>
        </p:nvSpPr>
        <p:spPr>
          <a:xfrm>
            <a:off x="6163056" y="1161288"/>
            <a:ext cx="12435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9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4.4M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163056" y="1572768"/>
            <a:ext cx="1243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avg breach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— 2025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516368" y="1078992"/>
            <a:ext cx="1243584" cy="914400"/>
          </a:xfrm>
          <a:prstGeom prst="roundRect">
            <a:avLst>
              <a:gd name="adj" fmla="val 5000"/>
            </a:avLst>
          </a:prstGeom>
          <a:solidFill>
            <a:srgbClr val="2B3340"/>
          </a:solidFill>
          <a:ln/>
        </p:spPr>
      </p:sp>
      <p:sp>
        <p:nvSpPr>
          <p:cNvPr id="46" name="Shape 44"/>
          <p:cNvSpPr/>
          <p:nvPr/>
        </p:nvSpPr>
        <p:spPr>
          <a:xfrm>
            <a:off x="7516368" y="1078992"/>
            <a:ext cx="1243584" cy="54864"/>
          </a:xfrm>
          <a:prstGeom prst="rect">
            <a:avLst/>
          </a:prstGeom>
          <a:solidFill>
            <a:srgbClr val="8A7FC8"/>
          </a:solidFill>
          <a:ln/>
        </p:spPr>
      </p:sp>
      <p:sp>
        <p:nvSpPr>
          <p:cNvPr id="47" name="Text 45"/>
          <p:cNvSpPr/>
          <p:nvPr/>
        </p:nvSpPr>
        <p:spPr>
          <a:xfrm>
            <a:off x="7516368" y="1161288"/>
            <a:ext cx="12435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A7F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Forms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7516368" y="1572768"/>
            <a:ext cx="1243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MISTI forms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809744" y="210312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E5B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809744" y="2322576"/>
            <a:ext cx="3977640" cy="27432"/>
          </a:xfrm>
          <a:prstGeom prst="rect">
            <a:avLst/>
          </a:prstGeom>
          <a:solidFill>
            <a:srgbClr val="3A4550"/>
          </a:solidFill>
          <a:ln/>
        </p:spPr>
      </p:sp>
      <p:sp>
        <p:nvSpPr>
          <p:cNvPr id="51" name="Shape 49"/>
          <p:cNvSpPr/>
          <p:nvPr/>
        </p:nvSpPr>
        <p:spPr>
          <a:xfrm>
            <a:off x="4809744" y="2395728"/>
            <a:ext cx="45720" cy="310896"/>
          </a:xfrm>
          <a:prstGeom prst="rect">
            <a:avLst/>
          </a:prstGeom>
          <a:solidFill>
            <a:srgbClr val="C85A4A"/>
          </a:solidFill>
          <a:ln/>
        </p:spPr>
      </p:sp>
      <p:sp>
        <p:nvSpPr>
          <p:cNvPr id="52" name="Text 50"/>
          <p:cNvSpPr/>
          <p:nvPr/>
        </p:nvSpPr>
        <p:spPr>
          <a:xfrm>
            <a:off x="4937760" y="2377440"/>
            <a:ext cx="3858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citizen-facing MISTI data falls under Confidential or Restricted — requiring immediate SOP protection.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809744" y="2834640"/>
            <a:ext cx="45720" cy="310896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54" name="Text 52"/>
          <p:cNvSpPr/>
          <p:nvPr/>
        </p:nvSpPr>
        <p:spPr>
          <a:xfrm>
            <a:off x="4937760" y="2816352"/>
            <a:ext cx="3858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Cambodia has critical gaps in data classification, inter-operability, and privacy enforcement.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809744" y="3273552"/>
            <a:ext cx="45720" cy="310896"/>
          </a:xfrm>
          <a:prstGeom prst="rect">
            <a:avLst/>
          </a:prstGeom>
          <a:solidFill>
            <a:srgbClr val="3AACB8"/>
          </a:solidFill>
          <a:ln/>
        </p:spPr>
      </p:sp>
      <p:sp>
        <p:nvSpPr>
          <p:cNvPr id="56" name="Text 54"/>
          <p:cNvSpPr/>
          <p:nvPr/>
        </p:nvSpPr>
        <p:spPr>
          <a:xfrm>
            <a:off x="4937760" y="3255264"/>
            <a:ext cx="3858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RMF + ISO 27001 + GDPR together provide the optimal internationally aligned baseline for MISTI.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809744" y="3712464"/>
            <a:ext cx="45720" cy="310896"/>
          </a:xfrm>
          <a:prstGeom prst="rect">
            <a:avLst/>
          </a:prstGeom>
          <a:solidFill>
            <a:srgbClr val="8A7FC8"/>
          </a:solidFill>
          <a:ln/>
        </p:spPr>
      </p:sp>
      <p:sp>
        <p:nvSpPr>
          <p:cNvPr id="58" name="Text 56"/>
          <p:cNvSpPr/>
          <p:nvPr/>
        </p:nvSpPr>
        <p:spPr>
          <a:xfrm>
            <a:off x="4937760" y="3694176"/>
            <a:ext cx="3858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required controls identified: Encryption, RBAC, MFA, and continuous audit monitoring.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809744" y="4151376"/>
            <a:ext cx="45720" cy="310896"/>
          </a:xfrm>
          <a:prstGeom prst="rect">
            <a:avLst/>
          </a:prstGeom>
          <a:solidFill>
            <a:srgbClr val="3AACB8"/>
          </a:solidFill>
          <a:ln/>
        </p:spPr>
      </p:sp>
      <p:sp>
        <p:nvSpPr>
          <p:cNvPr id="60" name="Text 58"/>
          <p:cNvSpPr/>
          <p:nvPr/>
        </p:nvSpPr>
        <p:spPr>
          <a:xfrm>
            <a:off x="4937760" y="4133088"/>
            <a:ext cx="3858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4-tier model was successfully validated and is replicable across other Cambodian ministries.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418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8A7FC8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" y="0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7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85800" y="164592"/>
            <a:ext cx="36576" cy="237744"/>
          </a:xfrm>
          <a:prstGeom prst="rect">
            <a:avLst/>
          </a:prstGeom>
          <a:solidFill>
            <a:srgbClr val="3A4550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56032" y="676656"/>
            <a:ext cx="8631936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4C9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676656"/>
            <a:ext cx="54864" cy="566928"/>
          </a:xfrm>
          <a:prstGeom prst="rect">
            <a:avLst/>
          </a:prstGeom>
          <a:solidFill>
            <a:srgbClr val="8A7FC8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" y="704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20624" y="886968"/>
            <a:ext cx="8339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MISTI ministry application forms classified by sensitivity level across 7 form types, supplemented by international SOP frameworks and national governance reports.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1353312"/>
            <a:ext cx="2816352" cy="2359152"/>
          </a:xfrm>
          <a:prstGeom prst="rect">
            <a:avLst/>
          </a:prstGeom>
          <a:solidFill>
            <a:srgbClr val="FFFFFF"/>
          </a:solidFill>
          <a:ln w="9525">
            <a:solidFill>
              <a:srgbClr val="D4C9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1353312"/>
            <a:ext cx="2816352" cy="384048"/>
          </a:xfrm>
          <a:prstGeom prst="rect">
            <a:avLst/>
          </a:prstGeom>
          <a:solidFill>
            <a:srgbClr val="2A8A94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13533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SOP FRAMEWORKS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" y="1810512"/>
            <a:ext cx="45720" cy="201168"/>
          </a:xfrm>
          <a:prstGeom prst="rect">
            <a:avLst/>
          </a:prstGeom>
          <a:solidFill>
            <a:srgbClr val="2A8A9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1792224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800-12r1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1956816"/>
            <a:ext cx="2487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&amp; SOP development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9184" y="2112264"/>
            <a:ext cx="45720" cy="201168"/>
          </a:xfrm>
          <a:prstGeom prst="rect">
            <a:avLst/>
          </a:prstGeom>
          <a:solidFill>
            <a:srgbClr val="2A8A94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093976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800-53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2258568"/>
            <a:ext cx="2487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 controls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9184" y="2414016"/>
            <a:ext cx="45720" cy="201168"/>
          </a:xfrm>
          <a:prstGeom prst="rect">
            <a:avLst/>
          </a:prstGeom>
          <a:solidFill>
            <a:srgbClr val="2A8A9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395728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ASD ISM (Australia)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2560320"/>
            <a:ext cx="2487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Threat-driven national framework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9184" y="2715768"/>
            <a:ext cx="45720" cy="201168"/>
          </a:xfrm>
          <a:prstGeom prst="rect">
            <a:avLst/>
          </a:prstGeom>
          <a:solidFill>
            <a:srgbClr val="2A8A94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697480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27001:2022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2862072"/>
            <a:ext cx="2487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ISMS requirements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9184" y="3017520"/>
            <a:ext cx="45720" cy="201168"/>
          </a:xfrm>
          <a:prstGeom prst="rect">
            <a:avLst/>
          </a:prstGeom>
          <a:solidFill>
            <a:srgbClr val="2A8A94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2999232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27002:2022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3163824"/>
            <a:ext cx="2487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 controls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9184" y="3319272"/>
            <a:ext cx="45720" cy="201168"/>
          </a:xfrm>
          <a:prstGeom prst="rect">
            <a:avLst/>
          </a:prstGeom>
          <a:solidFill>
            <a:srgbClr val="2A8A94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300984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Art. 9, 25, 30, 35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3465576"/>
            <a:ext cx="2487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categories, DPIA, privacy by design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18688" y="1353312"/>
            <a:ext cx="2816352" cy="2359152"/>
          </a:xfrm>
          <a:prstGeom prst="rect">
            <a:avLst/>
          </a:prstGeom>
          <a:solidFill>
            <a:srgbClr val="FFFFFF"/>
          </a:solidFill>
          <a:ln w="9525">
            <a:solidFill>
              <a:srgbClr val="D4C9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18688" y="1353312"/>
            <a:ext cx="2816352" cy="384048"/>
          </a:xfrm>
          <a:prstGeom prst="rect">
            <a:avLst/>
          </a:prstGeom>
          <a:solidFill>
            <a:srgbClr val="7A6DBE"/>
          </a:solidFill>
          <a:ln/>
        </p:spPr>
      </p:sp>
      <p:sp>
        <p:nvSpPr>
          <p:cNvPr id="36" name="Text 34"/>
          <p:cNvSpPr/>
          <p:nvPr/>
        </p:nvSpPr>
        <p:spPr>
          <a:xfrm>
            <a:off x="3346704" y="13533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GOVERNMENT REPORTS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91840" y="1810512"/>
            <a:ext cx="45720" cy="201168"/>
          </a:xfrm>
          <a:prstGeom prst="rect">
            <a:avLst/>
          </a:prstGeom>
          <a:solidFill>
            <a:srgbClr val="7A6DBE"/>
          </a:solidFill>
          <a:ln/>
        </p:spPr>
      </p:sp>
      <p:sp>
        <p:nvSpPr>
          <p:cNvPr id="38" name="Text 36"/>
          <p:cNvSpPr/>
          <p:nvPr/>
        </p:nvSpPr>
        <p:spPr>
          <a:xfrm>
            <a:off x="3419856" y="1792224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Cambodia Data Governance Report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419856" y="1956816"/>
            <a:ext cx="2487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cybersecurity maturity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91840" y="2112264"/>
            <a:ext cx="45720" cy="201168"/>
          </a:xfrm>
          <a:prstGeom prst="rect">
            <a:avLst/>
          </a:prstGeom>
          <a:solidFill>
            <a:srgbClr val="7A6DBE"/>
          </a:solidFill>
          <a:ln/>
        </p:spPr>
      </p:sp>
      <p:sp>
        <p:nvSpPr>
          <p:cNvPr id="41" name="Text 39"/>
          <p:cNvSpPr/>
          <p:nvPr/>
        </p:nvSpPr>
        <p:spPr>
          <a:xfrm>
            <a:off x="3419856" y="2093976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Cybersecurity Index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419856" y="2258568"/>
            <a:ext cx="2487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Cambodia: lowest ASEAN ranking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91840" y="2414016"/>
            <a:ext cx="45720" cy="201168"/>
          </a:xfrm>
          <a:prstGeom prst="rect">
            <a:avLst/>
          </a:prstGeom>
          <a:solidFill>
            <a:srgbClr val="7A6DBE"/>
          </a:solidFill>
          <a:ln/>
        </p:spPr>
      </p:sp>
      <p:sp>
        <p:nvSpPr>
          <p:cNvPr id="44" name="Text 42"/>
          <p:cNvSpPr/>
          <p:nvPr/>
        </p:nvSpPr>
        <p:spPr>
          <a:xfrm>
            <a:off x="3419856" y="2395728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Govt. AI Readiness Index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419856" y="2560320"/>
            <a:ext cx="2487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Cambodia: last in ASEAN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291840" y="2715768"/>
            <a:ext cx="45720" cy="201168"/>
          </a:xfrm>
          <a:prstGeom prst="rect">
            <a:avLst/>
          </a:prstGeom>
          <a:solidFill>
            <a:srgbClr val="7A6DBE"/>
          </a:solidFill>
          <a:ln/>
        </p:spPr>
      </p:sp>
      <p:sp>
        <p:nvSpPr>
          <p:cNvPr id="47" name="Text 45"/>
          <p:cNvSpPr/>
          <p:nvPr/>
        </p:nvSpPr>
        <p:spPr>
          <a:xfrm>
            <a:off x="3419856" y="2697480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X-Force Index 2025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419856" y="2862072"/>
            <a:ext cx="2487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identity-based intrusions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91840" y="3017520"/>
            <a:ext cx="45720" cy="201168"/>
          </a:xfrm>
          <a:prstGeom prst="rect">
            <a:avLst/>
          </a:prstGeom>
          <a:solidFill>
            <a:srgbClr val="7A6DBE"/>
          </a:solidFill>
          <a:ln/>
        </p:spPr>
      </p:sp>
      <p:sp>
        <p:nvSpPr>
          <p:cNvPr id="50" name="Text 48"/>
          <p:cNvSpPr/>
          <p:nvPr/>
        </p:nvSpPr>
        <p:spPr>
          <a:xfrm>
            <a:off x="3419856" y="2999232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Think Cybersecurity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3419856" y="3163824"/>
            <a:ext cx="2487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4.4M avg. breach cost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291840" y="3319272"/>
            <a:ext cx="45720" cy="201168"/>
          </a:xfrm>
          <a:prstGeom prst="rect">
            <a:avLst/>
          </a:prstGeom>
          <a:solidFill>
            <a:srgbClr val="7A6DBE"/>
          </a:solidFill>
          <a:ln/>
        </p:spPr>
      </p:sp>
      <p:sp>
        <p:nvSpPr>
          <p:cNvPr id="53" name="Text 51"/>
          <p:cNvSpPr/>
          <p:nvPr/>
        </p:nvSpPr>
        <p:spPr>
          <a:xfrm>
            <a:off x="3419856" y="3300984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Harvard PrivSec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3419856" y="3465576"/>
            <a:ext cx="2487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lifecycle management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181344" y="1353312"/>
            <a:ext cx="2816352" cy="2359152"/>
          </a:xfrm>
          <a:prstGeom prst="rect">
            <a:avLst/>
          </a:prstGeom>
          <a:solidFill>
            <a:srgbClr val="FFFFFF"/>
          </a:solidFill>
          <a:ln w="9525">
            <a:solidFill>
              <a:srgbClr val="D4C9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181344" y="1353312"/>
            <a:ext cx="2816352" cy="384048"/>
          </a:xfrm>
          <a:prstGeom prst="rect">
            <a:avLst/>
          </a:prstGeom>
          <a:solidFill>
            <a:srgbClr val="B8820A"/>
          </a:solidFill>
          <a:ln/>
        </p:spPr>
      </p:sp>
      <p:sp>
        <p:nvSpPr>
          <p:cNvPr id="57" name="Text 55"/>
          <p:cNvSpPr/>
          <p:nvPr/>
        </p:nvSpPr>
        <p:spPr>
          <a:xfrm>
            <a:off x="6309360" y="13533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MINISTRY FORM DATA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254496" y="1810512"/>
            <a:ext cx="45720" cy="201168"/>
          </a:xfrm>
          <a:prstGeom prst="rect">
            <a:avLst/>
          </a:prstGeom>
          <a:solidFill>
            <a:srgbClr val="B8820A"/>
          </a:solidFill>
          <a:ln/>
        </p:spPr>
      </p:sp>
      <p:sp>
        <p:nvSpPr>
          <p:cNvPr id="59" name="Text 57"/>
          <p:cNvSpPr/>
          <p:nvPr/>
        </p:nvSpPr>
        <p:spPr>
          <a:xfrm>
            <a:off x="6382512" y="1792224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Application Forms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382512" y="1956816"/>
            <a:ext cx="2487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→ Highly Confidential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254496" y="2112264"/>
            <a:ext cx="45720" cy="201168"/>
          </a:xfrm>
          <a:prstGeom prst="rect">
            <a:avLst/>
          </a:prstGeom>
          <a:solidFill>
            <a:srgbClr val="B8820A"/>
          </a:solidFill>
          <a:ln/>
        </p:spPr>
      </p:sp>
      <p:sp>
        <p:nvSpPr>
          <p:cNvPr id="62" name="Text 60"/>
          <p:cNvSpPr/>
          <p:nvPr/>
        </p:nvSpPr>
        <p:spPr>
          <a:xfrm>
            <a:off x="6382512" y="2093976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EEE Modification Applications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382512" y="2258568"/>
            <a:ext cx="2487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→ Highly Confidential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254496" y="2414016"/>
            <a:ext cx="45720" cy="201168"/>
          </a:xfrm>
          <a:prstGeom prst="rect">
            <a:avLst/>
          </a:prstGeom>
          <a:solidFill>
            <a:srgbClr val="B8820A"/>
          </a:solidFill>
          <a:ln/>
        </p:spPr>
      </p:sp>
      <p:sp>
        <p:nvSpPr>
          <p:cNvPr id="65" name="Text 63"/>
          <p:cNvSpPr/>
          <p:nvPr/>
        </p:nvSpPr>
        <p:spPr>
          <a:xfrm>
            <a:off x="6382512" y="2395728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Application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382512" y="2560320"/>
            <a:ext cx="2487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→ Restricted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254496" y="2715768"/>
            <a:ext cx="45720" cy="201168"/>
          </a:xfrm>
          <a:prstGeom prst="rect">
            <a:avLst/>
          </a:prstGeom>
          <a:solidFill>
            <a:srgbClr val="B8820A"/>
          </a:solidFill>
          <a:ln/>
        </p:spPr>
      </p:sp>
      <p:sp>
        <p:nvSpPr>
          <p:cNvPr id="68" name="Text 66"/>
          <p:cNvSpPr/>
          <p:nvPr/>
        </p:nvSpPr>
        <p:spPr>
          <a:xfrm>
            <a:off x="6382512" y="2697480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Product Forms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382512" y="2862072"/>
            <a:ext cx="2487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→ Highly Confidential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254496" y="3017520"/>
            <a:ext cx="45720" cy="201168"/>
          </a:xfrm>
          <a:prstGeom prst="rect">
            <a:avLst/>
          </a:prstGeom>
          <a:solidFill>
            <a:srgbClr val="B8820A"/>
          </a:solidFill>
          <a:ln/>
        </p:spPr>
      </p:sp>
      <p:sp>
        <p:nvSpPr>
          <p:cNvPr id="71" name="Text 69"/>
          <p:cNvSpPr/>
          <p:nvPr/>
        </p:nvSpPr>
        <p:spPr>
          <a:xfrm>
            <a:off x="6382512" y="2999232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Chemicals Forms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6382512" y="3163824"/>
            <a:ext cx="2487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→ Highly Confidential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6254496" y="3319272"/>
            <a:ext cx="45720" cy="201168"/>
          </a:xfrm>
          <a:prstGeom prst="rect">
            <a:avLst/>
          </a:prstGeom>
          <a:solidFill>
            <a:srgbClr val="B8820A"/>
          </a:solidFill>
          <a:ln/>
        </p:spPr>
      </p:sp>
      <p:sp>
        <p:nvSpPr>
          <p:cNvPr id="74" name="Text 72"/>
          <p:cNvSpPr/>
          <p:nvPr/>
        </p:nvSpPr>
        <p:spPr>
          <a:xfrm>
            <a:off x="6382512" y="3300984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MISTI data_classification.xlsx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6382512" y="3465576"/>
            <a:ext cx="2487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classification across all forms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256032" y="380390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— APPLIED CLASSIFICATION ON MISTI FORMS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256032" y="4005072"/>
            <a:ext cx="8631936" cy="27432"/>
          </a:xfrm>
          <a:prstGeom prst="rect">
            <a:avLst/>
          </a:prstGeom>
          <a:solidFill>
            <a:srgbClr val="D4C9B8"/>
          </a:solidFill>
          <a:ln/>
        </p:spPr>
      </p:sp>
      <p:sp>
        <p:nvSpPr>
          <p:cNvPr id="78" name="Shape 76"/>
          <p:cNvSpPr/>
          <p:nvPr/>
        </p:nvSpPr>
        <p:spPr>
          <a:xfrm>
            <a:off x="256032" y="4059936"/>
            <a:ext cx="4206240" cy="182880"/>
          </a:xfrm>
          <a:prstGeom prst="rect">
            <a:avLst/>
          </a:prstGeom>
          <a:solidFill>
            <a:srgbClr val="EDE8DF"/>
          </a:solidFill>
          <a:ln/>
        </p:spPr>
      </p:sp>
      <p:sp>
        <p:nvSpPr>
          <p:cNvPr id="79" name="Text 77"/>
          <p:cNvSpPr/>
          <p:nvPr/>
        </p:nvSpPr>
        <p:spPr>
          <a:xfrm>
            <a:off x="365760" y="405993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ID / Passport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962656" y="4078224"/>
            <a:ext cx="1371600" cy="146304"/>
          </a:xfrm>
          <a:prstGeom prst="roundRect">
            <a:avLst>
              <a:gd name="adj" fmla="val 25000"/>
            </a:avLst>
          </a:prstGeom>
          <a:solidFill>
            <a:srgbClr val="C85A4A"/>
          </a:solidFill>
          <a:ln/>
        </p:spPr>
      </p:sp>
      <p:sp>
        <p:nvSpPr>
          <p:cNvPr id="81" name="Text 79"/>
          <p:cNvSpPr/>
          <p:nvPr/>
        </p:nvSpPr>
        <p:spPr>
          <a:xfrm>
            <a:off x="2962656" y="407822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365760" y="424281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(Khmer / Latin)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2962656" y="4261104"/>
            <a:ext cx="1371600" cy="146304"/>
          </a:xfrm>
          <a:prstGeom prst="roundRect">
            <a:avLst>
              <a:gd name="adj" fmla="val 25000"/>
            </a:avLst>
          </a:prstGeom>
          <a:solidFill>
            <a:srgbClr val="D4872A"/>
          </a:solidFill>
          <a:ln/>
        </p:spPr>
      </p:sp>
      <p:sp>
        <p:nvSpPr>
          <p:cNvPr id="84" name="Text 82"/>
          <p:cNvSpPr/>
          <p:nvPr/>
        </p:nvSpPr>
        <p:spPr>
          <a:xfrm>
            <a:off x="2962656" y="426110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256032" y="4425696"/>
            <a:ext cx="4206240" cy="182880"/>
          </a:xfrm>
          <a:prstGeom prst="rect">
            <a:avLst/>
          </a:prstGeom>
          <a:solidFill>
            <a:srgbClr val="EDE8DF"/>
          </a:solidFill>
          <a:ln/>
        </p:spPr>
      </p:sp>
      <p:sp>
        <p:nvSpPr>
          <p:cNvPr id="86" name="Text 84"/>
          <p:cNvSpPr/>
          <p:nvPr/>
        </p:nvSpPr>
        <p:spPr>
          <a:xfrm>
            <a:off x="365760" y="442569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/ Fingerprint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2962656" y="4443984"/>
            <a:ext cx="1371600" cy="146304"/>
          </a:xfrm>
          <a:prstGeom prst="roundRect">
            <a:avLst>
              <a:gd name="adj" fmla="val 25000"/>
            </a:avLst>
          </a:prstGeom>
          <a:solidFill>
            <a:srgbClr val="C85A4A"/>
          </a:solidFill>
          <a:ln/>
        </p:spPr>
      </p:sp>
      <p:sp>
        <p:nvSpPr>
          <p:cNvPr id="88" name="Text 86"/>
          <p:cNvSpPr/>
          <p:nvPr/>
        </p:nvSpPr>
        <p:spPr>
          <a:xfrm>
            <a:off x="2962656" y="444398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Confidential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365760" y="460857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Birth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2962656" y="4626864"/>
            <a:ext cx="1371600" cy="146304"/>
          </a:xfrm>
          <a:prstGeom prst="roundRect">
            <a:avLst>
              <a:gd name="adj" fmla="val 25000"/>
            </a:avLst>
          </a:prstGeom>
          <a:solidFill>
            <a:srgbClr val="C85A4A"/>
          </a:solidFill>
          <a:ln/>
        </p:spPr>
      </p:sp>
      <p:sp>
        <p:nvSpPr>
          <p:cNvPr id="91" name="Text 89"/>
          <p:cNvSpPr/>
          <p:nvPr/>
        </p:nvSpPr>
        <p:spPr>
          <a:xfrm>
            <a:off x="2962656" y="462686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4663440" y="4059936"/>
            <a:ext cx="4206240" cy="182880"/>
          </a:xfrm>
          <a:prstGeom prst="rect">
            <a:avLst/>
          </a:prstGeom>
          <a:solidFill>
            <a:srgbClr val="EDE8DF"/>
          </a:solidFill>
          <a:ln/>
        </p:spPr>
      </p:sp>
      <p:sp>
        <p:nvSpPr>
          <p:cNvPr id="93" name="Text 91"/>
          <p:cNvSpPr/>
          <p:nvPr/>
        </p:nvSpPr>
        <p:spPr>
          <a:xfrm>
            <a:off x="4773168" y="405993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/ Factory Name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7370064" y="4078224"/>
            <a:ext cx="1371600" cy="146304"/>
          </a:xfrm>
          <a:prstGeom prst="roundRect">
            <a:avLst>
              <a:gd name="adj" fmla="val 25000"/>
            </a:avLst>
          </a:prstGeom>
          <a:solidFill>
            <a:srgbClr val="2A8A94"/>
          </a:solidFill>
          <a:ln/>
        </p:spPr>
      </p:sp>
      <p:sp>
        <p:nvSpPr>
          <p:cNvPr id="95" name="Text 93"/>
          <p:cNvSpPr/>
          <p:nvPr/>
        </p:nvSpPr>
        <p:spPr>
          <a:xfrm>
            <a:off x="7370064" y="407822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4773168" y="424281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Phone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7370064" y="4261104"/>
            <a:ext cx="1371600" cy="146304"/>
          </a:xfrm>
          <a:prstGeom prst="roundRect">
            <a:avLst>
              <a:gd name="adj" fmla="val 25000"/>
            </a:avLst>
          </a:prstGeom>
          <a:solidFill>
            <a:srgbClr val="D4872A"/>
          </a:solidFill>
          <a:ln/>
        </p:spPr>
      </p:sp>
      <p:sp>
        <p:nvSpPr>
          <p:cNvPr id="98" name="Text 96"/>
          <p:cNvSpPr/>
          <p:nvPr/>
        </p:nvSpPr>
        <p:spPr>
          <a:xfrm>
            <a:off x="7370064" y="426110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4663440" y="4425696"/>
            <a:ext cx="4206240" cy="182880"/>
          </a:xfrm>
          <a:prstGeom prst="rect">
            <a:avLst/>
          </a:prstGeom>
          <a:solidFill>
            <a:srgbClr val="EDE8DF"/>
          </a:solidFill>
          <a:ln/>
        </p:spPr>
      </p:sp>
      <p:sp>
        <p:nvSpPr>
          <p:cNvPr id="100" name="Text 98"/>
          <p:cNvSpPr/>
          <p:nvPr/>
        </p:nvSpPr>
        <p:spPr>
          <a:xfrm>
            <a:off x="4773168" y="442569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Usage Records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7370064" y="4443984"/>
            <a:ext cx="1371600" cy="146304"/>
          </a:xfrm>
          <a:prstGeom prst="roundRect">
            <a:avLst>
              <a:gd name="adj" fmla="val 25000"/>
            </a:avLst>
          </a:prstGeom>
          <a:solidFill>
            <a:srgbClr val="C85A4A"/>
          </a:solidFill>
          <a:ln/>
        </p:spPr>
      </p:sp>
      <p:sp>
        <p:nvSpPr>
          <p:cNvPr id="102" name="Text 100"/>
          <p:cNvSpPr/>
          <p:nvPr/>
        </p:nvSpPr>
        <p:spPr>
          <a:xfrm>
            <a:off x="7370064" y="444398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Confidential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4773168" y="460857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Registration No.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7370064" y="4626864"/>
            <a:ext cx="1371600" cy="146304"/>
          </a:xfrm>
          <a:prstGeom prst="roundRect">
            <a:avLst>
              <a:gd name="adj" fmla="val 25000"/>
            </a:avLst>
          </a:prstGeom>
          <a:solidFill>
            <a:srgbClr val="D4872A"/>
          </a:solidFill>
          <a:ln/>
        </p:spPr>
      </p:sp>
      <p:sp>
        <p:nvSpPr>
          <p:cNvPr id="105" name="Text 103"/>
          <p:cNvSpPr/>
          <p:nvPr/>
        </p:nvSpPr>
        <p:spPr>
          <a:xfrm>
            <a:off x="7370064" y="462686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298236" y="4919472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</a:t>
            </a:r>
            <a:r>
              <a:rPr lang="en-US" sz="750" dirty="0">
                <a:solidFill>
                  <a:srgbClr val="9A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MISTI data_classification.xlsx  ·  Classification.docx  ·  GDPR_Data_Classification.docx  ·  Action_Plan.docx 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715</Words>
  <Application>Microsoft Office PowerPoint</Application>
  <PresentationFormat>On-screen Show (16:9)</PresentationFormat>
  <Paragraphs>126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﻿Nhor Povketya</cp:lastModifiedBy>
  <cp:revision>4</cp:revision>
  <dcterms:created xsi:type="dcterms:W3CDTF">2026-03-11T08:04:38Z</dcterms:created>
  <dcterms:modified xsi:type="dcterms:W3CDTF">2026-03-11T13:41:36Z</dcterms:modified>
</cp:coreProperties>
</file>