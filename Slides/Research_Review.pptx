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8" r:id="rId6"/>
    <p:sldId id="260" r:id="rId7"/>
    <p:sldId id="261" r:id="rId8"/>
    <p:sldId id="262" r:id="rId9"/>
    <p:sldId id="269" r:id="rId10"/>
    <p:sldId id="263" r:id="rId11"/>
    <p:sldId id="264" r:id="rId12"/>
    <p:sldId id="265" r:id="rId13"/>
    <p:sldId id="270" r:id="rId14"/>
    <p:sldId id="271" r:id="rId15"/>
    <p:sldId id="272" r:id="rId16"/>
    <p:sldId id="273" r:id="rId17"/>
    <p:sldId id="274" r:id="rId18"/>
    <p:sldId id="267"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601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568385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70700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830659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14338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9261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69340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022087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nijianmo.github.io/amazon/index.html"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hyperlink" Target="https://www.kaggle.com/lievgarcia/amazon-reviews" TargetMode="External"/><Relationship Id="rId4" Type="http://schemas.openxmlformats.org/officeDocument/2006/relationships/hyperlink" Target="https://osf.io/tyue9/"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640080" y="914400"/>
            <a:ext cx="7863840" cy="82296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Research Paper Review</a:t>
            </a:r>
            <a:endParaRPr lang="en-US" sz="3800" dirty="0"/>
          </a:p>
        </p:txBody>
      </p:sp>
      <p:sp>
        <p:nvSpPr>
          <p:cNvPr id="14" name="Text 12"/>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Royal University of Phnom Penh  •  Data Science &amp; Engineering  •  2026</a:t>
            </a:r>
            <a:endParaRPr lang="en-US" sz="1000" dirty="0"/>
          </a:p>
        </p:txBody>
      </p:sp>
      <p:sp>
        <p:nvSpPr>
          <p:cNvPr id="15" name="Shape 13"/>
          <p:cNvSpPr/>
          <p:nvPr/>
        </p:nvSpPr>
        <p:spPr>
          <a:xfrm>
            <a:off x="0" y="5079492"/>
            <a:ext cx="9144000" cy="64008"/>
          </a:xfrm>
          <a:prstGeom prst="rect">
            <a:avLst/>
          </a:prstGeom>
          <a:solidFill>
            <a:srgbClr val="0D9488"/>
          </a:solidFill>
          <a:ln w="12700">
            <a:solidFill>
              <a:srgbClr val="0D948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D4ED8"/>
          </a:solidFill>
          <a:ln w="12700">
            <a:solidFill>
              <a:srgbClr val="1D4ED8"/>
            </a:solidFill>
            <a:prstDash val="solid"/>
          </a:ln>
        </p:spPr>
      </p:sp>
      <p:sp>
        <p:nvSpPr>
          <p:cNvPr id="3" name="Shape 1"/>
          <p:cNvSpPr/>
          <p:nvPr/>
        </p:nvSpPr>
        <p:spPr>
          <a:xfrm>
            <a:off x="0" y="5079492"/>
            <a:ext cx="9144000" cy="64008"/>
          </a:xfrm>
          <a:prstGeom prst="rect">
            <a:avLst/>
          </a:prstGeom>
          <a:solidFill>
            <a:srgbClr val="1D4ED8"/>
          </a:solidFill>
          <a:ln w="12700">
            <a:solidFill>
              <a:srgbClr val="1D4ED8"/>
            </a:solidFill>
            <a:prstDash val="solid"/>
          </a:ln>
        </p:spPr>
      </p:sp>
      <p:sp>
        <p:nvSpPr>
          <p:cNvPr id="4" name="Text 2"/>
          <p:cNvSpPr/>
          <p:nvPr/>
        </p:nvSpPr>
        <p:spPr>
          <a:xfrm>
            <a:off x="457200" y="1463040"/>
            <a:ext cx="8229600" cy="548640"/>
          </a:xfrm>
          <a:prstGeom prst="rect">
            <a:avLst/>
          </a:prstGeom>
          <a:noFill/>
          <a:ln/>
        </p:spPr>
        <p:txBody>
          <a:bodyPr wrap="square" rtlCol="0" anchor="ctr"/>
          <a:lstStyle/>
          <a:p>
            <a:pPr marL="0" indent="0" algn="ctr">
              <a:buNone/>
            </a:pPr>
            <a:r>
              <a:rPr lang="en-US" sz="4000" b="1" kern="0" spc="800" dirty="0">
                <a:solidFill>
                  <a:srgbClr val="1D4ED8"/>
                </a:solidFill>
                <a:latin typeface="Calibri" pitchFamily="34" charset="0"/>
                <a:ea typeface="Calibri" pitchFamily="34" charset="-122"/>
                <a:cs typeface="Calibri" pitchFamily="34" charset="-120"/>
              </a:rPr>
              <a:t>TOPIC 1</a:t>
            </a:r>
            <a:endParaRPr lang="en-US" sz="4000" dirty="0"/>
          </a:p>
        </p:txBody>
      </p:sp>
      <p:sp>
        <p:nvSpPr>
          <p:cNvPr id="5" name="Text 3"/>
          <p:cNvSpPr/>
          <p:nvPr/>
        </p:nvSpPr>
        <p:spPr>
          <a:xfrm>
            <a:off x="731520" y="2194560"/>
            <a:ext cx="7680960" cy="1097280"/>
          </a:xfrm>
          <a:prstGeom prst="rect">
            <a:avLst/>
          </a:prstGeom>
          <a:noFill/>
          <a:ln/>
        </p:spPr>
        <p:txBody>
          <a:bodyPr wrap="square" rtlCol="0" anchor="ctr"/>
          <a:lstStyle/>
          <a:p>
            <a:pPr marL="0" indent="0" algn="ctr">
              <a:buNone/>
            </a:pPr>
            <a:r>
              <a:rPr lang="en-US" sz="2200" i="1" dirty="0">
                <a:solidFill>
                  <a:srgbClr val="FFFFFF"/>
                </a:solidFill>
                <a:latin typeface="Calibri" pitchFamily="34" charset="0"/>
                <a:ea typeface="Calibri" pitchFamily="34" charset="-122"/>
                <a:cs typeface="Calibri" pitchFamily="34" charset="-120"/>
              </a:rPr>
              <a:t>Towards Transparent and Accurate Diabetes Prediction Using Machine Learning and Explainable Artificial Intelligence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Topic 1 — Paper Overview &amp; Research Problem</a:t>
            </a:r>
            <a:endParaRPr lang="en-US" sz="1800" dirty="0"/>
          </a:p>
        </p:txBody>
      </p:sp>
      <p:sp>
        <p:nvSpPr>
          <p:cNvPr id="4" name="Shape 2"/>
          <p:cNvSpPr/>
          <p:nvPr/>
        </p:nvSpPr>
        <p:spPr>
          <a:xfrm>
            <a:off x="0" y="5079492"/>
            <a:ext cx="9144000" cy="64008"/>
          </a:xfrm>
          <a:prstGeom prst="rect">
            <a:avLst/>
          </a:prstGeom>
          <a:solidFill>
            <a:srgbClr val="1D4ED8"/>
          </a:solidFill>
          <a:ln w="12700">
            <a:solidFill>
              <a:srgbClr val="1D4ED8"/>
            </a:solidFill>
            <a:prstDash val="solid"/>
          </a:ln>
        </p:spPr>
      </p:sp>
      <p:sp>
        <p:nvSpPr>
          <p:cNvPr id="5" name="Shape 3"/>
          <p:cNvSpPr/>
          <p:nvPr/>
        </p:nvSpPr>
        <p:spPr>
          <a:xfrm>
            <a:off x="274320" y="777240"/>
            <a:ext cx="4114800"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77240"/>
            <a:ext cx="64008" cy="4160520"/>
          </a:xfrm>
          <a:prstGeom prst="rect">
            <a:avLst/>
          </a:prstGeom>
          <a:solidFill>
            <a:srgbClr val="1D4ED8"/>
          </a:solidFill>
          <a:ln w="12700">
            <a:solidFill>
              <a:srgbClr val="1D4ED8"/>
            </a:solidFill>
            <a:prstDash val="solid"/>
          </a:ln>
        </p:spPr>
      </p:sp>
      <p:sp>
        <p:nvSpPr>
          <p:cNvPr id="7" name="Text 5"/>
          <p:cNvSpPr/>
          <p:nvPr/>
        </p:nvSpPr>
        <p:spPr>
          <a:xfrm>
            <a:off x="411480" y="822960"/>
            <a:ext cx="3840480" cy="292608"/>
          </a:xfrm>
          <a:prstGeom prst="rect">
            <a:avLst/>
          </a:prstGeom>
          <a:noFill/>
          <a:ln/>
        </p:spPr>
        <p:txBody>
          <a:bodyPr wrap="square" rtlCol="0" anchor="ctr"/>
          <a:lstStyle/>
          <a:p>
            <a:pPr marL="0" indent="0">
              <a:buNone/>
            </a:pPr>
            <a:r>
              <a:rPr lang="en-US" sz="1200" b="1" dirty="0">
                <a:solidFill>
                  <a:srgbClr val="1D4ED8"/>
                </a:solidFill>
                <a:latin typeface="Calibri" pitchFamily="34" charset="0"/>
                <a:ea typeface="Calibri" pitchFamily="34" charset="-122"/>
                <a:cs typeface="Calibri" pitchFamily="34" charset="-120"/>
              </a:rPr>
              <a:t>Paper Details</a:t>
            </a:r>
            <a:endParaRPr lang="en-US" sz="1200" dirty="0"/>
          </a:p>
        </p:txBody>
      </p:sp>
      <p:sp>
        <p:nvSpPr>
          <p:cNvPr id="8" name="Text 6"/>
          <p:cNvSpPr/>
          <p:nvPr/>
        </p:nvSpPr>
        <p:spPr>
          <a:xfrm>
            <a:off x="411480" y="1064925"/>
            <a:ext cx="3913632" cy="1593869"/>
          </a:xfrm>
          <a:prstGeom prst="rect">
            <a:avLst/>
          </a:prstGeom>
          <a:noFill/>
          <a:ln/>
        </p:spPr>
        <p:txBody>
          <a:bodyPr wrap="square" rtlCol="0" anchor="ctr"/>
          <a:lstStyle/>
          <a:p>
            <a:pPr marL="0" indent="0">
              <a:lnSpc>
                <a:spcPct val="130000"/>
              </a:lnSpc>
              <a:buNone/>
            </a:pPr>
            <a:r>
              <a:rPr lang="en-US" sz="1300" b="1" dirty="0">
                <a:solidFill>
                  <a:srgbClr val="1E293B"/>
                </a:solidFill>
                <a:latin typeface="Calibri" pitchFamily="34" charset="0"/>
                <a:ea typeface="Calibri" pitchFamily="34" charset="-122"/>
                <a:cs typeface="Calibri" pitchFamily="34" charset="-120"/>
              </a:rPr>
              <a:t>Title: </a:t>
            </a:r>
            <a:r>
              <a:rPr lang="en-US" sz="1300" dirty="0">
                <a:solidFill>
                  <a:srgbClr val="1E293B"/>
                </a:solidFill>
                <a:latin typeface="Calibri" pitchFamily="34" charset="0"/>
                <a:ea typeface="Calibri" pitchFamily="34" charset="-122"/>
                <a:cs typeface="Calibri" pitchFamily="34" charset="-120"/>
              </a:rPr>
              <a:t>Towards Transparent and Accurate Diabetes Prediction Using ML and XAI
</a:t>
            </a:r>
            <a:r>
              <a:rPr lang="en-US" sz="1300" b="1" dirty="0">
                <a:solidFill>
                  <a:srgbClr val="1E293B"/>
                </a:solidFill>
                <a:latin typeface="Calibri" pitchFamily="34" charset="0"/>
                <a:ea typeface="Calibri" pitchFamily="34" charset="-122"/>
                <a:cs typeface="Calibri" pitchFamily="34" charset="-120"/>
              </a:rPr>
              <a:t>Authors: </a:t>
            </a:r>
            <a:r>
              <a:rPr lang="en-US" sz="1300" dirty="0">
                <a:solidFill>
                  <a:srgbClr val="1E293B"/>
                </a:solidFill>
                <a:latin typeface="Calibri" pitchFamily="34" charset="0"/>
                <a:ea typeface="Calibri" pitchFamily="34" charset="-122"/>
                <a:cs typeface="Calibri" pitchFamily="34" charset="-120"/>
              </a:rPr>
              <a:t>Khokhar, Pentangelo, Palomba, Gravino
</a:t>
            </a:r>
            <a:r>
              <a:rPr lang="en-US" sz="1300" b="1" dirty="0">
                <a:solidFill>
                  <a:srgbClr val="1E293B"/>
                </a:solidFill>
                <a:latin typeface="Calibri" pitchFamily="34" charset="0"/>
                <a:ea typeface="Calibri" pitchFamily="34" charset="-122"/>
                <a:cs typeface="Calibri" pitchFamily="34" charset="-120"/>
              </a:rPr>
              <a:t>Institution: </a:t>
            </a:r>
            <a:r>
              <a:rPr lang="en-US" sz="1300" dirty="0">
                <a:solidFill>
                  <a:srgbClr val="1E293B"/>
                </a:solidFill>
                <a:latin typeface="Calibri" pitchFamily="34" charset="0"/>
                <a:ea typeface="Calibri" pitchFamily="34" charset="-122"/>
                <a:cs typeface="Calibri" pitchFamily="34" charset="-120"/>
              </a:rPr>
              <a:t>University of Salerno, Italy
</a:t>
            </a:r>
            <a:r>
              <a:rPr lang="en-US" sz="1300" b="1" dirty="0">
                <a:solidFill>
                  <a:srgbClr val="1E293B"/>
                </a:solidFill>
                <a:latin typeface="Calibri" pitchFamily="34" charset="0"/>
                <a:ea typeface="Calibri" pitchFamily="34" charset="-122"/>
                <a:cs typeface="Calibri" pitchFamily="34" charset="-120"/>
              </a:rPr>
              <a:t>DOI: </a:t>
            </a:r>
            <a:r>
              <a:rPr lang="en-US" sz="1300" dirty="0">
                <a:solidFill>
                  <a:srgbClr val="1E293B"/>
                </a:solidFill>
                <a:latin typeface="Calibri" pitchFamily="34" charset="0"/>
                <a:ea typeface="Calibri" pitchFamily="34" charset="-122"/>
                <a:cs typeface="Calibri" pitchFamily="34" charset="-120"/>
              </a:rPr>
              <a:t>IEEE (2024)
</a:t>
            </a:r>
            <a:endParaRPr lang="en-US" sz="1300" dirty="0"/>
          </a:p>
        </p:txBody>
      </p:sp>
      <p:sp>
        <p:nvSpPr>
          <p:cNvPr id="9" name="Shape 7"/>
          <p:cNvSpPr/>
          <p:nvPr/>
        </p:nvSpPr>
        <p:spPr>
          <a:xfrm>
            <a:off x="338328" y="2514600"/>
            <a:ext cx="3986784" cy="256032"/>
          </a:xfrm>
          <a:prstGeom prst="rect">
            <a:avLst/>
          </a:prstGeom>
          <a:solidFill>
            <a:srgbClr val="1D4ED8"/>
          </a:solidFill>
          <a:ln w="12700">
            <a:solidFill>
              <a:srgbClr val="1D4ED8"/>
            </a:solidFill>
            <a:prstDash val="solid"/>
          </a:ln>
        </p:spPr>
      </p:sp>
      <p:sp>
        <p:nvSpPr>
          <p:cNvPr id="10" name="Text 8"/>
          <p:cNvSpPr/>
          <p:nvPr/>
        </p:nvSpPr>
        <p:spPr>
          <a:xfrm>
            <a:off x="338328" y="2514600"/>
            <a:ext cx="398678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RESEARCH PROBLEM</a:t>
            </a:r>
            <a:endParaRPr lang="en-US" sz="1000" dirty="0"/>
          </a:p>
        </p:txBody>
      </p:sp>
      <p:sp>
        <p:nvSpPr>
          <p:cNvPr id="11" name="Text 9"/>
          <p:cNvSpPr/>
          <p:nvPr/>
        </p:nvSpPr>
        <p:spPr>
          <a:xfrm>
            <a:off x="434340" y="2866117"/>
            <a:ext cx="3913632" cy="1549908"/>
          </a:xfrm>
          <a:prstGeom prst="rect">
            <a:avLst/>
          </a:prstGeom>
          <a:noFill/>
          <a:ln/>
        </p:spPr>
        <p:txBody>
          <a:bodyPr wrap="square" rtlCol="0" anchor="ctr"/>
          <a:lstStyle/>
          <a:p>
            <a:pPr marL="0" indent="0">
              <a:lnSpc>
                <a:spcPct val="130000"/>
              </a:lnSpc>
              <a:buNone/>
            </a:pPr>
            <a:r>
              <a:rPr lang="en-US" sz="1300" dirty="0">
                <a:solidFill>
                  <a:srgbClr val="1E293B"/>
                </a:solidFill>
                <a:latin typeface="Calibri" pitchFamily="34" charset="0"/>
                <a:ea typeface="Calibri" pitchFamily="34" charset="-122"/>
                <a:cs typeface="Calibri" pitchFamily="34" charset="-120"/>
              </a:rPr>
              <a:t>Diabetes mellitus is a global health crisis causing cardiovascular disease, neuropathy, and kidney failure. While ML models achieve good predictive accuracy, they are often treated as black boxes limiting clinical trust and usability. XAI methods exist, but are rarely evaluated comparatively in a healthcare context.</a:t>
            </a:r>
            <a:endParaRPr lang="en-US" sz="1300" dirty="0"/>
          </a:p>
        </p:txBody>
      </p:sp>
      <p:sp>
        <p:nvSpPr>
          <p:cNvPr id="12" name="Shape 10"/>
          <p:cNvSpPr/>
          <p:nvPr/>
        </p:nvSpPr>
        <p:spPr>
          <a:xfrm>
            <a:off x="4663440" y="777240"/>
            <a:ext cx="4114800"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3" name="Shape 11"/>
          <p:cNvSpPr/>
          <p:nvPr/>
        </p:nvSpPr>
        <p:spPr>
          <a:xfrm>
            <a:off x="4663440" y="777240"/>
            <a:ext cx="64008" cy="4160520"/>
          </a:xfrm>
          <a:prstGeom prst="rect">
            <a:avLst/>
          </a:prstGeom>
          <a:solidFill>
            <a:srgbClr val="1D4ED8"/>
          </a:solidFill>
          <a:ln w="12700">
            <a:solidFill>
              <a:srgbClr val="1D4ED8"/>
            </a:solidFill>
            <a:prstDash val="solid"/>
          </a:ln>
        </p:spPr>
      </p:sp>
      <p:sp>
        <p:nvSpPr>
          <p:cNvPr id="14" name="Text 12"/>
          <p:cNvSpPr/>
          <p:nvPr/>
        </p:nvSpPr>
        <p:spPr>
          <a:xfrm>
            <a:off x="4800600" y="822960"/>
            <a:ext cx="3840480" cy="292608"/>
          </a:xfrm>
          <a:prstGeom prst="rect">
            <a:avLst/>
          </a:prstGeom>
          <a:noFill/>
          <a:ln/>
        </p:spPr>
        <p:txBody>
          <a:bodyPr wrap="square" rtlCol="0" anchor="ctr"/>
          <a:lstStyle/>
          <a:p>
            <a:pPr marL="0" indent="0">
              <a:buNone/>
            </a:pPr>
            <a:r>
              <a:rPr lang="en-US" sz="1600" b="1" dirty="0">
                <a:solidFill>
                  <a:srgbClr val="1D4ED8"/>
                </a:solidFill>
                <a:latin typeface="Calibri" pitchFamily="34" charset="0"/>
                <a:ea typeface="Calibri" pitchFamily="34" charset="-122"/>
                <a:cs typeface="Calibri" pitchFamily="34" charset="-120"/>
              </a:rPr>
              <a:t>What → Why → How</a:t>
            </a:r>
            <a:endParaRPr lang="en-US" sz="1600" dirty="0"/>
          </a:p>
        </p:txBody>
      </p:sp>
      <p:sp>
        <p:nvSpPr>
          <p:cNvPr id="15" name="Shape 13"/>
          <p:cNvSpPr/>
          <p:nvPr/>
        </p:nvSpPr>
        <p:spPr>
          <a:xfrm>
            <a:off x="4800600" y="1318146"/>
            <a:ext cx="502920" cy="219456"/>
          </a:xfrm>
          <a:prstGeom prst="rect">
            <a:avLst/>
          </a:prstGeom>
          <a:solidFill>
            <a:srgbClr val="1D4ED8"/>
          </a:solidFill>
          <a:ln w="12700">
            <a:solidFill>
              <a:srgbClr val="1D4ED8"/>
            </a:solidFill>
            <a:prstDash val="solid"/>
          </a:ln>
        </p:spPr>
      </p:sp>
      <p:sp>
        <p:nvSpPr>
          <p:cNvPr id="16" name="Text 14"/>
          <p:cNvSpPr/>
          <p:nvPr/>
        </p:nvSpPr>
        <p:spPr>
          <a:xfrm>
            <a:off x="4800600" y="1318146"/>
            <a:ext cx="50292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WHAT</a:t>
            </a:r>
            <a:endParaRPr lang="en-US" sz="1000" dirty="0"/>
          </a:p>
        </p:txBody>
      </p:sp>
      <p:sp>
        <p:nvSpPr>
          <p:cNvPr id="17" name="Text 15"/>
          <p:cNvSpPr/>
          <p:nvPr/>
        </p:nvSpPr>
        <p:spPr>
          <a:xfrm>
            <a:off x="5349240" y="1318146"/>
            <a:ext cx="3291840" cy="73152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Build a diabetes prediction framework combining ML ensemble models with multiple XAI techniques to produce accurate and interpretable results.</a:t>
            </a:r>
            <a:endParaRPr lang="en-US" sz="1200" dirty="0"/>
          </a:p>
        </p:txBody>
      </p:sp>
      <p:sp>
        <p:nvSpPr>
          <p:cNvPr id="18" name="Shape 16"/>
          <p:cNvSpPr/>
          <p:nvPr/>
        </p:nvSpPr>
        <p:spPr>
          <a:xfrm>
            <a:off x="4800600" y="2369706"/>
            <a:ext cx="502920" cy="219456"/>
          </a:xfrm>
          <a:prstGeom prst="rect">
            <a:avLst/>
          </a:prstGeom>
          <a:solidFill>
            <a:srgbClr val="1D4ED8"/>
          </a:solidFill>
          <a:ln w="12700">
            <a:solidFill>
              <a:srgbClr val="1D4ED8"/>
            </a:solidFill>
            <a:prstDash val="solid"/>
          </a:ln>
        </p:spPr>
      </p:sp>
      <p:sp>
        <p:nvSpPr>
          <p:cNvPr id="19" name="Text 17"/>
          <p:cNvSpPr/>
          <p:nvPr/>
        </p:nvSpPr>
        <p:spPr>
          <a:xfrm>
            <a:off x="4800600" y="2369706"/>
            <a:ext cx="50292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WHY</a:t>
            </a:r>
            <a:endParaRPr lang="en-US" sz="1000" dirty="0"/>
          </a:p>
        </p:txBody>
      </p:sp>
      <p:sp>
        <p:nvSpPr>
          <p:cNvPr id="20" name="Text 18"/>
          <p:cNvSpPr/>
          <p:nvPr/>
        </p:nvSpPr>
        <p:spPr>
          <a:xfrm>
            <a:off x="5349240" y="2369706"/>
            <a:ext cx="3291840" cy="73152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Existing studies treat XAI as isolated black boxes, focus on limited datasets, and fail to assess XAI quality preventing clinical adoption.</a:t>
            </a:r>
            <a:endParaRPr lang="en-US" sz="1200" dirty="0"/>
          </a:p>
        </p:txBody>
      </p:sp>
      <p:sp>
        <p:nvSpPr>
          <p:cNvPr id="21" name="Shape 19"/>
          <p:cNvSpPr/>
          <p:nvPr/>
        </p:nvSpPr>
        <p:spPr>
          <a:xfrm>
            <a:off x="4800600" y="3421266"/>
            <a:ext cx="502920" cy="219456"/>
          </a:xfrm>
          <a:prstGeom prst="rect">
            <a:avLst/>
          </a:prstGeom>
          <a:solidFill>
            <a:srgbClr val="1D4ED8"/>
          </a:solidFill>
          <a:ln w="12700">
            <a:solidFill>
              <a:srgbClr val="1D4ED8"/>
            </a:solidFill>
            <a:prstDash val="solid"/>
          </a:ln>
        </p:spPr>
      </p:sp>
      <p:sp>
        <p:nvSpPr>
          <p:cNvPr id="22" name="Text 20"/>
          <p:cNvSpPr/>
          <p:nvPr/>
        </p:nvSpPr>
        <p:spPr>
          <a:xfrm>
            <a:off x="4800600" y="3421266"/>
            <a:ext cx="50292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HOW</a:t>
            </a:r>
            <a:endParaRPr lang="en-US" sz="1000" dirty="0"/>
          </a:p>
        </p:txBody>
      </p:sp>
      <p:sp>
        <p:nvSpPr>
          <p:cNvPr id="23" name="Text 21"/>
          <p:cNvSpPr/>
          <p:nvPr/>
        </p:nvSpPr>
        <p:spPr>
          <a:xfrm>
            <a:off x="5349240" y="3421266"/>
            <a:ext cx="3291840" cy="73152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Use BRFSS dataset (253,680 patients), SMOTE for class balancing, ensemble of RF + XGBoost + LightGBM, then explain with SHAP, LIME, EBM, PDPs, Anchors &amp; Counterfactuals.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Topic 1 — Methodology, Results &amp; Key Findings</a:t>
            </a:r>
            <a:endParaRPr lang="en-US" sz="1800" dirty="0"/>
          </a:p>
        </p:txBody>
      </p:sp>
      <p:sp>
        <p:nvSpPr>
          <p:cNvPr id="4" name="Shape 2"/>
          <p:cNvSpPr/>
          <p:nvPr/>
        </p:nvSpPr>
        <p:spPr>
          <a:xfrm>
            <a:off x="0" y="5079492"/>
            <a:ext cx="9144000" cy="64008"/>
          </a:xfrm>
          <a:prstGeom prst="rect">
            <a:avLst/>
          </a:prstGeom>
          <a:solidFill>
            <a:srgbClr val="1D4ED8"/>
          </a:solidFill>
          <a:ln w="12700">
            <a:solidFill>
              <a:srgbClr val="1D4ED8"/>
            </a:solidFill>
            <a:prstDash val="solid"/>
          </a:ln>
        </p:spPr>
      </p:sp>
      <p:sp>
        <p:nvSpPr>
          <p:cNvPr id="5" name="Shape 3"/>
          <p:cNvSpPr/>
          <p:nvPr/>
        </p:nvSpPr>
        <p:spPr>
          <a:xfrm>
            <a:off x="274320" y="777240"/>
            <a:ext cx="4142232" cy="2055644"/>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84274"/>
            <a:ext cx="64008" cy="2055644"/>
          </a:xfrm>
          <a:prstGeom prst="rect">
            <a:avLst/>
          </a:prstGeom>
          <a:solidFill>
            <a:srgbClr val="1D4ED8"/>
          </a:solidFill>
          <a:ln w="12700">
            <a:solidFill>
              <a:srgbClr val="1D4ED8"/>
            </a:solidFill>
            <a:prstDash val="solid"/>
          </a:ln>
        </p:spPr>
      </p:sp>
      <p:sp>
        <p:nvSpPr>
          <p:cNvPr id="7" name="Shape 5"/>
          <p:cNvSpPr/>
          <p:nvPr/>
        </p:nvSpPr>
        <p:spPr>
          <a:xfrm>
            <a:off x="338328" y="804672"/>
            <a:ext cx="3986784" cy="256032"/>
          </a:xfrm>
          <a:prstGeom prst="rect">
            <a:avLst/>
          </a:prstGeom>
          <a:solidFill>
            <a:srgbClr val="1D4ED8"/>
          </a:solidFill>
          <a:ln w="12700">
            <a:solidFill>
              <a:srgbClr val="1D4ED8"/>
            </a:solidFill>
            <a:prstDash val="solid"/>
          </a:ln>
        </p:spPr>
      </p:sp>
      <p:sp>
        <p:nvSpPr>
          <p:cNvPr id="8" name="Text 6"/>
          <p:cNvSpPr/>
          <p:nvPr/>
        </p:nvSpPr>
        <p:spPr>
          <a:xfrm>
            <a:off x="338328" y="804672"/>
            <a:ext cx="398678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METHODOLOGY</a:t>
            </a:r>
            <a:endParaRPr lang="en-US" sz="1000" dirty="0"/>
          </a:p>
        </p:txBody>
      </p:sp>
      <p:sp>
        <p:nvSpPr>
          <p:cNvPr id="9" name="Text 7"/>
          <p:cNvSpPr/>
          <p:nvPr/>
        </p:nvSpPr>
        <p:spPr>
          <a:xfrm>
            <a:off x="365760" y="986844"/>
            <a:ext cx="4142232" cy="1862916"/>
          </a:xfrm>
          <a:prstGeom prst="rect">
            <a:avLst/>
          </a:prstGeom>
          <a:noFill/>
          <a:ln/>
        </p:spPr>
        <p:txBody>
          <a:bodyPr wrap="square" rtlCol="0" anchor="ctr"/>
          <a:lstStyle/>
          <a:p>
            <a:pPr marL="0" indent="0">
              <a:lnSpc>
                <a:spcPct val="140000"/>
              </a:lnSpc>
              <a:buNone/>
            </a:pPr>
            <a:r>
              <a:rPr lang="en-US" sz="1050" b="1" dirty="0">
                <a:solidFill>
                  <a:srgbClr val="1E293B"/>
                </a:solidFill>
                <a:latin typeface="Calibri" pitchFamily="34" charset="0"/>
                <a:ea typeface="Calibri" pitchFamily="34" charset="-122"/>
                <a:cs typeface="Calibri" pitchFamily="34" charset="-120"/>
              </a:rPr>
              <a:t>Dataset: </a:t>
            </a:r>
            <a:r>
              <a:rPr lang="en-US" sz="1050" dirty="0">
                <a:solidFill>
                  <a:srgbClr val="1E293B"/>
                </a:solidFill>
                <a:latin typeface="Calibri" pitchFamily="34" charset="0"/>
                <a:ea typeface="Calibri" pitchFamily="34" charset="-122"/>
                <a:cs typeface="Calibri" pitchFamily="34" charset="-120"/>
              </a:rPr>
              <a:t>BRFSS Diabetes Binary Health Indicators (253,680 patients, 22 features)
</a:t>
            </a:r>
            <a:r>
              <a:rPr lang="en-US" sz="1050" b="1" dirty="0">
                <a:solidFill>
                  <a:srgbClr val="1E293B"/>
                </a:solidFill>
                <a:latin typeface="Calibri" pitchFamily="34" charset="0"/>
                <a:ea typeface="Calibri" pitchFamily="34" charset="-122"/>
                <a:cs typeface="Calibri" pitchFamily="34" charset="-120"/>
              </a:rPr>
              <a:t>Preprocessing: </a:t>
            </a:r>
            <a:r>
              <a:rPr lang="en-US" sz="1050" dirty="0">
                <a:solidFill>
                  <a:srgbClr val="1E293B"/>
                </a:solidFill>
                <a:latin typeface="Calibri" pitchFamily="34" charset="0"/>
                <a:ea typeface="Calibri" pitchFamily="34" charset="-122"/>
                <a:cs typeface="Calibri" pitchFamily="34" charset="-120"/>
              </a:rPr>
              <a:t>SMOTE (class balancing), StandardScaler, median imputation
</a:t>
            </a:r>
            <a:r>
              <a:rPr lang="en-US" sz="1050" b="1" dirty="0">
                <a:solidFill>
                  <a:srgbClr val="1E293B"/>
                </a:solidFill>
                <a:latin typeface="Calibri" pitchFamily="34" charset="0"/>
                <a:ea typeface="Calibri" pitchFamily="34" charset="-122"/>
                <a:cs typeface="Calibri" pitchFamily="34" charset="-120"/>
              </a:rPr>
              <a:t>Models tested: </a:t>
            </a:r>
            <a:r>
              <a:rPr lang="en-US" sz="1050" dirty="0">
                <a:solidFill>
                  <a:srgbClr val="1E293B"/>
                </a:solidFill>
                <a:latin typeface="Calibri" pitchFamily="34" charset="0"/>
                <a:ea typeface="Calibri" pitchFamily="34" charset="-122"/>
                <a:cs typeface="Calibri" pitchFamily="34" charset="-120"/>
              </a:rPr>
              <a:t>RF, XGBoost, LightGBM, SVM, DT, Naive Bayes, Logistic Regression
</a:t>
            </a:r>
            <a:r>
              <a:rPr lang="en-US" sz="1050" b="1" dirty="0">
                <a:solidFill>
                  <a:srgbClr val="1E293B"/>
                </a:solidFill>
                <a:latin typeface="Calibri" pitchFamily="34" charset="0"/>
                <a:ea typeface="Calibri" pitchFamily="34" charset="-122"/>
                <a:cs typeface="Calibri" pitchFamily="34" charset="-120"/>
              </a:rPr>
              <a:t>Ensemble: </a:t>
            </a:r>
            <a:r>
              <a:rPr lang="en-US" sz="1050" dirty="0">
                <a:solidFill>
                  <a:srgbClr val="1E293B"/>
                </a:solidFill>
                <a:latin typeface="Calibri" pitchFamily="34" charset="0"/>
                <a:ea typeface="Calibri" pitchFamily="34" charset="-122"/>
                <a:cs typeface="Calibri" pitchFamily="34" charset="-120"/>
              </a:rPr>
              <a:t>Soft voting of RF + XGBoost + LightGBM
</a:t>
            </a:r>
            <a:r>
              <a:rPr lang="en-US" sz="1050" b="1" dirty="0">
                <a:solidFill>
                  <a:srgbClr val="1E293B"/>
                </a:solidFill>
                <a:latin typeface="Calibri" pitchFamily="34" charset="0"/>
                <a:ea typeface="Calibri" pitchFamily="34" charset="-122"/>
                <a:cs typeface="Calibri" pitchFamily="34" charset="-120"/>
              </a:rPr>
              <a:t>XAI tools: </a:t>
            </a:r>
            <a:r>
              <a:rPr lang="en-US" sz="1050" u="sng" dirty="0">
                <a:solidFill>
                  <a:srgbClr val="1E293B"/>
                </a:solidFill>
                <a:latin typeface="Calibri" pitchFamily="34" charset="0"/>
                <a:ea typeface="Calibri" pitchFamily="34" charset="-122"/>
                <a:cs typeface="Calibri" pitchFamily="34" charset="-120"/>
              </a:rPr>
              <a:t>SHAP, LIME, EBM, PDPs, Anchors, Counterfactual Explanations</a:t>
            </a:r>
            <a:endParaRPr lang="en-US" sz="1050" u="sng" dirty="0"/>
          </a:p>
        </p:txBody>
      </p:sp>
      <p:sp>
        <p:nvSpPr>
          <p:cNvPr id="10" name="Shape 8"/>
          <p:cNvSpPr/>
          <p:nvPr/>
        </p:nvSpPr>
        <p:spPr>
          <a:xfrm>
            <a:off x="4663440" y="777240"/>
            <a:ext cx="411480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663440" y="777240"/>
            <a:ext cx="64008" cy="2011680"/>
          </a:xfrm>
          <a:prstGeom prst="rect">
            <a:avLst/>
          </a:prstGeom>
          <a:solidFill>
            <a:srgbClr val="1D4ED8"/>
          </a:solidFill>
          <a:ln w="12700">
            <a:solidFill>
              <a:srgbClr val="1D4ED8"/>
            </a:solidFill>
            <a:prstDash val="solid"/>
          </a:ln>
        </p:spPr>
      </p:sp>
      <p:sp>
        <p:nvSpPr>
          <p:cNvPr id="12" name="Shape 10"/>
          <p:cNvSpPr/>
          <p:nvPr/>
        </p:nvSpPr>
        <p:spPr>
          <a:xfrm>
            <a:off x="4727448" y="804672"/>
            <a:ext cx="3986784" cy="256032"/>
          </a:xfrm>
          <a:prstGeom prst="rect">
            <a:avLst/>
          </a:prstGeom>
          <a:solidFill>
            <a:srgbClr val="1D4ED8"/>
          </a:solidFill>
          <a:ln w="12700">
            <a:solidFill>
              <a:srgbClr val="1D4ED8"/>
            </a:solidFill>
            <a:prstDash val="solid"/>
          </a:ln>
        </p:spPr>
      </p:sp>
      <p:sp>
        <p:nvSpPr>
          <p:cNvPr id="13" name="Text 11"/>
          <p:cNvSpPr/>
          <p:nvPr/>
        </p:nvSpPr>
        <p:spPr>
          <a:xfrm>
            <a:off x="4727448" y="804672"/>
            <a:ext cx="398678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KEY RESULTS</a:t>
            </a:r>
            <a:endParaRPr lang="en-US" sz="1000" dirty="0"/>
          </a:p>
        </p:txBody>
      </p:sp>
      <p:sp>
        <p:nvSpPr>
          <p:cNvPr id="14" name="Shape 12"/>
          <p:cNvSpPr/>
          <p:nvPr/>
        </p:nvSpPr>
        <p:spPr>
          <a:xfrm>
            <a:off x="4846320" y="1097280"/>
            <a:ext cx="1737360" cy="658368"/>
          </a:xfrm>
          <a:prstGeom prst="rect">
            <a:avLst/>
          </a:prstGeom>
          <a:solidFill>
            <a:srgbClr val="EFF6FF"/>
          </a:solidFill>
          <a:ln w="12700">
            <a:solidFill>
              <a:srgbClr val="BFDBFE"/>
            </a:solidFill>
            <a:prstDash val="solid"/>
          </a:ln>
        </p:spPr>
      </p:sp>
      <p:sp>
        <p:nvSpPr>
          <p:cNvPr id="15" name="Text 13"/>
          <p:cNvSpPr/>
          <p:nvPr/>
        </p:nvSpPr>
        <p:spPr>
          <a:xfrm>
            <a:off x="4846320" y="1115568"/>
            <a:ext cx="1737360" cy="347472"/>
          </a:xfrm>
          <a:prstGeom prst="rect">
            <a:avLst/>
          </a:prstGeom>
          <a:noFill/>
          <a:ln/>
        </p:spPr>
        <p:txBody>
          <a:bodyPr wrap="square" lIns="0" tIns="0" rIns="0" bIns="0" rtlCol="0" anchor="ctr"/>
          <a:lstStyle/>
          <a:p>
            <a:pPr marL="0" indent="0" algn="ctr">
              <a:buNone/>
            </a:pPr>
            <a:r>
              <a:rPr lang="en-US" sz="2200" b="1" dirty="0">
                <a:solidFill>
                  <a:srgbClr val="1D4ED8"/>
                </a:solidFill>
                <a:latin typeface="Calibri" pitchFamily="34" charset="0"/>
                <a:ea typeface="Calibri" pitchFamily="34" charset="-122"/>
                <a:cs typeface="Calibri" pitchFamily="34" charset="-120"/>
              </a:rPr>
              <a:t>92.5%</a:t>
            </a:r>
            <a:endParaRPr lang="en-US" sz="2200" dirty="0"/>
          </a:p>
        </p:txBody>
      </p:sp>
      <p:sp>
        <p:nvSpPr>
          <p:cNvPr id="16" name="Text 14"/>
          <p:cNvSpPr/>
          <p:nvPr/>
        </p:nvSpPr>
        <p:spPr>
          <a:xfrm>
            <a:off x="4846320" y="1463040"/>
            <a:ext cx="173736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Test Accuracy</a:t>
            </a:r>
            <a:endParaRPr lang="en-US" sz="900" dirty="0"/>
          </a:p>
        </p:txBody>
      </p:sp>
      <p:sp>
        <p:nvSpPr>
          <p:cNvPr id="17" name="Shape 15"/>
          <p:cNvSpPr/>
          <p:nvPr/>
        </p:nvSpPr>
        <p:spPr>
          <a:xfrm>
            <a:off x="6858000" y="1097280"/>
            <a:ext cx="1737360" cy="658368"/>
          </a:xfrm>
          <a:prstGeom prst="rect">
            <a:avLst/>
          </a:prstGeom>
          <a:solidFill>
            <a:srgbClr val="EFF6FF"/>
          </a:solidFill>
          <a:ln w="12700">
            <a:solidFill>
              <a:srgbClr val="BFDBFE"/>
            </a:solidFill>
            <a:prstDash val="solid"/>
          </a:ln>
        </p:spPr>
      </p:sp>
      <p:sp>
        <p:nvSpPr>
          <p:cNvPr id="18" name="Text 16"/>
          <p:cNvSpPr/>
          <p:nvPr/>
        </p:nvSpPr>
        <p:spPr>
          <a:xfrm>
            <a:off x="6858000" y="1115568"/>
            <a:ext cx="1737360" cy="347472"/>
          </a:xfrm>
          <a:prstGeom prst="rect">
            <a:avLst/>
          </a:prstGeom>
          <a:noFill/>
          <a:ln/>
        </p:spPr>
        <p:txBody>
          <a:bodyPr wrap="square" lIns="0" tIns="0" rIns="0" bIns="0" rtlCol="0" anchor="ctr"/>
          <a:lstStyle/>
          <a:p>
            <a:pPr marL="0" indent="0" algn="ctr">
              <a:buNone/>
            </a:pPr>
            <a:r>
              <a:rPr lang="en-US" sz="2200" b="1" dirty="0">
                <a:solidFill>
                  <a:srgbClr val="1D4ED8"/>
                </a:solidFill>
                <a:latin typeface="Calibri" pitchFamily="34" charset="0"/>
                <a:ea typeface="Calibri" pitchFamily="34" charset="-122"/>
                <a:cs typeface="Calibri" pitchFamily="34" charset="-120"/>
              </a:rPr>
              <a:t>0.975</a:t>
            </a:r>
            <a:endParaRPr lang="en-US" sz="2200" dirty="0"/>
          </a:p>
        </p:txBody>
      </p:sp>
      <p:sp>
        <p:nvSpPr>
          <p:cNvPr id="19" name="Text 17"/>
          <p:cNvSpPr/>
          <p:nvPr/>
        </p:nvSpPr>
        <p:spPr>
          <a:xfrm>
            <a:off x="6858000" y="1463040"/>
            <a:ext cx="173736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ROC-AUC</a:t>
            </a:r>
            <a:endParaRPr lang="en-US" sz="900" dirty="0"/>
          </a:p>
        </p:txBody>
      </p:sp>
      <p:sp>
        <p:nvSpPr>
          <p:cNvPr id="20" name="Shape 18"/>
          <p:cNvSpPr/>
          <p:nvPr/>
        </p:nvSpPr>
        <p:spPr>
          <a:xfrm>
            <a:off x="4846320" y="1920240"/>
            <a:ext cx="1737360" cy="658368"/>
          </a:xfrm>
          <a:prstGeom prst="rect">
            <a:avLst/>
          </a:prstGeom>
          <a:solidFill>
            <a:srgbClr val="EFF6FF"/>
          </a:solidFill>
          <a:ln w="12700">
            <a:solidFill>
              <a:srgbClr val="BFDBFE"/>
            </a:solidFill>
            <a:prstDash val="solid"/>
          </a:ln>
        </p:spPr>
      </p:sp>
      <p:sp>
        <p:nvSpPr>
          <p:cNvPr id="21" name="Text 19"/>
          <p:cNvSpPr/>
          <p:nvPr/>
        </p:nvSpPr>
        <p:spPr>
          <a:xfrm>
            <a:off x="4846320" y="1938528"/>
            <a:ext cx="1737360" cy="347472"/>
          </a:xfrm>
          <a:prstGeom prst="rect">
            <a:avLst/>
          </a:prstGeom>
          <a:noFill/>
          <a:ln/>
        </p:spPr>
        <p:txBody>
          <a:bodyPr wrap="square" lIns="0" tIns="0" rIns="0" bIns="0" rtlCol="0" anchor="ctr"/>
          <a:lstStyle/>
          <a:p>
            <a:pPr marL="0" indent="0" algn="ctr">
              <a:buNone/>
            </a:pPr>
            <a:r>
              <a:rPr lang="en-US" sz="2200" b="1" dirty="0">
                <a:solidFill>
                  <a:srgbClr val="1D4ED8"/>
                </a:solidFill>
                <a:latin typeface="Calibri" pitchFamily="34" charset="0"/>
                <a:ea typeface="Calibri" pitchFamily="34" charset="-122"/>
                <a:cs typeface="Calibri" pitchFamily="34" charset="-120"/>
              </a:rPr>
              <a:t>0.97</a:t>
            </a:r>
            <a:endParaRPr lang="en-US" sz="2200" dirty="0"/>
          </a:p>
        </p:txBody>
      </p:sp>
      <p:sp>
        <p:nvSpPr>
          <p:cNvPr id="22" name="Text 20"/>
          <p:cNvSpPr/>
          <p:nvPr/>
        </p:nvSpPr>
        <p:spPr>
          <a:xfrm>
            <a:off x="4846320" y="2286000"/>
            <a:ext cx="173736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Precision</a:t>
            </a:r>
            <a:endParaRPr lang="en-US" sz="900" dirty="0"/>
          </a:p>
        </p:txBody>
      </p:sp>
      <p:sp>
        <p:nvSpPr>
          <p:cNvPr id="23" name="Shape 21"/>
          <p:cNvSpPr/>
          <p:nvPr/>
        </p:nvSpPr>
        <p:spPr>
          <a:xfrm>
            <a:off x="6858000" y="1920240"/>
            <a:ext cx="1737360" cy="658368"/>
          </a:xfrm>
          <a:prstGeom prst="rect">
            <a:avLst/>
          </a:prstGeom>
          <a:solidFill>
            <a:srgbClr val="EFF6FF"/>
          </a:solidFill>
          <a:ln w="12700">
            <a:solidFill>
              <a:srgbClr val="BFDBFE"/>
            </a:solidFill>
            <a:prstDash val="solid"/>
          </a:ln>
        </p:spPr>
      </p:sp>
      <p:sp>
        <p:nvSpPr>
          <p:cNvPr id="24" name="Text 22"/>
          <p:cNvSpPr/>
          <p:nvPr/>
        </p:nvSpPr>
        <p:spPr>
          <a:xfrm>
            <a:off x="6858000" y="1938528"/>
            <a:ext cx="1737360" cy="347472"/>
          </a:xfrm>
          <a:prstGeom prst="rect">
            <a:avLst/>
          </a:prstGeom>
          <a:noFill/>
          <a:ln/>
        </p:spPr>
        <p:txBody>
          <a:bodyPr wrap="square" lIns="0" tIns="0" rIns="0" bIns="0" rtlCol="0" anchor="ctr"/>
          <a:lstStyle/>
          <a:p>
            <a:pPr marL="0" indent="0" algn="ctr">
              <a:buNone/>
            </a:pPr>
            <a:r>
              <a:rPr lang="en-US" sz="2200" b="1" dirty="0">
                <a:solidFill>
                  <a:srgbClr val="1D4ED8"/>
                </a:solidFill>
                <a:latin typeface="Calibri" pitchFamily="34" charset="0"/>
                <a:ea typeface="Calibri" pitchFamily="34" charset="-122"/>
                <a:cs typeface="Calibri" pitchFamily="34" charset="-120"/>
              </a:rPr>
              <a:t>0.92</a:t>
            </a:r>
            <a:endParaRPr lang="en-US" sz="2200" dirty="0"/>
          </a:p>
        </p:txBody>
      </p:sp>
      <p:sp>
        <p:nvSpPr>
          <p:cNvPr id="25" name="Text 23"/>
          <p:cNvSpPr/>
          <p:nvPr/>
        </p:nvSpPr>
        <p:spPr>
          <a:xfrm>
            <a:off x="6858000" y="2286000"/>
            <a:ext cx="173736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F1-Score</a:t>
            </a:r>
            <a:endParaRPr lang="en-US" sz="900" dirty="0"/>
          </a:p>
        </p:txBody>
      </p:sp>
      <p:sp>
        <p:nvSpPr>
          <p:cNvPr id="26" name="Shape 24"/>
          <p:cNvSpPr/>
          <p:nvPr/>
        </p:nvSpPr>
        <p:spPr>
          <a:xfrm>
            <a:off x="274320" y="2992904"/>
            <a:ext cx="411480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7" name="Shape 25"/>
          <p:cNvSpPr/>
          <p:nvPr/>
        </p:nvSpPr>
        <p:spPr>
          <a:xfrm>
            <a:off x="274320" y="2992904"/>
            <a:ext cx="64008" cy="2011680"/>
          </a:xfrm>
          <a:prstGeom prst="rect">
            <a:avLst/>
          </a:prstGeom>
          <a:solidFill>
            <a:srgbClr val="1D4ED8"/>
          </a:solidFill>
          <a:ln w="12700">
            <a:solidFill>
              <a:srgbClr val="1D4ED8"/>
            </a:solidFill>
            <a:prstDash val="solid"/>
          </a:ln>
        </p:spPr>
      </p:sp>
      <p:sp>
        <p:nvSpPr>
          <p:cNvPr id="28" name="Shape 26"/>
          <p:cNvSpPr/>
          <p:nvPr/>
        </p:nvSpPr>
        <p:spPr>
          <a:xfrm>
            <a:off x="338328" y="3020336"/>
            <a:ext cx="3986784" cy="256032"/>
          </a:xfrm>
          <a:prstGeom prst="rect">
            <a:avLst/>
          </a:prstGeom>
          <a:solidFill>
            <a:srgbClr val="1D4ED8"/>
          </a:solidFill>
          <a:ln w="12700">
            <a:solidFill>
              <a:srgbClr val="1D4ED8"/>
            </a:solidFill>
            <a:prstDash val="solid"/>
          </a:ln>
        </p:spPr>
      </p:sp>
      <p:sp>
        <p:nvSpPr>
          <p:cNvPr id="29" name="Text 27"/>
          <p:cNvSpPr/>
          <p:nvPr/>
        </p:nvSpPr>
        <p:spPr>
          <a:xfrm>
            <a:off x="338328" y="3013302"/>
            <a:ext cx="398678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TOP PREDICTORS (SHAP/EBM)</a:t>
            </a:r>
            <a:endParaRPr lang="en-US" sz="1000" dirty="0"/>
          </a:p>
        </p:txBody>
      </p:sp>
      <p:sp>
        <p:nvSpPr>
          <p:cNvPr id="30" name="Text 28"/>
          <p:cNvSpPr/>
          <p:nvPr/>
        </p:nvSpPr>
        <p:spPr>
          <a:xfrm>
            <a:off x="411480" y="3331232"/>
            <a:ext cx="3886200" cy="1572768"/>
          </a:xfrm>
          <a:prstGeom prst="rect">
            <a:avLst/>
          </a:prstGeom>
          <a:noFill/>
          <a:ln/>
        </p:spPr>
        <p:txBody>
          <a:bodyPr wrap="square" rtlCol="0" anchor="ctr"/>
          <a:lstStyle/>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1.  BMI: strongest positive predictor of diabetes risk</a:t>
            </a:r>
            <a:endParaRPr lang="en-US" sz="1100" dirty="0"/>
          </a:p>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2.  General Health (GenHlth): key protective factor</a:t>
            </a:r>
            <a:endParaRPr lang="en-US" sz="1100" dirty="0"/>
          </a:p>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3.  Age: consistent risk factor across all XAI methods</a:t>
            </a:r>
            <a:endParaRPr lang="en-US" sz="1100" dirty="0"/>
          </a:p>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4.  Income: inversely correlated with risk</a:t>
            </a:r>
            <a:endParaRPr lang="en-US" sz="1100" dirty="0"/>
          </a:p>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5.  Physical Activity: acts as a buffer variable</a:t>
            </a:r>
            <a:endParaRPr lang="en-US" sz="1100" dirty="0"/>
          </a:p>
        </p:txBody>
      </p:sp>
      <p:sp>
        <p:nvSpPr>
          <p:cNvPr id="31" name="Shape 29"/>
          <p:cNvSpPr/>
          <p:nvPr/>
        </p:nvSpPr>
        <p:spPr>
          <a:xfrm>
            <a:off x="4663440" y="2992904"/>
            <a:ext cx="411480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2" name="Shape 30"/>
          <p:cNvSpPr/>
          <p:nvPr/>
        </p:nvSpPr>
        <p:spPr>
          <a:xfrm>
            <a:off x="4663440" y="2992904"/>
            <a:ext cx="64008" cy="2011680"/>
          </a:xfrm>
          <a:prstGeom prst="rect">
            <a:avLst/>
          </a:prstGeom>
          <a:solidFill>
            <a:srgbClr val="1D4ED8"/>
          </a:solidFill>
          <a:ln w="12700">
            <a:solidFill>
              <a:srgbClr val="1D4ED8"/>
            </a:solidFill>
            <a:prstDash val="solid"/>
          </a:ln>
        </p:spPr>
      </p:sp>
      <p:sp>
        <p:nvSpPr>
          <p:cNvPr id="33" name="Shape 31"/>
          <p:cNvSpPr/>
          <p:nvPr/>
        </p:nvSpPr>
        <p:spPr>
          <a:xfrm>
            <a:off x="4727448" y="3020336"/>
            <a:ext cx="3986784" cy="256032"/>
          </a:xfrm>
          <a:prstGeom prst="rect">
            <a:avLst/>
          </a:prstGeom>
          <a:solidFill>
            <a:srgbClr val="1D4ED8"/>
          </a:solidFill>
          <a:ln w="12700">
            <a:solidFill>
              <a:srgbClr val="1D4ED8"/>
            </a:solidFill>
            <a:prstDash val="solid"/>
          </a:ln>
        </p:spPr>
      </p:sp>
      <p:sp>
        <p:nvSpPr>
          <p:cNvPr id="34" name="Text 32"/>
          <p:cNvSpPr/>
          <p:nvPr/>
        </p:nvSpPr>
        <p:spPr>
          <a:xfrm>
            <a:off x="4727448" y="3013302"/>
            <a:ext cx="398678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LIMITATIONS &amp; FUTURE WORK</a:t>
            </a:r>
            <a:endParaRPr lang="en-US" sz="1000" dirty="0"/>
          </a:p>
        </p:txBody>
      </p:sp>
      <p:sp>
        <p:nvSpPr>
          <p:cNvPr id="35" name="Text 33"/>
          <p:cNvSpPr/>
          <p:nvPr/>
        </p:nvSpPr>
        <p:spPr>
          <a:xfrm>
            <a:off x="4800600" y="3296062"/>
            <a:ext cx="3986784" cy="1673352"/>
          </a:xfrm>
          <a:prstGeom prst="rect">
            <a:avLst/>
          </a:prstGeom>
          <a:noFill/>
          <a:ln/>
        </p:spPr>
        <p:txBody>
          <a:bodyPr wrap="square" rtlCol="0" anchor="ctr"/>
          <a:lstStyle/>
          <a:p>
            <a:pPr marL="0" indent="0">
              <a:lnSpc>
                <a:spcPct val="130000"/>
              </a:lnSpc>
              <a:buNone/>
            </a:pPr>
            <a:r>
              <a:rPr lang="en-US" sz="1100" b="1" dirty="0">
                <a:solidFill>
                  <a:srgbClr val="1E293B"/>
                </a:solidFill>
                <a:latin typeface="Calibri" pitchFamily="34" charset="0"/>
                <a:ea typeface="Calibri" pitchFamily="34" charset="-122"/>
                <a:cs typeface="Calibri" pitchFamily="34" charset="-120"/>
              </a:rPr>
              <a:t>Limitations:
</a:t>
            </a:r>
            <a:r>
              <a:rPr lang="en-US" sz="1100" dirty="0">
                <a:solidFill>
                  <a:srgbClr val="1E293B"/>
                </a:solidFill>
                <a:latin typeface="Calibri" pitchFamily="34" charset="0"/>
                <a:ea typeface="Calibri" pitchFamily="34" charset="-122"/>
                <a:cs typeface="Calibri" pitchFamily="34" charset="-120"/>
              </a:rPr>
              <a:t>• SMOTE may not reflect real-world class distribution
• High computational cost of ensemble + XAI
• English-only BRFSS dataset limits generalization
</a:t>
            </a:r>
            <a:r>
              <a:rPr lang="en-US" sz="1100" b="1" dirty="0">
                <a:solidFill>
                  <a:srgbClr val="1E293B"/>
                </a:solidFill>
                <a:latin typeface="Calibri" pitchFamily="34" charset="0"/>
                <a:ea typeface="Calibri" pitchFamily="34" charset="-122"/>
                <a:cs typeface="Calibri" pitchFamily="34" charset="-120"/>
              </a:rPr>
              <a:t>Future Work:
</a:t>
            </a:r>
            <a:r>
              <a:rPr lang="en-US" sz="1100" dirty="0">
                <a:solidFill>
                  <a:srgbClr val="1E293B"/>
                </a:solidFill>
                <a:latin typeface="Calibri" pitchFamily="34" charset="0"/>
                <a:ea typeface="Calibri" pitchFamily="34" charset="-122"/>
                <a:cs typeface="Calibri" pitchFamily="34" charset="-120"/>
              </a:rPr>
              <a:t>• Multimodal data (imaging + continuous monitoring)</a:t>
            </a:r>
            <a:endParaRPr lang="en-US" sz="1100" dirty="0"/>
          </a:p>
          <a:p>
            <a:pPr marL="0" indent="0">
              <a:lnSpc>
                <a:spcPct val="130000"/>
              </a:lnSpc>
              <a:buNone/>
            </a:pPr>
            <a:r>
              <a:rPr lang="en-US" sz="1100" dirty="0">
                <a:solidFill>
                  <a:srgbClr val="1E293B"/>
                </a:solidFill>
                <a:latin typeface="Calibri" pitchFamily="34" charset="0"/>
                <a:ea typeface="Calibri" pitchFamily="34" charset="-122"/>
                <a:cs typeface="Calibri" pitchFamily="34" charset="-120"/>
              </a:rPr>
              <a:t>• Validate across diverse demographics</a:t>
            </a:r>
            <a:endParaRPr lang="en-US" sz="1100" dirty="0"/>
          </a:p>
          <a:p>
            <a:pPr marL="0" indent="0">
              <a:lnSpc>
                <a:spcPct val="130000"/>
              </a:lnSpc>
              <a:buNone/>
            </a:pPr>
            <a:r>
              <a:rPr lang="en-US" sz="1100" dirty="0">
                <a:solidFill>
                  <a:srgbClr val="1E293B"/>
                </a:solidFill>
                <a:latin typeface="Calibri" pitchFamily="34" charset="0"/>
                <a:ea typeface="Calibri" pitchFamily="34" charset="-122"/>
                <a:cs typeface="Calibri" pitchFamily="34" charset="-120"/>
              </a:rPr>
              <a:t>• EHR integration for clinical deployment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Topic 1 — Dataset</a:t>
            </a:r>
            <a:endParaRPr lang="en-US" sz="1800" dirty="0"/>
          </a:p>
        </p:txBody>
      </p:sp>
      <p:sp>
        <p:nvSpPr>
          <p:cNvPr id="4" name="Shape 2"/>
          <p:cNvSpPr/>
          <p:nvPr/>
        </p:nvSpPr>
        <p:spPr>
          <a:xfrm>
            <a:off x="0" y="5079492"/>
            <a:ext cx="9144000" cy="64008"/>
          </a:xfrm>
          <a:prstGeom prst="rect">
            <a:avLst/>
          </a:prstGeom>
          <a:solidFill>
            <a:srgbClr val="1D4ED8"/>
          </a:solidFill>
          <a:ln w="12700">
            <a:solidFill>
              <a:srgbClr val="1D4ED8"/>
            </a:solidFill>
            <a:prstDash val="solid"/>
          </a:ln>
        </p:spPr>
      </p:sp>
      <p:sp>
        <p:nvSpPr>
          <p:cNvPr id="5" name="Shape 3"/>
          <p:cNvSpPr/>
          <p:nvPr/>
        </p:nvSpPr>
        <p:spPr>
          <a:xfrm>
            <a:off x="274320" y="777240"/>
            <a:ext cx="8531352" cy="404797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274320" y="777240"/>
            <a:ext cx="64008" cy="4047978"/>
          </a:xfrm>
          <a:prstGeom prst="rect">
            <a:avLst/>
          </a:prstGeom>
          <a:solidFill>
            <a:srgbClr val="1D4ED8"/>
          </a:solidFill>
          <a:ln w="12700">
            <a:solidFill>
              <a:srgbClr val="1D4ED8"/>
            </a:solidFill>
            <a:prstDash val="solid"/>
          </a:ln>
        </p:spPr>
      </p:sp>
      <p:sp>
        <p:nvSpPr>
          <p:cNvPr id="7" name="Shape 5"/>
          <p:cNvSpPr/>
          <p:nvPr/>
        </p:nvSpPr>
        <p:spPr>
          <a:xfrm>
            <a:off x="338328" y="804672"/>
            <a:ext cx="8467344" cy="256032"/>
          </a:xfrm>
          <a:prstGeom prst="rect">
            <a:avLst/>
          </a:prstGeom>
          <a:solidFill>
            <a:srgbClr val="1D4ED8"/>
          </a:solidFill>
          <a:ln w="12700">
            <a:solidFill>
              <a:srgbClr val="1D4ED8"/>
            </a:solidFill>
            <a:prstDash val="solid"/>
          </a:ln>
        </p:spPr>
        <p:txBody>
          <a:bodyPr/>
          <a:lstStyle/>
          <a:p>
            <a:endParaRPr lang="en-US" dirty="0"/>
          </a:p>
        </p:txBody>
      </p:sp>
      <p:sp>
        <p:nvSpPr>
          <p:cNvPr id="8" name="Text 6"/>
          <p:cNvSpPr/>
          <p:nvPr/>
        </p:nvSpPr>
        <p:spPr>
          <a:xfrm>
            <a:off x="338328" y="818740"/>
            <a:ext cx="4894854" cy="235281"/>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p>
        </p:txBody>
      </p:sp>
      <p:sp>
        <p:nvSpPr>
          <p:cNvPr id="9" name="Text 7"/>
          <p:cNvSpPr/>
          <p:nvPr/>
        </p:nvSpPr>
        <p:spPr>
          <a:xfrm>
            <a:off x="457200" y="1102204"/>
            <a:ext cx="8032652" cy="822959"/>
          </a:xfrm>
          <a:prstGeom prst="rect">
            <a:avLst/>
          </a:prstGeom>
          <a:noFill/>
          <a:ln/>
        </p:spPr>
        <p:txBody>
          <a:bodyPr wrap="square" rtlCol="0" anchor="ctr"/>
          <a:lstStyle/>
          <a:p>
            <a:pPr marL="0" indent="0">
              <a:lnSpc>
                <a:spcPct val="140000"/>
              </a:lnSpc>
              <a:buNone/>
            </a:pPr>
            <a:r>
              <a:rPr lang="en-US" sz="1600" dirty="0"/>
              <a:t>Kaggle: https://www.kaggle.com/datasets/alexteboul/diabetes-health-indicators-dataset</a:t>
            </a:r>
          </a:p>
        </p:txBody>
      </p:sp>
    </p:spTree>
    <p:extLst>
      <p:ext uri="{BB962C8B-B14F-4D97-AF65-F5344CB8AC3E}">
        <p14:creationId xmlns:p14="http://schemas.microsoft.com/office/powerpoint/2010/main" val="1814391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7C3AED"/>
          </a:solidFill>
          <a:ln w="12700">
            <a:solidFill>
              <a:srgbClr val="7C3AED"/>
            </a:solidFill>
            <a:prstDash val="solid"/>
          </a:ln>
        </p:spPr>
      </p:sp>
      <p:sp>
        <p:nvSpPr>
          <p:cNvPr id="3" name="Shape 1"/>
          <p:cNvSpPr/>
          <p:nvPr/>
        </p:nvSpPr>
        <p:spPr>
          <a:xfrm>
            <a:off x="0" y="5079492"/>
            <a:ext cx="9144000" cy="64008"/>
          </a:xfrm>
          <a:prstGeom prst="rect">
            <a:avLst/>
          </a:prstGeom>
          <a:solidFill>
            <a:srgbClr val="7C3AED"/>
          </a:solidFill>
          <a:ln w="12700">
            <a:solidFill>
              <a:srgbClr val="7C3AED"/>
            </a:solidFill>
            <a:prstDash val="solid"/>
          </a:ln>
        </p:spPr>
      </p:sp>
      <p:sp>
        <p:nvSpPr>
          <p:cNvPr id="4" name="Text 2"/>
          <p:cNvSpPr/>
          <p:nvPr/>
        </p:nvSpPr>
        <p:spPr>
          <a:xfrm>
            <a:off x="457200" y="1463040"/>
            <a:ext cx="8229600" cy="548640"/>
          </a:xfrm>
          <a:prstGeom prst="rect">
            <a:avLst/>
          </a:prstGeom>
          <a:noFill/>
          <a:ln/>
        </p:spPr>
        <p:txBody>
          <a:bodyPr wrap="square" rtlCol="0" anchor="ctr"/>
          <a:lstStyle/>
          <a:p>
            <a:pPr marL="0" indent="0" algn="ctr">
              <a:buNone/>
            </a:pPr>
            <a:r>
              <a:rPr lang="en-US" sz="4000" b="1" kern="0" spc="800" dirty="0">
                <a:solidFill>
                  <a:srgbClr val="7C3AED"/>
                </a:solidFill>
                <a:latin typeface="Calibri" pitchFamily="34" charset="0"/>
                <a:ea typeface="Calibri" pitchFamily="34" charset="-122"/>
                <a:cs typeface="Calibri" pitchFamily="34" charset="-120"/>
              </a:rPr>
              <a:t>TOPIC 2</a:t>
            </a:r>
            <a:endParaRPr lang="en-US" sz="4000" dirty="0"/>
          </a:p>
        </p:txBody>
      </p:sp>
      <p:sp>
        <p:nvSpPr>
          <p:cNvPr id="5" name="Text 3"/>
          <p:cNvSpPr/>
          <p:nvPr/>
        </p:nvSpPr>
        <p:spPr>
          <a:xfrm>
            <a:off x="731520" y="2194560"/>
            <a:ext cx="7680960" cy="1097280"/>
          </a:xfrm>
          <a:prstGeom prst="rect">
            <a:avLst/>
          </a:prstGeom>
          <a:noFill/>
          <a:ln/>
        </p:spPr>
        <p:txBody>
          <a:bodyPr wrap="square" rtlCol="0" anchor="ctr"/>
          <a:lstStyle/>
          <a:p>
            <a:pPr marL="0" indent="0" algn="ctr">
              <a:buNone/>
            </a:pPr>
            <a:r>
              <a:rPr lang="en-US" sz="2200" i="1" dirty="0">
                <a:solidFill>
                  <a:srgbClr val="FFFFFF"/>
                </a:solidFill>
                <a:latin typeface="Calibri" pitchFamily="34" charset="0"/>
                <a:ea typeface="Calibri" pitchFamily="34" charset="-122"/>
                <a:cs typeface="Calibri" pitchFamily="34" charset="-120"/>
              </a:rPr>
              <a:t>Fake Review Detection in E-Commerce. Two Complementary Studies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Topic 2 — Paper Overviews &amp; Research Problem</a:t>
            </a:r>
            <a:endParaRPr lang="en-US" sz="1800" dirty="0"/>
          </a:p>
        </p:txBody>
      </p:sp>
      <p:sp>
        <p:nvSpPr>
          <p:cNvPr id="4" name="Shape 2"/>
          <p:cNvSpPr/>
          <p:nvPr/>
        </p:nvSpPr>
        <p:spPr>
          <a:xfrm>
            <a:off x="0" y="5079492"/>
            <a:ext cx="9144000" cy="64008"/>
          </a:xfrm>
          <a:prstGeom prst="rect">
            <a:avLst/>
          </a:prstGeom>
          <a:solidFill>
            <a:srgbClr val="7C3AED"/>
          </a:solidFill>
          <a:ln w="12700">
            <a:solidFill>
              <a:srgbClr val="7C3AED"/>
            </a:solidFill>
            <a:prstDash val="solid"/>
          </a:ln>
        </p:spPr>
      </p:sp>
      <p:sp>
        <p:nvSpPr>
          <p:cNvPr id="5" name="Shape 3"/>
          <p:cNvSpPr/>
          <p:nvPr/>
        </p:nvSpPr>
        <p:spPr>
          <a:xfrm>
            <a:off x="274320" y="777240"/>
            <a:ext cx="4069080"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77240"/>
            <a:ext cx="64008" cy="4160520"/>
          </a:xfrm>
          <a:prstGeom prst="rect">
            <a:avLst/>
          </a:prstGeom>
          <a:solidFill>
            <a:srgbClr val="7C3AED"/>
          </a:solidFill>
          <a:ln w="12700">
            <a:solidFill>
              <a:srgbClr val="7C3AED"/>
            </a:solidFill>
            <a:prstDash val="solid"/>
          </a:ln>
        </p:spPr>
      </p:sp>
      <p:sp>
        <p:nvSpPr>
          <p:cNvPr id="7" name="Shape 5"/>
          <p:cNvSpPr/>
          <p:nvPr/>
        </p:nvSpPr>
        <p:spPr>
          <a:xfrm>
            <a:off x="338328" y="804672"/>
            <a:ext cx="3941064" cy="256032"/>
          </a:xfrm>
          <a:prstGeom prst="rect">
            <a:avLst/>
          </a:prstGeom>
          <a:solidFill>
            <a:srgbClr val="7C3AED"/>
          </a:solidFill>
          <a:ln w="12700">
            <a:solidFill>
              <a:srgbClr val="7C3AED"/>
            </a:solidFill>
            <a:prstDash val="solid"/>
          </a:ln>
        </p:spPr>
      </p:sp>
      <p:sp>
        <p:nvSpPr>
          <p:cNvPr id="8" name="Text 6"/>
          <p:cNvSpPr/>
          <p:nvPr/>
        </p:nvSpPr>
        <p:spPr>
          <a:xfrm>
            <a:off x="338328" y="80467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PAPER A — Salminen et al. (2022)</a:t>
            </a:r>
            <a:endParaRPr lang="en-US" sz="1000" dirty="0"/>
          </a:p>
        </p:txBody>
      </p:sp>
      <p:sp>
        <p:nvSpPr>
          <p:cNvPr id="9" name="Text 7"/>
          <p:cNvSpPr/>
          <p:nvPr/>
        </p:nvSpPr>
        <p:spPr>
          <a:xfrm>
            <a:off x="411480" y="1093762"/>
            <a:ext cx="3840480" cy="3703320"/>
          </a:xfrm>
          <a:prstGeom prst="rect">
            <a:avLst/>
          </a:prstGeom>
          <a:noFill/>
          <a:ln/>
        </p:spPr>
        <p:txBody>
          <a:bodyPr wrap="square" rtlCol="0" anchor="ctr"/>
          <a:lstStyle/>
          <a:p>
            <a:pPr marL="0" indent="0">
              <a:lnSpc>
                <a:spcPct val="130000"/>
              </a:lnSpc>
              <a:buNone/>
            </a:pPr>
            <a:r>
              <a:rPr lang="en-US" sz="1200" b="1" dirty="0">
                <a:solidFill>
                  <a:srgbClr val="1E293B"/>
                </a:solidFill>
                <a:latin typeface="Calibri" pitchFamily="34" charset="0"/>
                <a:ea typeface="Calibri" pitchFamily="34" charset="-122"/>
                <a:cs typeface="Calibri" pitchFamily="34" charset="-120"/>
              </a:rPr>
              <a:t>Journal: </a:t>
            </a:r>
            <a:r>
              <a:rPr lang="en-US" sz="1200" dirty="0">
                <a:solidFill>
                  <a:srgbClr val="1E293B"/>
                </a:solidFill>
                <a:latin typeface="Calibri" pitchFamily="34" charset="0"/>
                <a:ea typeface="Calibri" pitchFamily="34" charset="-122"/>
                <a:cs typeface="Calibri" pitchFamily="34" charset="-120"/>
              </a:rPr>
              <a:t>Journal of Retailing and Consumer Services, 64, 102771
</a:t>
            </a:r>
            <a:r>
              <a:rPr lang="en-US" sz="1200" b="1" dirty="0">
                <a:solidFill>
                  <a:srgbClr val="1E293B"/>
                </a:solidFill>
                <a:latin typeface="Calibri" pitchFamily="34" charset="0"/>
                <a:ea typeface="Calibri" pitchFamily="34" charset="-122"/>
                <a:cs typeface="Calibri" pitchFamily="34" charset="-120"/>
              </a:rPr>
              <a:t>DOI: </a:t>
            </a:r>
            <a:r>
              <a:rPr lang="en-US" sz="1200" dirty="0">
                <a:solidFill>
                  <a:srgbClr val="1E293B"/>
                </a:solidFill>
                <a:latin typeface="Calibri" pitchFamily="34" charset="0"/>
                <a:ea typeface="Calibri" pitchFamily="34" charset="-122"/>
                <a:cs typeface="Calibri" pitchFamily="34" charset="-120"/>
              </a:rPr>
              <a:t>10.1016/j.jretconser.2021.102771
</a:t>
            </a:r>
            <a:r>
              <a:rPr lang="en-US" sz="1200" b="1" dirty="0">
                <a:solidFill>
                  <a:srgbClr val="1E293B"/>
                </a:solidFill>
                <a:latin typeface="Calibri" pitchFamily="34" charset="0"/>
                <a:ea typeface="Calibri" pitchFamily="34" charset="-122"/>
                <a:cs typeface="Calibri" pitchFamily="34" charset="-120"/>
              </a:rPr>
              <a:t>Problem: </a:t>
            </a:r>
            <a:r>
              <a:rPr lang="en-US" sz="1200" dirty="0">
                <a:solidFill>
                  <a:srgbClr val="1E293B"/>
                </a:solidFill>
                <a:latin typeface="Calibri" pitchFamily="34" charset="0"/>
                <a:ea typeface="Calibri" pitchFamily="34" charset="-122"/>
                <a:cs typeface="Calibri" pitchFamily="34" charset="-120"/>
              </a:rPr>
              <a:t>Fake reviews are increasingly computer-generated at scale via LLMs, yet existing detectors have only partial success and humans perform near-random at detection.
</a:t>
            </a:r>
            <a:r>
              <a:rPr lang="en-US" sz="1200" b="1" dirty="0">
                <a:solidFill>
                  <a:srgbClr val="1E293B"/>
                </a:solidFill>
                <a:latin typeface="Calibri" pitchFamily="34" charset="0"/>
                <a:ea typeface="Calibri" pitchFamily="34" charset="-122"/>
                <a:cs typeface="Calibri" pitchFamily="34" charset="-120"/>
              </a:rPr>
              <a:t>What: </a:t>
            </a:r>
            <a:r>
              <a:rPr lang="en-US" sz="1200" dirty="0">
                <a:solidFill>
                  <a:srgbClr val="1E293B"/>
                </a:solidFill>
                <a:latin typeface="Calibri" pitchFamily="34" charset="0"/>
                <a:ea typeface="Calibri" pitchFamily="34" charset="-122"/>
                <a:cs typeface="Calibri" pitchFamily="34" charset="-120"/>
              </a:rPr>
              <a:t>Generate fake reviews with GPT-2, create a labeled dataset, and compare machine vs. human detection accuracy.
</a:t>
            </a:r>
            <a:r>
              <a:rPr lang="en-US" sz="1200" b="1" dirty="0">
                <a:solidFill>
                  <a:srgbClr val="1E293B"/>
                </a:solidFill>
                <a:latin typeface="Calibri" pitchFamily="34" charset="0"/>
                <a:ea typeface="Calibri" pitchFamily="34" charset="-122"/>
                <a:cs typeface="Calibri" pitchFamily="34" charset="-120"/>
              </a:rPr>
              <a:t>Why: </a:t>
            </a:r>
            <a:r>
              <a:rPr lang="en-US" sz="1200" dirty="0">
                <a:solidFill>
                  <a:srgbClr val="1E293B"/>
                </a:solidFill>
                <a:latin typeface="Calibri" pitchFamily="34" charset="0"/>
                <a:ea typeface="Calibri" pitchFamily="34" charset="-122"/>
                <a:cs typeface="Calibri" pitchFamily="34" charset="-120"/>
              </a:rPr>
              <a:t>Machines generating fake reviews are also best placed to detect them "machines can fight machines".
</a:t>
            </a:r>
            <a:r>
              <a:rPr lang="en-US" sz="1200" b="1" dirty="0">
                <a:solidFill>
                  <a:srgbClr val="1E293B"/>
                </a:solidFill>
                <a:latin typeface="Calibri" pitchFamily="34" charset="0"/>
                <a:ea typeface="Calibri" pitchFamily="34" charset="-122"/>
                <a:cs typeface="Calibri" pitchFamily="34" charset="-120"/>
              </a:rPr>
              <a:t>How: </a:t>
            </a:r>
            <a:r>
              <a:rPr lang="en-US" sz="1200" u="sng" dirty="0">
                <a:solidFill>
                  <a:srgbClr val="1E293B"/>
                </a:solidFill>
                <a:latin typeface="Calibri" pitchFamily="34" charset="0"/>
                <a:ea typeface="Calibri" pitchFamily="34" charset="-122"/>
                <a:cs typeface="Calibri" pitchFamily="34" charset="-120"/>
              </a:rPr>
              <a:t>Amazon product reviews dataset, ULMFiT vs. GPT-2 generation, fakeRoBERTa classifier, crowd workers for human benchmark.</a:t>
            </a:r>
            <a:endParaRPr lang="en-US" sz="1200" u="sng" dirty="0"/>
          </a:p>
        </p:txBody>
      </p:sp>
      <p:sp>
        <p:nvSpPr>
          <p:cNvPr id="10" name="Shape 8"/>
          <p:cNvSpPr/>
          <p:nvPr/>
        </p:nvSpPr>
        <p:spPr>
          <a:xfrm>
            <a:off x="4709160" y="777240"/>
            <a:ext cx="4069080"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709160" y="777240"/>
            <a:ext cx="64008" cy="4160520"/>
          </a:xfrm>
          <a:prstGeom prst="rect">
            <a:avLst/>
          </a:prstGeom>
          <a:solidFill>
            <a:srgbClr val="7C3AED"/>
          </a:solidFill>
          <a:ln w="12700">
            <a:solidFill>
              <a:srgbClr val="7C3AED"/>
            </a:solidFill>
            <a:prstDash val="solid"/>
          </a:ln>
        </p:spPr>
      </p:sp>
      <p:sp>
        <p:nvSpPr>
          <p:cNvPr id="12" name="Shape 10"/>
          <p:cNvSpPr/>
          <p:nvPr/>
        </p:nvSpPr>
        <p:spPr>
          <a:xfrm>
            <a:off x="4773168" y="804672"/>
            <a:ext cx="3941064" cy="256032"/>
          </a:xfrm>
          <a:prstGeom prst="rect">
            <a:avLst/>
          </a:prstGeom>
          <a:solidFill>
            <a:srgbClr val="7C3AED"/>
          </a:solidFill>
          <a:ln w="12700">
            <a:solidFill>
              <a:srgbClr val="7C3AED"/>
            </a:solidFill>
            <a:prstDash val="solid"/>
          </a:ln>
        </p:spPr>
      </p:sp>
      <p:sp>
        <p:nvSpPr>
          <p:cNvPr id="13" name="Text 11"/>
          <p:cNvSpPr/>
          <p:nvPr/>
        </p:nvSpPr>
        <p:spPr>
          <a:xfrm>
            <a:off x="4773168" y="80467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PAPER B — Hajek, Hikkerova &amp; Sahut (Preprint)</a:t>
            </a:r>
            <a:endParaRPr lang="en-US" sz="1000" dirty="0"/>
          </a:p>
        </p:txBody>
      </p:sp>
      <p:sp>
        <p:nvSpPr>
          <p:cNvPr id="14" name="Text 12"/>
          <p:cNvSpPr/>
          <p:nvPr/>
        </p:nvSpPr>
        <p:spPr>
          <a:xfrm>
            <a:off x="4846320" y="1135966"/>
            <a:ext cx="3840480" cy="3703320"/>
          </a:xfrm>
          <a:prstGeom prst="rect">
            <a:avLst/>
          </a:prstGeom>
          <a:noFill/>
          <a:ln/>
        </p:spPr>
        <p:txBody>
          <a:bodyPr wrap="square" rtlCol="0" anchor="ctr"/>
          <a:lstStyle/>
          <a:p>
            <a:pPr marL="0" indent="0">
              <a:lnSpc>
                <a:spcPct val="130000"/>
              </a:lnSpc>
              <a:buNone/>
            </a:pPr>
            <a:r>
              <a:rPr lang="en-US" sz="1200" b="1" dirty="0">
                <a:solidFill>
                  <a:srgbClr val="1E293B"/>
                </a:solidFill>
                <a:latin typeface="Calibri" pitchFamily="34" charset="0"/>
                <a:ea typeface="Calibri" pitchFamily="34" charset="-122"/>
                <a:cs typeface="Calibri" pitchFamily="34" charset="-120"/>
              </a:rPr>
              <a:t>Venue: </a:t>
            </a:r>
            <a:r>
              <a:rPr lang="en-US" sz="1200" dirty="0">
                <a:solidFill>
                  <a:srgbClr val="1E293B"/>
                </a:solidFill>
                <a:latin typeface="Calibri" pitchFamily="34" charset="0"/>
                <a:ea typeface="Calibri" pitchFamily="34" charset="-122"/>
                <a:cs typeface="Calibri" pitchFamily="34" charset="-120"/>
              </a:rPr>
              <a:t>Preprint (peer review pending)
</a:t>
            </a:r>
            <a:r>
              <a:rPr lang="en-US" sz="1200" b="1" dirty="0">
                <a:solidFill>
                  <a:srgbClr val="1E293B"/>
                </a:solidFill>
                <a:latin typeface="Calibri" pitchFamily="34" charset="0"/>
                <a:ea typeface="Calibri" pitchFamily="34" charset="-122"/>
                <a:cs typeface="Calibri" pitchFamily="34" charset="-120"/>
              </a:rPr>
              <a:t>Problem: </a:t>
            </a:r>
            <a:r>
              <a:rPr lang="en-US" sz="1200" dirty="0">
                <a:solidFill>
                  <a:srgbClr val="1E293B"/>
                </a:solidFill>
                <a:latin typeface="Calibri" pitchFamily="34" charset="0"/>
                <a:ea typeface="Calibri" pitchFamily="34" charset="-122"/>
                <a:cs typeface="Calibri" pitchFamily="34" charset="-120"/>
              </a:rPr>
              <a:t>Existing sentiment-based detectors only analyze document-level sentiment, missing product-specific aspect opinions. Product type has been ignored despite different consumer experience requirements.
</a:t>
            </a:r>
            <a:r>
              <a:rPr lang="en-US" sz="1200" b="1" dirty="0">
                <a:solidFill>
                  <a:srgbClr val="1E293B"/>
                </a:solidFill>
                <a:latin typeface="Calibri" pitchFamily="34" charset="0"/>
                <a:ea typeface="Calibri" pitchFamily="34" charset="-122"/>
                <a:cs typeface="Calibri" pitchFamily="34" charset="-120"/>
              </a:rPr>
              <a:t>What: </a:t>
            </a:r>
            <a:r>
              <a:rPr lang="en-US" sz="1200" dirty="0">
                <a:solidFill>
                  <a:srgbClr val="1E293B"/>
                </a:solidFill>
                <a:latin typeface="Calibri" pitchFamily="34" charset="0"/>
                <a:ea typeface="Calibri" pitchFamily="34" charset="-122"/>
                <a:cs typeface="Calibri" pitchFamily="34" charset="-120"/>
              </a:rPr>
              <a:t>Propose ABSA-based fake review detection across 30 Amazon product types, considering aspect-level sentiment and verified purchase.
</a:t>
            </a:r>
            <a:r>
              <a:rPr lang="en-US" sz="1200" b="1" dirty="0">
                <a:solidFill>
                  <a:srgbClr val="1E293B"/>
                </a:solidFill>
                <a:latin typeface="Calibri" pitchFamily="34" charset="0"/>
                <a:ea typeface="Calibri" pitchFamily="34" charset="-122"/>
                <a:cs typeface="Calibri" pitchFamily="34" charset="-120"/>
              </a:rPr>
              <a:t>Why: </a:t>
            </a:r>
            <a:r>
              <a:rPr lang="en-US" sz="1200" dirty="0">
                <a:solidFill>
                  <a:srgbClr val="1E293B"/>
                </a:solidFill>
                <a:latin typeface="Calibri" pitchFamily="34" charset="0"/>
                <a:ea typeface="Calibri" pitchFamily="34" charset="-122"/>
                <a:cs typeface="Calibri" pitchFamily="34" charset="-120"/>
              </a:rPr>
              <a:t>A review saying "love the watch but hate the band" expresses mixed aspect-level sentiment document-level analysis misses this entirely.
</a:t>
            </a:r>
            <a:r>
              <a:rPr lang="en-US" sz="1200" b="1" dirty="0">
                <a:solidFill>
                  <a:srgbClr val="1E293B"/>
                </a:solidFill>
                <a:latin typeface="Calibri" pitchFamily="34" charset="0"/>
                <a:ea typeface="Calibri" pitchFamily="34" charset="-122"/>
                <a:cs typeface="Calibri" pitchFamily="34" charset="-120"/>
              </a:rPr>
              <a:t>How: </a:t>
            </a:r>
            <a:r>
              <a:rPr lang="en-US" sz="1200" u="sng" dirty="0">
                <a:solidFill>
                  <a:srgbClr val="1E293B"/>
                </a:solidFill>
                <a:latin typeface="Calibri" pitchFamily="34" charset="0"/>
                <a:ea typeface="Calibri" pitchFamily="34" charset="-122"/>
                <a:cs typeface="Calibri" pitchFamily="34" charset="-120"/>
              </a:rPr>
              <a:t>Amazon dataset (21,000 reviews, 50% fake), unsupervised ABAE aspect extraction, W2VLDA for ABSA, deep neural network classifier.</a:t>
            </a:r>
            <a:endParaRPr lang="en-US" sz="1200" u="sn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Topic 2 — Methodology, Results &amp; Key Findings</a:t>
            </a:r>
            <a:endParaRPr lang="en-US" sz="1800" dirty="0"/>
          </a:p>
        </p:txBody>
      </p:sp>
      <p:sp>
        <p:nvSpPr>
          <p:cNvPr id="4" name="Shape 2"/>
          <p:cNvSpPr/>
          <p:nvPr/>
        </p:nvSpPr>
        <p:spPr>
          <a:xfrm>
            <a:off x="0" y="5079492"/>
            <a:ext cx="9144000" cy="64008"/>
          </a:xfrm>
          <a:prstGeom prst="rect">
            <a:avLst/>
          </a:prstGeom>
          <a:solidFill>
            <a:srgbClr val="7C3AED"/>
          </a:solidFill>
          <a:ln w="12700">
            <a:solidFill>
              <a:srgbClr val="7C3AED"/>
            </a:solidFill>
            <a:prstDash val="solid"/>
          </a:ln>
        </p:spPr>
      </p:sp>
      <p:sp>
        <p:nvSpPr>
          <p:cNvPr id="5" name="Shape 3"/>
          <p:cNvSpPr/>
          <p:nvPr/>
        </p:nvSpPr>
        <p:spPr>
          <a:xfrm>
            <a:off x="274320" y="777240"/>
            <a:ext cx="406908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77240"/>
            <a:ext cx="64008" cy="2011680"/>
          </a:xfrm>
          <a:prstGeom prst="rect">
            <a:avLst/>
          </a:prstGeom>
          <a:solidFill>
            <a:srgbClr val="7C3AED"/>
          </a:solidFill>
          <a:ln w="12700">
            <a:solidFill>
              <a:srgbClr val="7C3AED"/>
            </a:solidFill>
            <a:prstDash val="solid"/>
          </a:ln>
        </p:spPr>
      </p:sp>
      <p:sp>
        <p:nvSpPr>
          <p:cNvPr id="7" name="Shape 5"/>
          <p:cNvSpPr/>
          <p:nvPr/>
        </p:nvSpPr>
        <p:spPr>
          <a:xfrm>
            <a:off x="338328" y="804672"/>
            <a:ext cx="3941064" cy="256032"/>
          </a:xfrm>
          <a:prstGeom prst="rect">
            <a:avLst/>
          </a:prstGeom>
          <a:solidFill>
            <a:srgbClr val="7C3AED"/>
          </a:solidFill>
          <a:ln w="12700">
            <a:solidFill>
              <a:srgbClr val="7C3AED"/>
            </a:solidFill>
            <a:prstDash val="solid"/>
          </a:ln>
        </p:spPr>
      </p:sp>
      <p:sp>
        <p:nvSpPr>
          <p:cNvPr id="8" name="Text 6"/>
          <p:cNvSpPr/>
          <p:nvPr/>
        </p:nvSpPr>
        <p:spPr>
          <a:xfrm>
            <a:off x="338328" y="80467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PAPER A RESULTS (fakeRoBERTa)</a:t>
            </a:r>
            <a:endParaRPr lang="en-US" sz="1000" dirty="0"/>
          </a:p>
        </p:txBody>
      </p:sp>
      <p:sp>
        <p:nvSpPr>
          <p:cNvPr id="9" name="Shape 7"/>
          <p:cNvSpPr/>
          <p:nvPr/>
        </p:nvSpPr>
        <p:spPr>
          <a:xfrm>
            <a:off x="365760" y="1115568"/>
            <a:ext cx="1783080" cy="658368"/>
          </a:xfrm>
          <a:prstGeom prst="rect">
            <a:avLst/>
          </a:prstGeom>
          <a:solidFill>
            <a:srgbClr val="F5F3FF"/>
          </a:solidFill>
          <a:ln w="12700">
            <a:solidFill>
              <a:srgbClr val="DDD6FE"/>
            </a:solidFill>
            <a:prstDash val="solid"/>
          </a:ln>
        </p:spPr>
      </p:sp>
      <p:sp>
        <p:nvSpPr>
          <p:cNvPr id="10" name="Text 8"/>
          <p:cNvSpPr/>
          <p:nvPr/>
        </p:nvSpPr>
        <p:spPr>
          <a:xfrm>
            <a:off x="365760" y="1133856"/>
            <a:ext cx="1783080" cy="347472"/>
          </a:xfrm>
          <a:prstGeom prst="rect">
            <a:avLst/>
          </a:prstGeom>
          <a:noFill/>
          <a:ln/>
        </p:spPr>
        <p:txBody>
          <a:bodyPr wrap="square" lIns="0" tIns="0" rIns="0" bIns="0"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97%</a:t>
            </a:r>
            <a:endParaRPr lang="en-US" sz="2200" dirty="0"/>
          </a:p>
        </p:txBody>
      </p:sp>
      <p:sp>
        <p:nvSpPr>
          <p:cNvPr id="11" name="Text 9"/>
          <p:cNvSpPr/>
          <p:nvPr/>
        </p:nvSpPr>
        <p:spPr>
          <a:xfrm>
            <a:off x="365760" y="1481328"/>
            <a:ext cx="178308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Precision &amp; Recall</a:t>
            </a:r>
            <a:endParaRPr lang="en-US" sz="900" dirty="0"/>
          </a:p>
        </p:txBody>
      </p:sp>
      <p:sp>
        <p:nvSpPr>
          <p:cNvPr id="12" name="Shape 10"/>
          <p:cNvSpPr/>
          <p:nvPr/>
        </p:nvSpPr>
        <p:spPr>
          <a:xfrm>
            <a:off x="2377440" y="1115568"/>
            <a:ext cx="1783080" cy="658368"/>
          </a:xfrm>
          <a:prstGeom prst="rect">
            <a:avLst/>
          </a:prstGeom>
          <a:solidFill>
            <a:srgbClr val="F5F3FF"/>
          </a:solidFill>
          <a:ln w="12700">
            <a:solidFill>
              <a:srgbClr val="DDD6FE"/>
            </a:solidFill>
            <a:prstDash val="solid"/>
          </a:ln>
        </p:spPr>
      </p:sp>
      <p:sp>
        <p:nvSpPr>
          <p:cNvPr id="13" name="Text 11"/>
          <p:cNvSpPr/>
          <p:nvPr/>
        </p:nvSpPr>
        <p:spPr>
          <a:xfrm>
            <a:off x="2377440" y="1133856"/>
            <a:ext cx="1783080" cy="347472"/>
          </a:xfrm>
          <a:prstGeom prst="rect">
            <a:avLst/>
          </a:prstGeom>
          <a:noFill/>
          <a:ln/>
        </p:spPr>
        <p:txBody>
          <a:bodyPr wrap="square" lIns="0" tIns="0" rIns="0" bIns="0"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52%</a:t>
            </a:r>
            <a:endParaRPr lang="en-US" sz="2200" dirty="0"/>
          </a:p>
        </p:txBody>
      </p:sp>
      <p:sp>
        <p:nvSpPr>
          <p:cNvPr id="14" name="Text 12"/>
          <p:cNvSpPr/>
          <p:nvPr/>
        </p:nvSpPr>
        <p:spPr>
          <a:xfrm>
            <a:off x="2377440" y="1481328"/>
            <a:ext cx="178308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Human Accuracy</a:t>
            </a:r>
            <a:endParaRPr lang="en-US" sz="900" dirty="0"/>
          </a:p>
        </p:txBody>
      </p:sp>
      <p:sp>
        <p:nvSpPr>
          <p:cNvPr id="15" name="Shape 13"/>
          <p:cNvSpPr/>
          <p:nvPr/>
        </p:nvSpPr>
        <p:spPr>
          <a:xfrm>
            <a:off x="365760" y="1938528"/>
            <a:ext cx="1783080" cy="658368"/>
          </a:xfrm>
          <a:prstGeom prst="rect">
            <a:avLst/>
          </a:prstGeom>
          <a:solidFill>
            <a:srgbClr val="F5F3FF"/>
          </a:solidFill>
          <a:ln w="12700">
            <a:solidFill>
              <a:srgbClr val="DDD6FE"/>
            </a:solidFill>
            <a:prstDash val="solid"/>
          </a:ln>
        </p:spPr>
      </p:sp>
      <p:sp>
        <p:nvSpPr>
          <p:cNvPr id="16" name="Text 14"/>
          <p:cNvSpPr/>
          <p:nvPr/>
        </p:nvSpPr>
        <p:spPr>
          <a:xfrm>
            <a:off x="365760" y="1956816"/>
            <a:ext cx="1783080" cy="347472"/>
          </a:xfrm>
          <a:prstGeom prst="rect">
            <a:avLst/>
          </a:prstGeom>
          <a:noFill/>
          <a:ln/>
        </p:spPr>
        <p:txBody>
          <a:bodyPr wrap="square" lIns="0" tIns="0" rIns="0" bIns="0"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86%</a:t>
            </a:r>
            <a:endParaRPr lang="en-US" sz="2200" dirty="0"/>
          </a:p>
        </p:txBody>
      </p:sp>
      <p:sp>
        <p:nvSpPr>
          <p:cNvPr id="17" name="Text 15"/>
          <p:cNvSpPr/>
          <p:nvPr/>
        </p:nvSpPr>
        <p:spPr>
          <a:xfrm>
            <a:off x="365760" y="2304288"/>
            <a:ext cx="178308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ML vs Random</a:t>
            </a:r>
            <a:endParaRPr lang="en-US" sz="900" dirty="0"/>
          </a:p>
        </p:txBody>
      </p:sp>
      <p:sp>
        <p:nvSpPr>
          <p:cNvPr id="18" name="Shape 16"/>
          <p:cNvSpPr/>
          <p:nvPr/>
        </p:nvSpPr>
        <p:spPr>
          <a:xfrm>
            <a:off x="2377440" y="1938528"/>
            <a:ext cx="1783080" cy="658368"/>
          </a:xfrm>
          <a:prstGeom prst="rect">
            <a:avLst/>
          </a:prstGeom>
          <a:solidFill>
            <a:srgbClr val="F5F3FF"/>
          </a:solidFill>
          <a:ln w="12700">
            <a:solidFill>
              <a:srgbClr val="DDD6FE"/>
            </a:solidFill>
            <a:prstDash val="solid"/>
          </a:ln>
        </p:spPr>
      </p:sp>
      <p:sp>
        <p:nvSpPr>
          <p:cNvPr id="19" name="Text 17"/>
          <p:cNvSpPr/>
          <p:nvPr/>
        </p:nvSpPr>
        <p:spPr>
          <a:xfrm>
            <a:off x="2377440" y="1956816"/>
            <a:ext cx="1783080" cy="347472"/>
          </a:xfrm>
          <a:prstGeom prst="rect">
            <a:avLst/>
          </a:prstGeom>
          <a:noFill/>
          <a:ln/>
        </p:spPr>
        <p:txBody>
          <a:bodyPr wrap="square" lIns="0" tIns="0" rIns="0" bIns="0"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40K</a:t>
            </a:r>
            <a:endParaRPr lang="en-US" sz="2200" dirty="0"/>
          </a:p>
        </p:txBody>
      </p:sp>
      <p:sp>
        <p:nvSpPr>
          <p:cNvPr id="20" name="Text 18"/>
          <p:cNvSpPr/>
          <p:nvPr/>
        </p:nvSpPr>
        <p:spPr>
          <a:xfrm>
            <a:off x="2377440" y="2304288"/>
            <a:ext cx="178308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Reviews Dataset</a:t>
            </a:r>
            <a:endParaRPr lang="en-US" sz="900" dirty="0"/>
          </a:p>
        </p:txBody>
      </p:sp>
      <p:sp>
        <p:nvSpPr>
          <p:cNvPr id="21" name="Shape 19"/>
          <p:cNvSpPr/>
          <p:nvPr/>
        </p:nvSpPr>
        <p:spPr>
          <a:xfrm>
            <a:off x="4709160" y="777240"/>
            <a:ext cx="406908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2" name="Shape 20"/>
          <p:cNvSpPr/>
          <p:nvPr/>
        </p:nvSpPr>
        <p:spPr>
          <a:xfrm>
            <a:off x="4709160" y="777240"/>
            <a:ext cx="64008" cy="2011680"/>
          </a:xfrm>
          <a:prstGeom prst="rect">
            <a:avLst/>
          </a:prstGeom>
          <a:solidFill>
            <a:srgbClr val="7C3AED"/>
          </a:solidFill>
          <a:ln w="12700">
            <a:solidFill>
              <a:srgbClr val="7C3AED"/>
            </a:solidFill>
            <a:prstDash val="solid"/>
          </a:ln>
        </p:spPr>
      </p:sp>
      <p:sp>
        <p:nvSpPr>
          <p:cNvPr id="23" name="Shape 21"/>
          <p:cNvSpPr/>
          <p:nvPr/>
        </p:nvSpPr>
        <p:spPr>
          <a:xfrm>
            <a:off x="4773168" y="804672"/>
            <a:ext cx="3941064" cy="256032"/>
          </a:xfrm>
          <a:prstGeom prst="rect">
            <a:avLst/>
          </a:prstGeom>
          <a:solidFill>
            <a:srgbClr val="7C3AED"/>
          </a:solidFill>
          <a:ln w="12700">
            <a:solidFill>
              <a:srgbClr val="7C3AED"/>
            </a:solidFill>
            <a:prstDash val="solid"/>
          </a:ln>
        </p:spPr>
      </p:sp>
      <p:sp>
        <p:nvSpPr>
          <p:cNvPr id="24" name="Text 22"/>
          <p:cNvSpPr/>
          <p:nvPr/>
        </p:nvSpPr>
        <p:spPr>
          <a:xfrm>
            <a:off x="4773168" y="80467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PAPER B RESULTS (ABSA-DNN)</a:t>
            </a:r>
            <a:endParaRPr lang="en-US" sz="1000" dirty="0"/>
          </a:p>
        </p:txBody>
      </p:sp>
      <p:sp>
        <p:nvSpPr>
          <p:cNvPr id="25" name="Shape 23"/>
          <p:cNvSpPr/>
          <p:nvPr/>
        </p:nvSpPr>
        <p:spPr>
          <a:xfrm>
            <a:off x="4800600" y="1115568"/>
            <a:ext cx="1737360" cy="658368"/>
          </a:xfrm>
          <a:prstGeom prst="rect">
            <a:avLst/>
          </a:prstGeom>
          <a:solidFill>
            <a:srgbClr val="F5F3FF"/>
          </a:solidFill>
          <a:ln w="12700">
            <a:solidFill>
              <a:srgbClr val="DDD6FE"/>
            </a:solidFill>
            <a:prstDash val="solid"/>
          </a:ln>
        </p:spPr>
      </p:sp>
      <p:sp>
        <p:nvSpPr>
          <p:cNvPr id="26" name="Text 24"/>
          <p:cNvSpPr/>
          <p:nvPr/>
        </p:nvSpPr>
        <p:spPr>
          <a:xfrm>
            <a:off x="4800600" y="1133856"/>
            <a:ext cx="1737360" cy="347472"/>
          </a:xfrm>
          <a:prstGeom prst="rect">
            <a:avLst/>
          </a:prstGeom>
          <a:noFill/>
          <a:ln/>
        </p:spPr>
        <p:txBody>
          <a:bodyPr wrap="square" lIns="0" tIns="0" rIns="0" bIns="0"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82.9%</a:t>
            </a:r>
            <a:endParaRPr lang="en-US" sz="2200" dirty="0"/>
          </a:p>
        </p:txBody>
      </p:sp>
      <p:sp>
        <p:nvSpPr>
          <p:cNvPr id="27" name="Text 25"/>
          <p:cNvSpPr/>
          <p:nvPr/>
        </p:nvSpPr>
        <p:spPr>
          <a:xfrm>
            <a:off x="4800600" y="1481328"/>
            <a:ext cx="173736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Accuracy (with VP)</a:t>
            </a:r>
            <a:endParaRPr lang="en-US" sz="900" dirty="0"/>
          </a:p>
        </p:txBody>
      </p:sp>
      <p:sp>
        <p:nvSpPr>
          <p:cNvPr id="28" name="Shape 26"/>
          <p:cNvSpPr/>
          <p:nvPr/>
        </p:nvSpPr>
        <p:spPr>
          <a:xfrm>
            <a:off x="6766560" y="1115568"/>
            <a:ext cx="1737360" cy="658368"/>
          </a:xfrm>
          <a:prstGeom prst="rect">
            <a:avLst/>
          </a:prstGeom>
          <a:solidFill>
            <a:srgbClr val="F5F3FF"/>
          </a:solidFill>
          <a:ln w="12700">
            <a:solidFill>
              <a:srgbClr val="DDD6FE"/>
            </a:solidFill>
            <a:prstDash val="solid"/>
          </a:ln>
        </p:spPr>
      </p:sp>
      <p:sp>
        <p:nvSpPr>
          <p:cNvPr id="29" name="Text 27"/>
          <p:cNvSpPr/>
          <p:nvPr/>
        </p:nvSpPr>
        <p:spPr>
          <a:xfrm>
            <a:off x="6766560" y="1133856"/>
            <a:ext cx="1737360" cy="347472"/>
          </a:xfrm>
          <a:prstGeom prst="rect">
            <a:avLst/>
          </a:prstGeom>
          <a:noFill/>
          <a:ln/>
        </p:spPr>
        <p:txBody>
          <a:bodyPr wrap="square" lIns="0" tIns="0" rIns="0" bIns="0"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0.897</a:t>
            </a:r>
            <a:endParaRPr lang="en-US" sz="2200" dirty="0"/>
          </a:p>
        </p:txBody>
      </p:sp>
      <p:sp>
        <p:nvSpPr>
          <p:cNvPr id="30" name="Text 28"/>
          <p:cNvSpPr/>
          <p:nvPr/>
        </p:nvSpPr>
        <p:spPr>
          <a:xfrm>
            <a:off x="6766560" y="1481328"/>
            <a:ext cx="173736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AUC Score</a:t>
            </a:r>
            <a:endParaRPr lang="en-US" sz="900" dirty="0"/>
          </a:p>
        </p:txBody>
      </p:sp>
      <p:sp>
        <p:nvSpPr>
          <p:cNvPr id="31" name="Shape 29"/>
          <p:cNvSpPr/>
          <p:nvPr/>
        </p:nvSpPr>
        <p:spPr>
          <a:xfrm>
            <a:off x="4800600" y="1938528"/>
            <a:ext cx="1737360" cy="658368"/>
          </a:xfrm>
          <a:prstGeom prst="rect">
            <a:avLst/>
          </a:prstGeom>
          <a:solidFill>
            <a:srgbClr val="F5F3FF"/>
          </a:solidFill>
          <a:ln w="12700">
            <a:solidFill>
              <a:srgbClr val="DDD6FE"/>
            </a:solidFill>
            <a:prstDash val="solid"/>
          </a:ln>
        </p:spPr>
      </p:sp>
      <p:sp>
        <p:nvSpPr>
          <p:cNvPr id="32" name="Text 30"/>
          <p:cNvSpPr/>
          <p:nvPr/>
        </p:nvSpPr>
        <p:spPr>
          <a:xfrm>
            <a:off x="4800600" y="1956816"/>
            <a:ext cx="1737360" cy="347472"/>
          </a:xfrm>
          <a:prstGeom prst="rect">
            <a:avLst/>
          </a:prstGeom>
          <a:noFill/>
          <a:ln/>
        </p:spPr>
        <p:txBody>
          <a:bodyPr wrap="square" lIns="0" tIns="0" rIns="0" bIns="0"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19.6%</a:t>
            </a:r>
            <a:endParaRPr lang="en-US" sz="2200" dirty="0"/>
          </a:p>
        </p:txBody>
      </p:sp>
      <p:sp>
        <p:nvSpPr>
          <p:cNvPr id="33" name="Text 31"/>
          <p:cNvSpPr/>
          <p:nvPr/>
        </p:nvSpPr>
        <p:spPr>
          <a:xfrm>
            <a:off x="4800600" y="2304288"/>
            <a:ext cx="173736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VP boost (credence)</a:t>
            </a:r>
            <a:endParaRPr lang="en-US" sz="900" dirty="0"/>
          </a:p>
        </p:txBody>
      </p:sp>
      <p:sp>
        <p:nvSpPr>
          <p:cNvPr id="34" name="Shape 32"/>
          <p:cNvSpPr/>
          <p:nvPr/>
        </p:nvSpPr>
        <p:spPr>
          <a:xfrm>
            <a:off x="6766560" y="1938528"/>
            <a:ext cx="1737360" cy="658368"/>
          </a:xfrm>
          <a:prstGeom prst="rect">
            <a:avLst/>
          </a:prstGeom>
          <a:solidFill>
            <a:srgbClr val="F5F3FF"/>
          </a:solidFill>
          <a:ln w="12700">
            <a:solidFill>
              <a:srgbClr val="DDD6FE"/>
            </a:solidFill>
            <a:prstDash val="solid"/>
          </a:ln>
        </p:spPr>
      </p:sp>
      <p:sp>
        <p:nvSpPr>
          <p:cNvPr id="35" name="Text 33"/>
          <p:cNvSpPr/>
          <p:nvPr/>
        </p:nvSpPr>
        <p:spPr>
          <a:xfrm>
            <a:off x="6766560" y="1956816"/>
            <a:ext cx="1737360" cy="347472"/>
          </a:xfrm>
          <a:prstGeom prst="rect">
            <a:avLst/>
          </a:prstGeom>
          <a:noFill/>
          <a:ln/>
        </p:spPr>
        <p:txBody>
          <a:bodyPr wrap="square" lIns="0" tIns="0" rIns="0" bIns="0"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30</a:t>
            </a:r>
            <a:endParaRPr lang="en-US" sz="2200" dirty="0"/>
          </a:p>
        </p:txBody>
      </p:sp>
      <p:sp>
        <p:nvSpPr>
          <p:cNvPr id="36" name="Text 34"/>
          <p:cNvSpPr/>
          <p:nvPr/>
        </p:nvSpPr>
        <p:spPr>
          <a:xfrm>
            <a:off x="6766560" y="2304288"/>
            <a:ext cx="173736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Product Categories</a:t>
            </a:r>
            <a:endParaRPr lang="en-US" sz="900" dirty="0"/>
          </a:p>
        </p:txBody>
      </p:sp>
      <p:sp>
        <p:nvSpPr>
          <p:cNvPr id="37" name="Shape 35"/>
          <p:cNvSpPr/>
          <p:nvPr/>
        </p:nvSpPr>
        <p:spPr>
          <a:xfrm>
            <a:off x="274320" y="2880360"/>
            <a:ext cx="406908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8" name="Shape 36"/>
          <p:cNvSpPr/>
          <p:nvPr/>
        </p:nvSpPr>
        <p:spPr>
          <a:xfrm>
            <a:off x="274320" y="2880360"/>
            <a:ext cx="64008" cy="2011680"/>
          </a:xfrm>
          <a:prstGeom prst="rect">
            <a:avLst/>
          </a:prstGeom>
          <a:solidFill>
            <a:srgbClr val="7C3AED"/>
          </a:solidFill>
          <a:ln w="12700">
            <a:solidFill>
              <a:srgbClr val="7C3AED"/>
            </a:solidFill>
            <a:prstDash val="solid"/>
          </a:ln>
        </p:spPr>
      </p:sp>
      <p:sp>
        <p:nvSpPr>
          <p:cNvPr id="39" name="Shape 37"/>
          <p:cNvSpPr/>
          <p:nvPr/>
        </p:nvSpPr>
        <p:spPr>
          <a:xfrm>
            <a:off x="338328" y="2907792"/>
            <a:ext cx="3941064" cy="256032"/>
          </a:xfrm>
          <a:prstGeom prst="rect">
            <a:avLst/>
          </a:prstGeom>
          <a:solidFill>
            <a:srgbClr val="7C3AED"/>
          </a:solidFill>
          <a:ln w="12700">
            <a:solidFill>
              <a:srgbClr val="7C3AED"/>
            </a:solidFill>
            <a:prstDash val="solid"/>
          </a:ln>
        </p:spPr>
      </p:sp>
      <p:sp>
        <p:nvSpPr>
          <p:cNvPr id="40" name="Text 38"/>
          <p:cNvSpPr/>
          <p:nvPr/>
        </p:nvSpPr>
        <p:spPr>
          <a:xfrm>
            <a:off x="338328" y="290779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WHAT THEY SOLVED</a:t>
            </a:r>
            <a:endParaRPr lang="en-US" sz="1000" dirty="0"/>
          </a:p>
        </p:txBody>
      </p:sp>
      <p:sp>
        <p:nvSpPr>
          <p:cNvPr id="41" name="Text 39"/>
          <p:cNvSpPr/>
          <p:nvPr/>
        </p:nvSpPr>
        <p:spPr>
          <a:xfrm>
            <a:off x="411480" y="3218688"/>
            <a:ext cx="3840480" cy="1572768"/>
          </a:xfrm>
          <a:prstGeom prst="rect">
            <a:avLst/>
          </a:prstGeom>
          <a:noFill/>
          <a:ln/>
        </p:spPr>
        <p:txBody>
          <a:bodyPr wrap="square" rtlCol="0" anchor="ctr"/>
          <a:lstStyle/>
          <a:p>
            <a:pPr marL="0" indent="0">
              <a:lnSpc>
                <a:spcPct val="130000"/>
              </a:lnSpc>
              <a:buNone/>
            </a:pPr>
            <a:r>
              <a:rPr lang="en-US" sz="1200" b="1" dirty="0">
                <a:solidFill>
                  <a:srgbClr val="1E293B"/>
                </a:solidFill>
                <a:latin typeface="Calibri" pitchFamily="34" charset="0"/>
                <a:ea typeface="Calibri" pitchFamily="34" charset="-122"/>
                <a:cs typeface="Calibri" pitchFamily="34" charset="-120"/>
              </a:rPr>
              <a:t>Paper A: </a:t>
            </a:r>
            <a:r>
              <a:rPr lang="en-US" sz="1200" dirty="0">
                <a:solidFill>
                  <a:srgbClr val="1E293B"/>
                </a:solidFill>
                <a:latin typeface="Calibri" pitchFamily="34" charset="0"/>
                <a:ea typeface="Calibri" pitchFamily="34" charset="-122"/>
                <a:cs typeface="Calibri" pitchFamily="34" charset="-120"/>
              </a:rPr>
              <a:t>Proved machines outperform humans at detecting AI-generated fakes (97% vs 52%). Created publicly available fake review dataset.
</a:t>
            </a:r>
            <a:r>
              <a:rPr lang="en-US" sz="1200" b="1" dirty="0">
                <a:solidFill>
                  <a:srgbClr val="1E293B"/>
                </a:solidFill>
                <a:latin typeface="Calibri" pitchFamily="34" charset="0"/>
                <a:ea typeface="Calibri" pitchFamily="34" charset="-122"/>
                <a:cs typeface="Calibri" pitchFamily="34" charset="-120"/>
              </a:rPr>
              <a:t>Paper B: </a:t>
            </a:r>
            <a:r>
              <a:rPr lang="en-US" sz="1200" dirty="0">
                <a:solidFill>
                  <a:srgbClr val="1E293B"/>
                </a:solidFill>
                <a:latin typeface="Calibri" pitchFamily="34" charset="0"/>
                <a:ea typeface="Calibri" pitchFamily="34" charset="-122"/>
                <a:cs typeface="Calibri" pitchFamily="34" charset="-120"/>
              </a:rPr>
              <a:t>First to apply ABSA for fake review detection. Showed product type and verified purchase critically affect detection accuracy.</a:t>
            </a:r>
            <a:endParaRPr lang="en-US" sz="1200" dirty="0"/>
          </a:p>
        </p:txBody>
      </p:sp>
      <p:sp>
        <p:nvSpPr>
          <p:cNvPr id="42" name="Shape 40"/>
          <p:cNvSpPr/>
          <p:nvPr/>
        </p:nvSpPr>
        <p:spPr>
          <a:xfrm>
            <a:off x="4709160" y="2880360"/>
            <a:ext cx="406908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43" name="Shape 41"/>
          <p:cNvSpPr/>
          <p:nvPr/>
        </p:nvSpPr>
        <p:spPr>
          <a:xfrm>
            <a:off x="4709160" y="2880360"/>
            <a:ext cx="64008" cy="2011680"/>
          </a:xfrm>
          <a:prstGeom prst="rect">
            <a:avLst/>
          </a:prstGeom>
          <a:solidFill>
            <a:srgbClr val="7C3AED"/>
          </a:solidFill>
          <a:ln w="12700">
            <a:solidFill>
              <a:srgbClr val="7C3AED"/>
            </a:solidFill>
            <a:prstDash val="solid"/>
          </a:ln>
        </p:spPr>
      </p:sp>
      <p:sp>
        <p:nvSpPr>
          <p:cNvPr id="44" name="Shape 42"/>
          <p:cNvSpPr/>
          <p:nvPr/>
        </p:nvSpPr>
        <p:spPr>
          <a:xfrm>
            <a:off x="4773168" y="2907792"/>
            <a:ext cx="3941064" cy="256032"/>
          </a:xfrm>
          <a:prstGeom prst="rect">
            <a:avLst/>
          </a:prstGeom>
          <a:solidFill>
            <a:srgbClr val="7C3AED"/>
          </a:solidFill>
          <a:ln w="12700">
            <a:solidFill>
              <a:srgbClr val="7C3AED"/>
            </a:solidFill>
            <a:prstDash val="solid"/>
          </a:ln>
        </p:spPr>
      </p:sp>
      <p:sp>
        <p:nvSpPr>
          <p:cNvPr id="45" name="Text 43"/>
          <p:cNvSpPr/>
          <p:nvPr/>
        </p:nvSpPr>
        <p:spPr>
          <a:xfrm>
            <a:off x="4773168" y="290779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LIMITATIONS &amp; FUTURE WORK</a:t>
            </a:r>
            <a:endParaRPr lang="en-US" sz="1000" dirty="0"/>
          </a:p>
        </p:txBody>
      </p:sp>
      <p:sp>
        <p:nvSpPr>
          <p:cNvPr id="46" name="Text 44"/>
          <p:cNvSpPr/>
          <p:nvPr/>
        </p:nvSpPr>
        <p:spPr>
          <a:xfrm>
            <a:off x="4846320" y="3218688"/>
            <a:ext cx="3867912" cy="1632204"/>
          </a:xfrm>
          <a:prstGeom prst="rect">
            <a:avLst/>
          </a:prstGeom>
          <a:noFill/>
          <a:ln/>
        </p:spPr>
        <p:txBody>
          <a:bodyPr wrap="square" rtlCol="0" anchor="ctr"/>
          <a:lstStyle/>
          <a:p>
            <a:pPr marL="0" indent="0">
              <a:lnSpc>
                <a:spcPct val="130000"/>
              </a:lnSpc>
              <a:buNone/>
            </a:pPr>
            <a:r>
              <a:rPr lang="en-US" sz="1200" b="1" dirty="0">
                <a:solidFill>
                  <a:srgbClr val="1E293B"/>
                </a:solidFill>
                <a:latin typeface="Calibri" pitchFamily="34" charset="0"/>
                <a:ea typeface="Calibri" pitchFamily="34" charset="-122"/>
                <a:cs typeface="Calibri" pitchFamily="34" charset="-120"/>
              </a:rPr>
              <a:t>Paper A: </a:t>
            </a:r>
            <a:r>
              <a:rPr lang="en-US" sz="1200" dirty="0">
                <a:solidFill>
                  <a:srgbClr val="1E293B"/>
                </a:solidFill>
                <a:latin typeface="Calibri" pitchFamily="34" charset="0"/>
                <a:ea typeface="Calibri" pitchFamily="34" charset="-122"/>
                <a:cs typeface="Calibri" pitchFamily="34" charset="-120"/>
              </a:rPr>
              <a:t>English-only Amazon dataset may contain unlabeled fakes, machine-generated, human-generated patterns.
</a:t>
            </a:r>
            <a:r>
              <a:rPr lang="en-US" sz="1200" b="1" dirty="0">
                <a:solidFill>
                  <a:srgbClr val="1E293B"/>
                </a:solidFill>
                <a:latin typeface="Calibri" pitchFamily="34" charset="0"/>
                <a:ea typeface="Calibri" pitchFamily="34" charset="-122"/>
                <a:cs typeface="Calibri" pitchFamily="34" charset="-120"/>
              </a:rPr>
              <a:t>Paper B: </a:t>
            </a:r>
            <a:r>
              <a:rPr lang="en-US" sz="1200" dirty="0">
                <a:solidFill>
                  <a:srgbClr val="1E293B"/>
                </a:solidFill>
                <a:latin typeface="Calibri" pitchFamily="34" charset="0"/>
                <a:ea typeface="Calibri" pitchFamily="34" charset="-122"/>
                <a:cs typeface="Calibri" pitchFamily="34" charset="-120"/>
              </a:rPr>
              <a:t>Preprint (not peer reviewed), limited to Amazon only single credence type tested.
</a:t>
            </a:r>
            <a:r>
              <a:rPr lang="en-US" sz="1200" b="1" dirty="0">
                <a:solidFill>
                  <a:srgbClr val="1E293B"/>
                </a:solidFill>
                <a:latin typeface="Calibri" pitchFamily="34" charset="0"/>
                <a:ea typeface="Calibri" pitchFamily="34" charset="-122"/>
                <a:cs typeface="Calibri" pitchFamily="34" charset="-120"/>
              </a:rPr>
              <a:t>Both: </a:t>
            </a:r>
            <a:r>
              <a:rPr lang="en-US" sz="1200" dirty="0">
                <a:solidFill>
                  <a:srgbClr val="1E293B"/>
                </a:solidFill>
                <a:latin typeface="Calibri" pitchFamily="34" charset="0"/>
                <a:ea typeface="Calibri" pitchFamily="34" charset="-122"/>
                <a:cs typeface="Calibri" pitchFamily="34" charset="-120"/>
              </a:rPr>
              <a:t>Need multilingual datasets, cross-platform validation, and real-time detection systems.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Topic 2 — Dataset</a:t>
            </a:r>
            <a:endParaRPr lang="en-US" sz="1800" dirty="0"/>
          </a:p>
        </p:txBody>
      </p:sp>
      <p:sp>
        <p:nvSpPr>
          <p:cNvPr id="4" name="Shape 2"/>
          <p:cNvSpPr/>
          <p:nvPr/>
        </p:nvSpPr>
        <p:spPr>
          <a:xfrm>
            <a:off x="0" y="5079492"/>
            <a:ext cx="9144000" cy="64008"/>
          </a:xfrm>
          <a:prstGeom prst="rect">
            <a:avLst/>
          </a:prstGeom>
          <a:solidFill>
            <a:srgbClr val="7C3AED"/>
          </a:solidFill>
          <a:ln w="12700">
            <a:solidFill>
              <a:srgbClr val="7C3AED"/>
            </a:solidFill>
            <a:prstDash val="solid"/>
          </a:ln>
        </p:spPr>
      </p:sp>
      <p:sp>
        <p:nvSpPr>
          <p:cNvPr id="5" name="Shape 3"/>
          <p:cNvSpPr/>
          <p:nvPr/>
        </p:nvSpPr>
        <p:spPr>
          <a:xfrm>
            <a:off x="274320" y="777240"/>
            <a:ext cx="8531352"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77240"/>
            <a:ext cx="64008" cy="4160520"/>
          </a:xfrm>
          <a:prstGeom prst="rect">
            <a:avLst/>
          </a:prstGeom>
          <a:solidFill>
            <a:srgbClr val="7C3AED"/>
          </a:solidFill>
          <a:ln w="12700">
            <a:solidFill>
              <a:srgbClr val="7C3AED"/>
            </a:solidFill>
            <a:prstDash val="solid"/>
          </a:ln>
        </p:spPr>
      </p:sp>
      <p:sp>
        <p:nvSpPr>
          <p:cNvPr id="7" name="Shape 5"/>
          <p:cNvSpPr/>
          <p:nvPr/>
        </p:nvSpPr>
        <p:spPr>
          <a:xfrm>
            <a:off x="338328" y="804672"/>
            <a:ext cx="8467344" cy="256032"/>
          </a:xfrm>
          <a:prstGeom prst="rect">
            <a:avLst/>
          </a:prstGeom>
          <a:solidFill>
            <a:srgbClr val="7C3AED"/>
          </a:solidFill>
          <a:ln w="12700">
            <a:solidFill>
              <a:srgbClr val="7C3AED"/>
            </a:solidFill>
            <a:prstDash val="solid"/>
          </a:ln>
        </p:spPr>
      </p:sp>
      <p:sp>
        <p:nvSpPr>
          <p:cNvPr id="8" name="Text 6"/>
          <p:cNvSpPr/>
          <p:nvPr/>
        </p:nvSpPr>
        <p:spPr>
          <a:xfrm>
            <a:off x="338328" y="804672"/>
            <a:ext cx="3941064"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a:t>
            </a:r>
            <a:endParaRPr lang="en-US" sz="1400" dirty="0"/>
          </a:p>
        </p:txBody>
      </p:sp>
      <p:sp>
        <p:nvSpPr>
          <p:cNvPr id="9" name="Text 7"/>
          <p:cNvSpPr/>
          <p:nvPr/>
        </p:nvSpPr>
        <p:spPr>
          <a:xfrm>
            <a:off x="457200" y="1211931"/>
            <a:ext cx="8176846" cy="2641210"/>
          </a:xfrm>
          <a:prstGeom prst="rect">
            <a:avLst/>
          </a:prstGeom>
          <a:noFill/>
          <a:ln/>
        </p:spPr>
        <p:txBody>
          <a:bodyPr wrap="square" rtlCol="0" anchor="ctr"/>
          <a:lstStyle/>
          <a:p>
            <a:pPr marL="0" indent="0">
              <a:lnSpc>
                <a:spcPct val="130000"/>
              </a:lnSpc>
              <a:buNone/>
            </a:pPr>
            <a:r>
              <a:rPr lang="en-US" sz="2000" dirty="0">
                <a:hlinkClick r:id="rId3"/>
              </a:rPr>
              <a:t>https://nijianmo.github.io/amazon/index.html</a:t>
            </a:r>
            <a:endParaRPr lang="en-US" sz="2000" dirty="0"/>
          </a:p>
          <a:p>
            <a:pPr marL="0" indent="0">
              <a:lnSpc>
                <a:spcPct val="130000"/>
              </a:lnSpc>
              <a:buNone/>
            </a:pPr>
            <a:r>
              <a:rPr lang="en-US" sz="2000" dirty="0">
                <a:hlinkClick r:id="rId4"/>
              </a:rPr>
              <a:t>https://osf.io/tyue9/</a:t>
            </a:r>
            <a:endParaRPr lang="en-US" sz="2000" dirty="0"/>
          </a:p>
          <a:p>
            <a:pPr marL="0" indent="0">
              <a:lnSpc>
                <a:spcPct val="130000"/>
              </a:lnSpc>
              <a:buNone/>
            </a:pPr>
            <a:r>
              <a:rPr lang="en-US" sz="2000" dirty="0">
                <a:hlinkClick r:id="rId5"/>
              </a:rPr>
              <a:t>https://www.kaggle.com/lievgarcia/amazon-reviews</a:t>
            </a:r>
            <a:endParaRPr lang="en-US" sz="2000" dirty="0"/>
          </a:p>
          <a:p>
            <a:pPr marL="0" indent="0">
              <a:lnSpc>
                <a:spcPct val="130000"/>
              </a:lnSpc>
              <a:buNone/>
            </a:pPr>
            <a:endParaRPr lang="en-US" sz="2000" dirty="0"/>
          </a:p>
        </p:txBody>
      </p:sp>
    </p:spTree>
    <p:extLst>
      <p:ext uri="{BB962C8B-B14F-4D97-AF65-F5344CB8AC3E}">
        <p14:creationId xmlns:p14="http://schemas.microsoft.com/office/powerpoint/2010/main" val="3950089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Shape 1"/>
          <p:cNvSpPr/>
          <p:nvPr/>
        </p:nvSpPr>
        <p:spPr>
          <a:xfrm>
            <a:off x="0" y="5079492"/>
            <a:ext cx="9144000" cy="64008"/>
          </a:xfrm>
          <a:prstGeom prst="rect">
            <a:avLst/>
          </a:prstGeom>
          <a:solidFill>
            <a:srgbClr val="0D9488"/>
          </a:solidFill>
          <a:ln w="12700">
            <a:solidFill>
              <a:srgbClr val="0D9488"/>
            </a:solidFill>
            <a:prstDash val="solid"/>
          </a:ln>
        </p:spPr>
      </p:sp>
      <p:sp>
        <p:nvSpPr>
          <p:cNvPr id="4" name="Text 2"/>
          <p:cNvSpPr/>
          <p:nvPr/>
        </p:nvSpPr>
        <p:spPr>
          <a:xfrm>
            <a:off x="457200" y="1463040"/>
            <a:ext cx="8229600" cy="548640"/>
          </a:xfrm>
          <a:prstGeom prst="rect">
            <a:avLst/>
          </a:prstGeom>
          <a:noFill/>
          <a:ln/>
        </p:spPr>
        <p:txBody>
          <a:bodyPr wrap="square" rtlCol="0" anchor="ctr"/>
          <a:lstStyle/>
          <a:p>
            <a:pPr marL="0" indent="0" algn="ctr">
              <a:buNone/>
            </a:pPr>
            <a:r>
              <a:rPr lang="en-US" sz="4000" b="1" kern="0" spc="800" dirty="0">
                <a:solidFill>
                  <a:srgbClr val="0D9488"/>
                </a:solidFill>
                <a:latin typeface="Calibri" pitchFamily="34" charset="0"/>
                <a:ea typeface="Calibri" pitchFamily="34" charset="-122"/>
                <a:cs typeface="Calibri" pitchFamily="34" charset="-120"/>
              </a:rPr>
              <a:t>TOPIC 3</a:t>
            </a:r>
            <a:endParaRPr lang="en-US" sz="4000" dirty="0"/>
          </a:p>
        </p:txBody>
      </p:sp>
      <p:sp>
        <p:nvSpPr>
          <p:cNvPr id="5" name="Text 3"/>
          <p:cNvSpPr/>
          <p:nvPr/>
        </p:nvSpPr>
        <p:spPr>
          <a:xfrm>
            <a:off x="731520" y="2194560"/>
            <a:ext cx="7680960" cy="1097280"/>
          </a:xfrm>
          <a:prstGeom prst="rect">
            <a:avLst/>
          </a:prstGeom>
          <a:noFill/>
          <a:ln/>
        </p:spPr>
        <p:txBody>
          <a:bodyPr wrap="square" rtlCol="0" anchor="ctr"/>
          <a:lstStyle/>
          <a:p>
            <a:pPr marL="0" indent="0" algn="ctr">
              <a:buNone/>
            </a:pPr>
            <a:r>
              <a:rPr lang="en-US" sz="2200" i="1" dirty="0">
                <a:solidFill>
                  <a:srgbClr val="FFFFFF"/>
                </a:solidFill>
                <a:latin typeface="Calibri" pitchFamily="34" charset="0"/>
                <a:ea typeface="Calibri" pitchFamily="34" charset="-122"/>
                <a:cs typeface="Calibri" pitchFamily="34" charset="-120"/>
              </a:rPr>
              <a:t>AI-Powered Sentiment Analysis in Real-Time Brand Monitoring  &amp;  AI-Powered Digital Media Platform</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Topic 3 — Paper Overviews &amp; Research Problem</a:t>
            </a:r>
            <a:endParaRPr lang="en-US" sz="1800" dirty="0"/>
          </a:p>
        </p:txBody>
      </p:sp>
      <p:sp>
        <p:nvSpPr>
          <p:cNvPr id="4" name="Shape 2"/>
          <p:cNvSpPr/>
          <p:nvPr/>
        </p:nvSpPr>
        <p:spPr>
          <a:xfrm>
            <a:off x="0" y="5079492"/>
            <a:ext cx="9144000" cy="64008"/>
          </a:xfrm>
          <a:prstGeom prst="rect">
            <a:avLst/>
          </a:prstGeom>
          <a:solidFill>
            <a:srgbClr val="0D9488"/>
          </a:solidFill>
          <a:ln w="12700">
            <a:solidFill>
              <a:srgbClr val="0D9488"/>
            </a:solidFill>
            <a:prstDash val="solid"/>
          </a:ln>
        </p:spPr>
      </p:sp>
      <p:sp>
        <p:nvSpPr>
          <p:cNvPr id="5" name="Shape 3"/>
          <p:cNvSpPr/>
          <p:nvPr/>
        </p:nvSpPr>
        <p:spPr>
          <a:xfrm>
            <a:off x="274320" y="777240"/>
            <a:ext cx="4069080"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77240"/>
            <a:ext cx="64008" cy="4160520"/>
          </a:xfrm>
          <a:prstGeom prst="rect">
            <a:avLst/>
          </a:prstGeom>
          <a:solidFill>
            <a:srgbClr val="0D9488"/>
          </a:solidFill>
          <a:ln w="12700">
            <a:solidFill>
              <a:srgbClr val="0D9488"/>
            </a:solidFill>
            <a:prstDash val="solid"/>
          </a:ln>
        </p:spPr>
      </p:sp>
      <p:sp>
        <p:nvSpPr>
          <p:cNvPr id="7" name="Shape 5"/>
          <p:cNvSpPr/>
          <p:nvPr/>
        </p:nvSpPr>
        <p:spPr>
          <a:xfrm>
            <a:off x="338328" y="804672"/>
            <a:ext cx="3941064" cy="256032"/>
          </a:xfrm>
          <a:prstGeom prst="rect">
            <a:avLst/>
          </a:prstGeom>
          <a:solidFill>
            <a:srgbClr val="0D9488"/>
          </a:solidFill>
          <a:ln w="12700">
            <a:solidFill>
              <a:srgbClr val="0D9488"/>
            </a:solidFill>
            <a:prstDash val="solid"/>
          </a:ln>
        </p:spPr>
      </p:sp>
      <p:sp>
        <p:nvSpPr>
          <p:cNvPr id="8" name="Text 6"/>
          <p:cNvSpPr/>
          <p:nvPr/>
        </p:nvSpPr>
        <p:spPr>
          <a:xfrm>
            <a:off x="338328" y="80467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PAPER A — Mannaru (2025)</a:t>
            </a:r>
            <a:endParaRPr lang="en-US" sz="1000" dirty="0"/>
          </a:p>
        </p:txBody>
      </p:sp>
      <p:sp>
        <p:nvSpPr>
          <p:cNvPr id="9" name="Text 7"/>
          <p:cNvSpPr/>
          <p:nvPr/>
        </p:nvSpPr>
        <p:spPr>
          <a:xfrm>
            <a:off x="411480" y="1143000"/>
            <a:ext cx="3840480" cy="3703320"/>
          </a:xfrm>
          <a:prstGeom prst="rect">
            <a:avLst/>
          </a:prstGeom>
          <a:noFill/>
          <a:ln/>
        </p:spPr>
        <p:txBody>
          <a:bodyPr wrap="square" rtlCol="0" anchor="ctr"/>
          <a:lstStyle/>
          <a:p>
            <a:pPr marL="0" indent="0">
              <a:lnSpc>
                <a:spcPct val="130000"/>
              </a:lnSpc>
              <a:buNone/>
            </a:pPr>
            <a:r>
              <a:rPr lang="en-US" sz="1200" b="1" dirty="0">
                <a:solidFill>
                  <a:srgbClr val="1E293B"/>
                </a:solidFill>
                <a:latin typeface="Calibri" pitchFamily="34" charset="0"/>
                <a:ea typeface="Calibri" pitchFamily="34" charset="-122"/>
                <a:cs typeface="Calibri" pitchFamily="34" charset="-120"/>
              </a:rPr>
              <a:t>Journal: </a:t>
            </a:r>
            <a:r>
              <a:rPr lang="en-US" sz="1200" dirty="0">
                <a:solidFill>
                  <a:srgbClr val="1E293B"/>
                </a:solidFill>
                <a:latin typeface="Calibri" pitchFamily="34" charset="0"/>
                <a:ea typeface="Calibri" pitchFamily="34" charset="-122"/>
                <a:cs typeface="Calibri" pitchFamily="34" charset="-120"/>
              </a:rPr>
              <a:t>IJIRP, Vol. 1, Issue 9, Dec 2025, pp. 1-11, ISSN: 3107-5037
</a:t>
            </a:r>
            <a:r>
              <a:rPr lang="en-US" sz="1200" b="1" dirty="0">
                <a:solidFill>
                  <a:srgbClr val="1E293B"/>
                </a:solidFill>
                <a:latin typeface="Calibri" pitchFamily="34" charset="0"/>
                <a:ea typeface="Calibri" pitchFamily="34" charset="-122"/>
                <a:cs typeface="Calibri" pitchFamily="34" charset="-120"/>
              </a:rPr>
              <a:t>Problem: </a:t>
            </a:r>
            <a:r>
              <a:rPr lang="en-US" sz="1200" dirty="0">
                <a:solidFill>
                  <a:srgbClr val="1E293B"/>
                </a:solidFill>
                <a:latin typeface="Calibri" pitchFamily="34" charset="0"/>
                <a:ea typeface="Calibri" pitchFamily="34" charset="-122"/>
                <a:cs typeface="Calibri" pitchFamily="34" charset="-120"/>
              </a:rPr>
              <a:t>Traditional brand monitoring (surveys, periodic reports) cannot keep pace with real-time, high-volume social media content missing sentiment shifts and brand crises.
</a:t>
            </a:r>
            <a:r>
              <a:rPr lang="en-US" sz="1200" b="1" dirty="0">
                <a:solidFill>
                  <a:srgbClr val="1E293B"/>
                </a:solidFill>
                <a:latin typeface="Calibri" pitchFamily="34" charset="0"/>
                <a:ea typeface="Calibri" pitchFamily="34" charset="-122"/>
                <a:cs typeface="Calibri" pitchFamily="34" charset="-120"/>
              </a:rPr>
              <a:t>What: </a:t>
            </a:r>
            <a:r>
              <a:rPr lang="en-US" sz="1200" dirty="0">
                <a:solidFill>
                  <a:srgbClr val="1E293B"/>
                </a:solidFill>
                <a:latin typeface="Calibri" pitchFamily="34" charset="0"/>
                <a:ea typeface="Calibri" pitchFamily="34" charset="-122"/>
                <a:cs typeface="Calibri" pitchFamily="34" charset="-120"/>
              </a:rPr>
              <a:t>Build an AI model for real-time brand sentiment monitoring across Twitter, Facebook, Instagram, and online reviews.
</a:t>
            </a:r>
            <a:r>
              <a:rPr lang="en-US" sz="1200" b="1" dirty="0">
                <a:solidFill>
                  <a:srgbClr val="1E293B"/>
                </a:solidFill>
                <a:latin typeface="Calibri" pitchFamily="34" charset="0"/>
                <a:ea typeface="Calibri" pitchFamily="34" charset="-122"/>
                <a:cs typeface="Calibri" pitchFamily="34" charset="-120"/>
              </a:rPr>
              <a:t>Why: </a:t>
            </a:r>
            <a:r>
              <a:rPr lang="en-US" sz="1200" dirty="0">
                <a:solidFill>
                  <a:srgbClr val="1E293B"/>
                </a:solidFill>
                <a:latin typeface="Calibri" pitchFamily="34" charset="0"/>
                <a:ea typeface="Calibri" pitchFamily="34" charset="-122"/>
                <a:cs typeface="Calibri" pitchFamily="34" charset="-120"/>
              </a:rPr>
              <a:t>Brands need instant sentiment intelligence for proactive crisis management, marketing optimization, and reputation tracking.
</a:t>
            </a:r>
            <a:r>
              <a:rPr lang="en-US" sz="1200" b="1" dirty="0">
                <a:solidFill>
                  <a:srgbClr val="1E293B"/>
                </a:solidFill>
                <a:latin typeface="Calibri" pitchFamily="34" charset="0"/>
                <a:ea typeface="Calibri" pitchFamily="34" charset="-122"/>
                <a:cs typeface="Calibri" pitchFamily="34" charset="-120"/>
              </a:rPr>
              <a:t>How: </a:t>
            </a:r>
            <a:r>
              <a:rPr lang="en-US" sz="1200" u="sng" dirty="0">
                <a:solidFill>
                  <a:srgbClr val="1E293B"/>
                </a:solidFill>
                <a:latin typeface="Calibri" pitchFamily="34" charset="0"/>
                <a:ea typeface="Calibri" pitchFamily="34" charset="-122"/>
                <a:cs typeface="Calibri" pitchFamily="34" charset="-120"/>
              </a:rPr>
              <a:t>30-day monitoring of 3 brands. 48,562 posts via web scraping &amp; streaming APIs, manually labeled training set, evaluated on 5,000 annotated samples.</a:t>
            </a:r>
            <a:endParaRPr lang="en-US" sz="1200" u="sng" dirty="0"/>
          </a:p>
        </p:txBody>
      </p:sp>
      <p:sp>
        <p:nvSpPr>
          <p:cNvPr id="10" name="Shape 8"/>
          <p:cNvSpPr/>
          <p:nvPr/>
        </p:nvSpPr>
        <p:spPr>
          <a:xfrm>
            <a:off x="4709160" y="777240"/>
            <a:ext cx="4069080"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709160" y="777240"/>
            <a:ext cx="64008" cy="4160520"/>
          </a:xfrm>
          <a:prstGeom prst="rect">
            <a:avLst/>
          </a:prstGeom>
          <a:solidFill>
            <a:srgbClr val="0D9488"/>
          </a:solidFill>
          <a:ln w="12700">
            <a:solidFill>
              <a:srgbClr val="0D9488"/>
            </a:solidFill>
            <a:prstDash val="solid"/>
          </a:ln>
        </p:spPr>
      </p:sp>
      <p:sp>
        <p:nvSpPr>
          <p:cNvPr id="12" name="Shape 10"/>
          <p:cNvSpPr/>
          <p:nvPr/>
        </p:nvSpPr>
        <p:spPr>
          <a:xfrm>
            <a:off x="4773168" y="804672"/>
            <a:ext cx="3941064" cy="256032"/>
          </a:xfrm>
          <a:prstGeom prst="rect">
            <a:avLst/>
          </a:prstGeom>
          <a:solidFill>
            <a:srgbClr val="0D9488"/>
          </a:solidFill>
          <a:ln w="12700">
            <a:solidFill>
              <a:srgbClr val="0D9488"/>
            </a:solidFill>
            <a:prstDash val="solid"/>
          </a:ln>
        </p:spPr>
      </p:sp>
      <p:sp>
        <p:nvSpPr>
          <p:cNvPr id="13" name="Text 11"/>
          <p:cNvSpPr/>
          <p:nvPr/>
        </p:nvSpPr>
        <p:spPr>
          <a:xfrm>
            <a:off x="4773168" y="80467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PAPER B — Liang (2020) · ACM CAIH2020</a:t>
            </a:r>
            <a:endParaRPr lang="en-US" sz="1000" dirty="0"/>
          </a:p>
        </p:txBody>
      </p:sp>
      <p:sp>
        <p:nvSpPr>
          <p:cNvPr id="14" name="Text 12"/>
          <p:cNvSpPr/>
          <p:nvPr/>
        </p:nvSpPr>
        <p:spPr>
          <a:xfrm>
            <a:off x="4846320" y="1143000"/>
            <a:ext cx="3840480" cy="3703320"/>
          </a:xfrm>
          <a:prstGeom prst="rect">
            <a:avLst/>
          </a:prstGeom>
          <a:noFill/>
          <a:ln/>
        </p:spPr>
        <p:txBody>
          <a:bodyPr wrap="square" rtlCol="0" anchor="ctr"/>
          <a:lstStyle/>
          <a:p>
            <a:pPr marL="0" indent="0">
              <a:lnSpc>
                <a:spcPct val="130000"/>
              </a:lnSpc>
              <a:buNone/>
            </a:pPr>
            <a:r>
              <a:rPr lang="en-US" sz="1200" b="1" dirty="0">
                <a:solidFill>
                  <a:srgbClr val="1E293B"/>
                </a:solidFill>
                <a:latin typeface="Calibri" pitchFamily="34" charset="0"/>
                <a:ea typeface="Calibri" pitchFamily="34" charset="-122"/>
                <a:cs typeface="Calibri" pitchFamily="34" charset="-120"/>
              </a:rPr>
              <a:t>DOI: </a:t>
            </a:r>
            <a:r>
              <a:rPr lang="en-US" sz="1200" dirty="0">
                <a:solidFill>
                  <a:srgbClr val="1E293B"/>
                </a:solidFill>
                <a:latin typeface="Calibri" pitchFamily="34" charset="0"/>
                <a:ea typeface="Calibri" pitchFamily="34" charset="-122"/>
                <a:cs typeface="Calibri" pitchFamily="34" charset="-120"/>
              </a:rPr>
              <a:t>10.1145/3433996.3434018
</a:t>
            </a:r>
            <a:r>
              <a:rPr lang="en-US" sz="1200" b="1" dirty="0">
                <a:solidFill>
                  <a:srgbClr val="1E293B"/>
                </a:solidFill>
                <a:latin typeface="Calibri" pitchFamily="34" charset="0"/>
                <a:ea typeface="Calibri" pitchFamily="34" charset="-122"/>
                <a:cs typeface="Calibri" pitchFamily="34" charset="-120"/>
              </a:rPr>
              <a:t>Problem: </a:t>
            </a:r>
            <a:r>
              <a:rPr lang="en-US" sz="1200" dirty="0">
                <a:solidFill>
                  <a:srgbClr val="1E293B"/>
                </a:solidFill>
                <a:latin typeface="Calibri" pitchFamily="34" charset="0"/>
                <a:ea typeface="Calibri" pitchFamily="34" charset="-122"/>
                <a:cs typeface="Calibri" pitchFamily="34" charset="-120"/>
              </a:rPr>
              <a:t>Digital media creation (animation, content production) was entirely human-intensive, limiting scale, creativity automation, and interactive user experiences.
</a:t>
            </a:r>
            <a:r>
              <a:rPr lang="en-US" sz="1200" b="1" dirty="0">
                <a:solidFill>
                  <a:srgbClr val="1E293B"/>
                </a:solidFill>
                <a:latin typeface="Calibri" pitchFamily="34" charset="0"/>
                <a:ea typeface="Calibri" pitchFamily="34" charset="-122"/>
                <a:cs typeface="Calibri" pitchFamily="34" charset="-120"/>
              </a:rPr>
              <a:t>What: </a:t>
            </a:r>
            <a:r>
              <a:rPr lang="en-US" sz="1200" dirty="0">
                <a:solidFill>
                  <a:srgbClr val="1E293B"/>
                </a:solidFill>
                <a:latin typeface="Calibri" pitchFamily="34" charset="0"/>
                <a:ea typeface="Calibri" pitchFamily="34" charset="-122"/>
                <a:cs typeface="Calibri" pitchFamily="34" charset="-120"/>
              </a:rPr>
              <a:t>Design a feasibility-proven AI-powered digital media platform supporting VR displays, biometric authentication, and AI-driven content generation.
</a:t>
            </a:r>
            <a:r>
              <a:rPr lang="en-US" sz="1200" b="1" dirty="0">
                <a:solidFill>
                  <a:srgbClr val="1E293B"/>
                </a:solidFill>
                <a:latin typeface="Calibri" pitchFamily="34" charset="0"/>
                <a:ea typeface="Calibri" pitchFamily="34" charset="-122"/>
                <a:cs typeface="Calibri" pitchFamily="34" charset="-120"/>
              </a:rPr>
              <a:t>Why: </a:t>
            </a:r>
            <a:r>
              <a:rPr lang="en-US" sz="1200" dirty="0">
                <a:solidFill>
                  <a:srgbClr val="1E293B"/>
                </a:solidFill>
                <a:latin typeface="Calibri" pitchFamily="34" charset="0"/>
                <a:ea typeface="Calibri" pitchFamily="34" charset="-122"/>
                <a:cs typeface="Calibri" pitchFamily="34" charset="-120"/>
              </a:rPr>
              <a:t>AI can reduce human workload, enable creative automation at scale, and enable immersive education, healthcare, and cultural heritage applications.
</a:t>
            </a:r>
            <a:r>
              <a:rPr lang="en-US" sz="1200" b="1" dirty="0">
                <a:solidFill>
                  <a:srgbClr val="1E293B"/>
                </a:solidFill>
                <a:latin typeface="Calibri" pitchFamily="34" charset="0"/>
                <a:ea typeface="Calibri" pitchFamily="34" charset="-122"/>
                <a:cs typeface="Calibri" pitchFamily="34" charset="-120"/>
              </a:rPr>
              <a:t>How: </a:t>
            </a:r>
            <a:r>
              <a:rPr lang="en-US" sz="1200" u="sng" dirty="0">
                <a:solidFill>
                  <a:srgbClr val="1E293B"/>
                </a:solidFill>
                <a:latin typeface="Calibri" pitchFamily="34" charset="0"/>
                <a:ea typeface="Calibri" pitchFamily="34" charset="-122"/>
                <a:cs typeface="Calibri" pitchFamily="34" charset="-120"/>
              </a:rPr>
              <a:t>Conceptual 3-module architecture (GUI + biometrics, AI backend, content DB). Validated via literature review of VR, iris recognition, lip-reading, photo repair, and relational reasoning technologies.</a:t>
            </a:r>
            <a:endParaRPr lang="en-US" sz="1200" u="sng"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Topic 3 — Results, Findings &amp; Limitations</a:t>
            </a:r>
            <a:endParaRPr lang="en-US" sz="1800" dirty="0"/>
          </a:p>
        </p:txBody>
      </p:sp>
      <p:sp>
        <p:nvSpPr>
          <p:cNvPr id="4" name="Shape 2"/>
          <p:cNvSpPr/>
          <p:nvPr/>
        </p:nvSpPr>
        <p:spPr>
          <a:xfrm>
            <a:off x="0" y="5079492"/>
            <a:ext cx="9144000" cy="64008"/>
          </a:xfrm>
          <a:prstGeom prst="rect">
            <a:avLst/>
          </a:prstGeom>
          <a:solidFill>
            <a:srgbClr val="0D9488"/>
          </a:solidFill>
          <a:ln w="12700">
            <a:solidFill>
              <a:srgbClr val="0D9488"/>
            </a:solidFill>
            <a:prstDash val="solid"/>
          </a:ln>
        </p:spPr>
      </p:sp>
      <p:sp>
        <p:nvSpPr>
          <p:cNvPr id="5" name="Shape 3"/>
          <p:cNvSpPr/>
          <p:nvPr/>
        </p:nvSpPr>
        <p:spPr>
          <a:xfrm>
            <a:off x="274320" y="777240"/>
            <a:ext cx="406908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77240"/>
            <a:ext cx="64008" cy="2011680"/>
          </a:xfrm>
          <a:prstGeom prst="rect">
            <a:avLst/>
          </a:prstGeom>
          <a:solidFill>
            <a:srgbClr val="0D9488"/>
          </a:solidFill>
          <a:ln w="12700">
            <a:solidFill>
              <a:srgbClr val="0D9488"/>
            </a:solidFill>
            <a:prstDash val="solid"/>
          </a:ln>
        </p:spPr>
      </p:sp>
      <p:sp>
        <p:nvSpPr>
          <p:cNvPr id="7" name="Shape 5"/>
          <p:cNvSpPr/>
          <p:nvPr/>
        </p:nvSpPr>
        <p:spPr>
          <a:xfrm>
            <a:off x="338328" y="804672"/>
            <a:ext cx="3941064" cy="256032"/>
          </a:xfrm>
          <a:prstGeom prst="rect">
            <a:avLst/>
          </a:prstGeom>
          <a:solidFill>
            <a:srgbClr val="0D9488"/>
          </a:solidFill>
          <a:ln w="12700">
            <a:solidFill>
              <a:srgbClr val="0D9488"/>
            </a:solidFill>
            <a:prstDash val="solid"/>
          </a:ln>
        </p:spPr>
      </p:sp>
      <p:sp>
        <p:nvSpPr>
          <p:cNvPr id="8" name="Text 6"/>
          <p:cNvSpPr/>
          <p:nvPr/>
        </p:nvSpPr>
        <p:spPr>
          <a:xfrm>
            <a:off x="338328" y="80467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PAPER A — SENTIMENT RESULTS</a:t>
            </a:r>
            <a:endParaRPr lang="en-US" sz="1000" dirty="0"/>
          </a:p>
        </p:txBody>
      </p:sp>
      <p:sp>
        <p:nvSpPr>
          <p:cNvPr id="9" name="Shape 7"/>
          <p:cNvSpPr/>
          <p:nvPr/>
        </p:nvSpPr>
        <p:spPr>
          <a:xfrm>
            <a:off x="365760" y="1115568"/>
            <a:ext cx="1783080" cy="658368"/>
          </a:xfrm>
          <a:prstGeom prst="rect">
            <a:avLst/>
          </a:prstGeom>
          <a:solidFill>
            <a:srgbClr val="F0FDFA"/>
          </a:solidFill>
          <a:ln w="12700">
            <a:solidFill>
              <a:srgbClr val="99F6E4"/>
            </a:solidFill>
            <a:prstDash val="solid"/>
          </a:ln>
        </p:spPr>
      </p:sp>
      <p:sp>
        <p:nvSpPr>
          <p:cNvPr id="10" name="Text 8"/>
          <p:cNvSpPr/>
          <p:nvPr/>
        </p:nvSpPr>
        <p:spPr>
          <a:xfrm>
            <a:off x="365760" y="1133856"/>
            <a:ext cx="1783080" cy="347472"/>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91.4%</a:t>
            </a:r>
            <a:endParaRPr lang="en-US" sz="2200" dirty="0"/>
          </a:p>
        </p:txBody>
      </p:sp>
      <p:sp>
        <p:nvSpPr>
          <p:cNvPr id="11" name="Text 9"/>
          <p:cNvSpPr/>
          <p:nvPr/>
        </p:nvSpPr>
        <p:spPr>
          <a:xfrm>
            <a:off x="365760" y="1481328"/>
            <a:ext cx="178308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Overall Accuracy</a:t>
            </a:r>
            <a:endParaRPr lang="en-US" sz="900" dirty="0"/>
          </a:p>
        </p:txBody>
      </p:sp>
      <p:sp>
        <p:nvSpPr>
          <p:cNvPr id="12" name="Shape 10"/>
          <p:cNvSpPr/>
          <p:nvPr/>
        </p:nvSpPr>
        <p:spPr>
          <a:xfrm>
            <a:off x="2377440" y="1115568"/>
            <a:ext cx="1783080" cy="658368"/>
          </a:xfrm>
          <a:prstGeom prst="rect">
            <a:avLst/>
          </a:prstGeom>
          <a:solidFill>
            <a:srgbClr val="F0FDFA"/>
          </a:solidFill>
          <a:ln w="12700">
            <a:solidFill>
              <a:srgbClr val="99F6E4"/>
            </a:solidFill>
            <a:prstDash val="solid"/>
          </a:ln>
        </p:spPr>
      </p:sp>
      <p:sp>
        <p:nvSpPr>
          <p:cNvPr id="13" name="Text 11"/>
          <p:cNvSpPr/>
          <p:nvPr/>
        </p:nvSpPr>
        <p:spPr>
          <a:xfrm>
            <a:off x="2377440" y="1133856"/>
            <a:ext cx="1783080" cy="347472"/>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92.1%</a:t>
            </a:r>
            <a:endParaRPr lang="en-US" sz="2200" dirty="0"/>
          </a:p>
        </p:txBody>
      </p:sp>
      <p:sp>
        <p:nvSpPr>
          <p:cNvPr id="14" name="Text 12"/>
          <p:cNvSpPr/>
          <p:nvPr/>
        </p:nvSpPr>
        <p:spPr>
          <a:xfrm>
            <a:off x="2377440" y="1481328"/>
            <a:ext cx="178308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Positive Precision</a:t>
            </a:r>
            <a:endParaRPr lang="en-US" sz="900" dirty="0"/>
          </a:p>
        </p:txBody>
      </p:sp>
      <p:sp>
        <p:nvSpPr>
          <p:cNvPr id="15" name="Shape 13"/>
          <p:cNvSpPr/>
          <p:nvPr/>
        </p:nvSpPr>
        <p:spPr>
          <a:xfrm>
            <a:off x="365760" y="1938528"/>
            <a:ext cx="1783080" cy="658368"/>
          </a:xfrm>
          <a:prstGeom prst="rect">
            <a:avLst/>
          </a:prstGeom>
          <a:solidFill>
            <a:srgbClr val="F0FDFA"/>
          </a:solidFill>
          <a:ln w="12700">
            <a:solidFill>
              <a:srgbClr val="99F6E4"/>
            </a:solidFill>
            <a:prstDash val="solid"/>
          </a:ln>
        </p:spPr>
      </p:sp>
      <p:sp>
        <p:nvSpPr>
          <p:cNvPr id="16" name="Text 14"/>
          <p:cNvSpPr/>
          <p:nvPr/>
        </p:nvSpPr>
        <p:spPr>
          <a:xfrm>
            <a:off x="365760" y="1956816"/>
            <a:ext cx="1783080" cy="347472"/>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57.3%</a:t>
            </a:r>
            <a:endParaRPr lang="en-US" sz="2200" dirty="0"/>
          </a:p>
        </p:txBody>
      </p:sp>
      <p:sp>
        <p:nvSpPr>
          <p:cNvPr id="17" name="Text 15"/>
          <p:cNvSpPr/>
          <p:nvPr/>
        </p:nvSpPr>
        <p:spPr>
          <a:xfrm>
            <a:off x="365760" y="2304288"/>
            <a:ext cx="178308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Instagram Positivity</a:t>
            </a:r>
            <a:endParaRPr lang="en-US" sz="900" dirty="0"/>
          </a:p>
        </p:txBody>
      </p:sp>
      <p:sp>
        <p:nvSpPr>
          <p:cNvPr id="18" name="Shape 16"/>
          <p:cNvSpPr/>
          <p:nvPr/>
        </p:nvSpPr>
        <p:spPr>
          <a:xfrm>
            <a:off x="2377440" y="1938528"/>
            <a:ext cx="1783080" cy="658368"/>
          </a:xfrm>
          <a:prstGeom prst="rect">
            <a:avLst/>
          </a:prstGeom>
          <a:solidFill>
            <a:srgbClr val="F0FDFA"/>
          </a:solidFill>
          <a:ln w="12700">
            <a:solidFill>
              <a:srgbClr val="99F6E4"/>
            </a:solidFill>
            <a:prstDash val="solid"/>
          </a:ln>
        </p:spPr>
      </p:sp>
      <p:sp>
        <p:nvSpPr>
          <p:cNvPr id="19" name="Text 17"/>
          <p:cNvSpPr/>
          <p:nvPr/>
        </p:nvSpPr>
        <p:spPr>
          <a:xfrm>
            <a:off x="2377440" y="1956816"/>
            <a:ext cx="1783080" cy="347472"/>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48K+</a:t>
            </a:r>
            <a:endParaRPr lang="en-US" sz="2200" dirty="0"/>
          </a:p>
        </p:txBody>
      </p:sp>
      <p:sp>
        <p:nvSpPr>
          <p:cNvPr id="20" name="Text 18"/>
          <p:cNvSpPr/>
          <p:nvPr/>
        </p:nvSpPr>
        <p:spPr>
          <a:xfrm>
            <a:off x="2377440" y="2304288"/>
            <a:ext cx="1783080"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Posts Analyzed</a:t>
            </a:r>
            <a:endParaRPr lang="en-US" sz="900" dirty="0"/>
          </a:p>
        </p:txBody>
      </p:sp>
      <p:sp>
        <p:nvSpPr>
          <p:cNvPr id="21" name="Shape 19"/>
          <p:cNvSpPr/>
          <p:nvPr/>
        </p:nvSpPr>
        <p:spPr>
          <a:xfrm>
            <a:off x="4709160" y="777240"/>
            <a:ext cx="406908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2" name="Shape 20"/>
          <p:cNvSpPr/>
          <p:nvPr/>
        </p:nvSpPr>
        <p:spPr>
          <a:xfrm>
            <a:off x="4709160" y="777240"/>
            <a:ext cx="64008" cy="2011680"/>
          </a:xfrm>
          <a:prstGeom prst="rect">
            <a:avLst/>
          </a:prstGeom>
          <a:solidFill>
            <a:srgbClr val="0D9488"/>
          </a:solidFill>
          <a:ln w="12700">
            <a:solidFill>
              <a:srgbClr val="0D9488"/>
            </a:solidFill>
            <a:prstDash val="solid"/>
          </a:ln>
        </p:spPr>
      </p:sp>
      <p:sp>
        <p:nvSpPr>
          <p:cNvPr id="23" name="Shape 21"/>
          <p:cNvSpPr/>
          <p:nvPr/>
        </p:nvSpPr>
        <p:spPr>
          <a:xfrm>
            <a:off x="4773168" y="804672"/>
            <a:ext cx="3941064" cy="256032"/>
          </a:xfrm>
          <a:prstGeom prst="rect">
            <a:avLst/>
          </a:prstGeom>
          <a:solidFill>
            <a:srgbClr val="0D9488"/>
          </a:solidFill>
          <a:ln w="12700">
            <a:solidFill>
              <a:srgbClr val="0D9488"/>
            </a:solidFill>
            <a:prstDash val="solid"/>
          </a:ln>
        </p:spPr>
      </p:sp>
      <p:sp>
        <p:nvSpPr>
          <p:cNvPr id="24" name="Text 22"/>
          <p:cNvSpPr/>
          <p:nvPr/>
        </p:nvSpPr>
        <p:spPr>
          <a:xfrm>
            <a:off x="4773168" y="80467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PAPER B — PLATFORM APPLICATIONS</a:t>
            </a:r>
            <a:endParaRPr lang="en-US" sz="1000" dirty="0"/>
          </a:p>
        </p:txBody>
      </p:sp>
      <p:sp>
        <p:nvSpPr>
          <p:cNvPr id="25" name="Text 23"/>
          <p:cNvSpPr/>
          <p:nvPr/>
        </p:nvSpPr>
        <p:spPr>
          <a:xfrm>
            <a:off x="4846320" y="1143000"/>
            <a:ext cx="3840480" cy="1572768"/>
          </a:xfrm>
          <a:prstGeom prst="rect">
            <a:avLst/>
          </a:prstGeom>
          <a:noFill/>
          <a:ln/>
        </p:spPr>
        <p:txBody>
          <a:bodyPr wrap="square" rtlCol="0" anchor="ctr"/>
          <a:lstStyle/>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Education: virtual global classrooms &amp; real-time translation</a:t>
            </a:r>
            <a:endParaRPr lang="en-US" sz="1100" dirty="0"/>
          </a:p>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Companion: AI tutoring &amp; emotional intelligence</a:t>
            </a:r>
            <a:endParaRPr lang="en-US" sz="1100" dirty="0"/>
          </a:p>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Healthcare: elderly monitoring &amp; health tracking</a:t>
            </a:r>
            <a:endParaRPr lang="en-US" sz="1100" dirty="0"/>
          </a:p>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Cultural Heritage: museum VR restoration</a:t>
            </a:r>
            <a:endParaRPr lang="en-US" sz="1100" dirty="0"/>
          </a:p>
          <a:p>
            <a:pPr marL="0" indent="0">
              <a:lnSpc>
                <a:spcPct val="140000"/>
              </a:lnSpc>
              <a:buNone/>
            </a:pPr>
            <a:r>
              <a:rPr lang="en-US" sz="1100" dirty="0">
                <a:solidFill>
                  <a:srgbClr val="1E293B"/>
                </a:solidFill>
                <a:latin typeface="Calibri" pitchFamily="34" charset="0"/>
                <a:ea typeface="Calibri" pitchFamily="34" charset="-122"/>
                <a:cs typeface="Calibri" pitchFamily="34" charset="-120"/>
              </a:rPr>
              <a:t>Public Welfare: facial recognition for missing persons</a:t>
            </a:r>
            <a:endParaRPr lang="en-US" sz="1100" dirty="0"/>
          </a:p>
        </p:txBody>
      </p:sp>
      <p:sp>
        <p:nvSpPr>
          <p:cNvPr id="26" name="Shape 24"/>
          <p:cNvSpPr/>
          <p:nvPr/>
        </p:nvSpPr>
        <p:spPr>
          <a:xfrm>
            <a:off x="274320" y="2880360"/>
            <a:ext cx="406908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7" name="Shape 25"/>
          <p:cNvSpPr/>
          <p:nvPr/>
        </p:nvSpPr>
        <p:spPr>
          <a:xfrm>
            <a:off x="274320" y="2880360"/>
            <a:ext cx="64008" cy="2011680"/>
          </a:xfrm>
          <a:prstGeom prst="rect">
            <a:avLst/>
          </a:prstGeom>
          <a:solidFill>
            <a:srgbClr val="0D9488"/>
          </a:solidFill>
          <a:ln w="12700">
            <a:solidFill>
              <a:srgbClr val="0D9488"/>
            </a:solidFill>
            <a:prstDash val="solid"/>
          </a:ln>
        </p:spPr>
      </p:sp>
      <p:sp>
        <p:nvSpPr>
          <p:cNvPr id="28" name="Shape 26"/>
          <p:cNvSpPr/>
          <p:nvPr/>
        </p:nvSpPr>
        <p:spPr>
          <a:xfrm>
            <a:off x="338328" y="2907792"/>
            <a:ext cx="3941064" cy="256032"/>
          </a:xfrm>
          <a:prstGeom prst="rect">
            <a:avLst/>
          </a:prstGeom>
          <a:solidFill>
            <a:srgbClr val="0D9488"/>
          </a:solidFill>
          <a:ln w="12700">
            <a:solidFill>
              <a:srgbClr val="0D9488"/>
            </a:solidFill>
            <a:prstDash val="solid"/>
          </a:ln>
        </p:spPr>
      </p:sp>
      <p:sp>
        <p:nvSpPr>
          <p:cNvPr id="29" name="Text 27"/>
          <p:cNvSpPr/>
          <p:nvPr/>
        </p:nvSpPr>
        <p:spPr>
          <a:xfrm>
            <a:off x="338328" y="290779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WHAT THEY SOLVED</a:t>
            </a:r>
            <a:endParaRPr lang="en-US" sz="1000" dirty="0"/>
          </a:p>
        </p:txBody>
      </p:sp>
      <p:sp>
        <p:nvSpPr>
          <p:cNvPr id="30" name="Text 28"/>
          <p:cNvSpPr/>
          <p:nvPr/>
        </p:nvSpPr>
        <p:spPr>
          <a:xfrm>
            <a:off x="411480" y="3218688"/>
            <a:ext cx="3840480" cy="1572768"/>
          </a:xfrm>
          <a:prstGeom prst="rect">
            <a:avLst/>
          </a:prstGeom>
          <a:noFill/>
          <a:ln/>
        </p:spPr>
        <p:txBody>
          <a:bodyPr wrap="square" rtlCol="0" anchor="ctr"/>
          <a:lstStyle/>
          <a:p>
            <a:pPr marL="0" indent="0">
              <a:lnSpc>
                <a:spcPct val="130000"/>
              </a:lnSpc>
              <a:buNone/>
            </a:pPr>
            <a:r>
              <a:rPr lang="en-US" sz="1050" b="1" dirty="0">
                <a:solidFill>
                  <a:srgbClr val="1E293B"/>
                </a:solidFill>
                <a:latin typeface="Calibri" pitchFamily="34" charset="0"/>
                <a:ea typeface="Calibri" pitchFamily="34" charset="-122"/>
                <a:cs typeface="Calibri" pitchFamily="34" charset="-120"/>
              </a:rPr>
              <a:t>Paper A: </a:t>
            </a:r>
            <a:r>
              <a:rPr lang="en-US" sz="1050" dirty="0">
                <a:solidFill>
                  <a:srgbClr val="1E293B"/>
                </a:solidFill>
                <a:latin typeface="Calibri" pitchFamily="34" charset="0"/>
                <a:ea typeface="Calibri" pitchFamily="34" charset="-122"/>
                <a:cs typeface="Calibri" pitchFamily="34" charset="-120"/>
              </a:rPr>
              <a:t>Demonstrated that AI can monitor brand sentiment in real-time with &gt;91% accuracy across major platforms. Detected product launches, influencer surges, and viral complaints automatically.
</a:t>
            </a:r>
            <a:r>
              <a:rPr lang="en-US" sz="1050" b="1" dirty="0">
                <a:solidFill>
                  <a:srgbClr val="1E293B"/>
                </a:solidFill>
                <a:latin typeface="Calibri" pitchFamily="34" charset="0"/>
                <a:ea typeface="Calibri" pitchFamily="34" charset="-122"/>
                <a:cs typeface="Calibri" pitchFamily="34" charset="-120"/>
              </a:rPr>
              <a:t>Paper B: </a:t>
            </a:r>
            <a:r>
              <a:rPr lang="en-US" sz="1050" dirty="0">
                <a:solidFill>
                  <a:srgbClr val="1E293B"/>
                </a:solidFill>
                <a:latin typeface="Calibri" pitchFamily="34" charset="0"/>
                <a:ea typeface="Calibri" pitchFamily="34" charset="-122"/>
                <a:cs typeface="Calibri" pitchFamily="34" charset="-120"/>
              </a:rPr>
              <a:t>Confirmed feasibility of a unified AI media platform with biometric access control, AI content generation, and multi-domain VR applications.</a:t>
            </a:r>
            <a:endParaRPr lang="en-US" sz="1050" dirty="0"/>
          </a:p>
        </p:txBody>
      </p:sp>
      <p:sp>
        <p:nvSpPr>
          <p:cNvPr id="31" name="Shape 29"/>
          <p:cNvSpPr/>
          <p:nvPr/>
        </p:nvSpPr>
        <p:spPr>
          <a:xfrm>
            <a:off x="4709160" y="2880360"/>
            <a:ext cx="4069080" cy="2011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2" name="Shape 30"/>
          <p:cNvSpPr/>
          <p:nvPr/>
        </p:nvSpPr>
        <p:spPr>
          <a:xfrm>
            <a:off x="4709160" y="2880360"/>
            <a:ext cx="64008" cy="2011680"/>
          </a:xfrm>
          <a:prstGeom prst="rect">
            <a:avLst/>
          </a:prstGeom>
          <a:solidFill>
            <a:srgbClr val="0D9488"/>
          </a:solidFill>
          <a:ln w="12700">
            <a:solidFill>
              <a:srgbClr val="0D9488"/>
            </a:solidFill>
            <a:prstDash val="solid"/>
          </a:ln>
        </p:spPr>
      </p:sp>
      <p:sp>
        <p:nvSpPr>
          <p:cNvPr id="33" name="Shape 31"/>
          <p:cNvSpPr/>
          <p:nvPr/>
        </p:nvSpPr>
        <p:spPr>
          <a:xfrm>
            <a:off x="4773168" y="2907792"/>
            <a:ext cx="3941064" cy="256032"/>
          </a:xfrm>
          <a:prstGeom prst="rect">
            <a:avLst/>
          </a:prstGeom>
          <a:solidFill>
            <a:srgbClr val="0D9488"/>
          </a:solidFill>
          <a:ln w="12700">
            <a:solidFill>
              <a:srgbClr val="0D9488"/>
            </a:solidFill>
            <a:prstDash val="solid"/>
          </a:ln>
        </p:spPr>
      </p:sp>
      <p:sp>
        <p:nvSpPr>
          <p:cNvPr id="34" name="Text 32"/>
          <p:cNvSpPr/>
          <p:nvPr/>
        </p:nvSpPr>
        <p:spPr>
          <a:xfrm>
            <a:off x="4773168" y="2907792"/>
            <a:ext cx="3941064"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LIMITATIONS &amp; FUTURE WORK</a:t>
            </a:r>
            <a:endParaRPr lang="en-US" sz="1000" dirty="0"/>
          </a:p>
        </p:txBody>
      </p:sp>
      <p:sp>
        <p:nvSpPr>
          <p:cNvPr id="35" name="Text 33"/>
          <p:cNvSpPr/>
          <p:nvPr/>
        </p:nvSpPr>
        <p:spPr>
          <a:xfrm>
            <a:off x="4846320" y="3162416"/>
            <a:ext cx="4069080" cy="1736658"/>
          </a:xfrm>
          <a:prstGeom prst="rect">
            <a:avLst/>
          </a:prstGeom>
          <a:noFill/>
          <a:ln/>
        </p:spPr>
        <p:txBody>
          <a:bodyPr wrap="square" rtlCol="0" anchor="ctr"/>
          <a:lstStyle/>
          <a:p>
            <a:pPr marL="0" indent="0">
              <a:lnSpc>
                <a:spcPct val="130000"/>
              </a:lnSpc>
              <a:buNone/>
            </a:pPr>
            <a:r>
              <a:rPr lang="en-US" sz="1050" b="1" dirty="0">
                <a:solidFill>
                  <a:srgbClr val="1E293B"/>
                </a:solidFill>
                <a:latin typeface="Calibri" pitchFamily="34" charset="0"/>
                <a:ea typeface="Calibri" pitchFamily="34" charset="-122"/>
                <a:cs typeface="Calibri" pitchFamily="34" charset="-120"/>
              </a:rPr>
              <a:t>Paper A: </a:t>
            </a:r>
            <a:r>
              <a:rPr lang="en-US" sz="1050" dirty="0">
                <a:solidFill>
                  <a:srgbClr val="1E293B"/>
                </a:solidFill>
                <a:latin typeface="Calibri" pitchFamily="34" charset="0"/>
                <a:ea typeface="Calibri" pitchFamily="34" charset="-122"/>
                <a:cs typeface="Calibri" pitchFamily="34" charset="-120"/>
              </a:rPr>
              <a:t>English-only, sarcasm misclassification, platform API constraints limit data volume, neutral sentiment hardest to detect.
</a:t>
            </a:r>
            <a:r>
              <a:rPr lang="en-US" sz="1050" b="1" dirty="0">
                <a:solidFill>
                  <a:srgbClr val="1E293B"/>
                </a:solidFill>
                <a:latin typeface="Calibri" pitchFamily="34" charset="0"/>
                <a:ea typeface="Calibri" pitchFamily="34" charset="-122"/>
                <a:cs typeface="Calibri" pitchFamily="34" charset="-120"/>
              </a:rPr>
              <a:t>Paper B: </a:t>
            </a:r>
            <a:r>
              <a:rPr lang="en-US" sz="1050" dirty="0">
                <a:solidFill>
                  <a:srgbClr val="1E293B"/>
                </a:solidFill>
                <a:latin typeface="Calibri" pitchFamily="34" charset="0"/>
                <a:ea typeface="Calibri" pitchFamily="34" charset="-122"/>
                <a:cs typeface="Calibri" pitchFamily="34" charset="-120"/>
              </a:rPr>
              <a:t>Conceptual only no empirical implementation or testing. Relies entirely on feasibility analysis.
</a:t>
            </a:r>
            <a:r>
              <a:rPr lang="en-US" sz="1050" b="1" dirty="0">
                <a:solidFill>
                  <a:srgbClr val="1E293B"/>
                </a:solidFill>
                <a:latin typeface="Calibri" pitchFamily="34" charset="0"/>
                <a:ea typeface="Calibri" pitchFamily="34" charset="-122"/>
                <a:cs typeface="Calibri" pitchFamily="34" charset="-120"/>
              </a:rPr>
              <a:t>Future: </a:t>
            </a:r>
            <a:r>
              <a:rPr lang="en-US" sz="1050" dirty="0">
                <a:solidFill>
                  <a:srgbClr val="1E293B"/>
                </a:solidFill>
                <a:latin typeface="Calibri" pitchFamily="34" charset="0"/>
                <a:ea typeface="Calibri" pitchFamily="34" charset="-122"/>
                <a:cs typeface="Calibri" pitchFamily="34" charset="-120"/>
              </a:rPr>
              <a:t>Multimodal analysis (image+text), geospatial tagging, multilingual expansion, predictive analytics, and real platform deployment.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Shape 1"/>
          <p:cNvSpPr/>
          <p:nvPr/>
        </p:nvSpPr>
        <p:spPr>
          <a:xfrm>
            <a:off x="0" y="5079492"/>
            <a:ext cx="9144000" cy="64008"/>
          </a:xfrm>
          <a:prstGeom prst="rect">
            <a:avLst/>
          </a:prstGeom>
          <a:solidFill>
            <a:srgbClr val="0D9488"/>
          </a:solidFill>
          <a:ln w="12700">
            <a:solidFill>
              <a:srgbClr val="0D9488"/>
            </a:solidFill>
            <a:prstDash val="solid"/>
          </a:ln>
        </p:spPr>
      </p:sp>
      <p:sp>
        <p:nvSpPr>
          <p:cNvPr id="4" name="Text 2"/>
          <p:cNvSpPr/>
          <p:nvPr/>
        </p:nvSpPr>
        <p:spPr>
          <a:xfrm>
            <a:off x="457200" y="1463040"/>
            <a:ext cx="8229600" cy="548640"/>
          </a:xfrm>
          <a:prstGeom prst="rect">
            <a:avLst/>
          </a:prstGeom>
          <a:noFill/>
          <a:ln/>
        </p:spPr>
        <p:txBody>
          <a:bodyPr wrap="square" rtlCol="0" anchor="ctr"/>
          <a:lstStyle/>
          <a:p>
            <a:pPr marL="0" indent="0" algn="ctr">
              <a:buNone/>
            </a:pPr>
            <a:r>
              <a:rPr lang="en-US" sz="4000" b="1" kern="0" spc="800" dirty="0">
                <a:solidFill>
                  <a:srgbClr val="0D9488"/>
                </a:solidFill>
                <a:latin typeface="Calibri" pitchFamily="34" charset="0"/>
                <a:ea typeface="Calibri" pitchFamily="34" charset="-122"/>
                <a:cs typeface="Calibri" pitchFamily="34" charset="-120"/>
              </a:rPr>
              <a:t>TOPIC 4</a:t>
            </a:r>
            <a:endParaRPr lang="en-US" sz="4000" dirty="0"/>
          </a:p>
        </p:txBody>
      </p:sp>
      <p:sp>
        <p:nvSpPr>
          <p:cNvPr id="5" name="Text 3"/>
          <p:cNvSpPr/>
          <p:nvPr/>
        </p:nvSpPr>
        <p:spPr>
          <a:xfrm>
            <a:off x="731520" y="2194560"/>
            <a:ext cx="7680960" cy="1097280"/>
          </a:xfrm>
          <a:prstGeom prst="rect">
            <a:avLst/>
          </a:prstGeom>
          <a:noFill/>
          <a:ln/>
        </p:spPr>
        <p:txBody>
          <a:bodyPr wrap="square" rtlCol="0" anchor="ctr"/>
          <a:lstStyle/>
          <a:p>
            <a:pPr marL="0" indent="0" algn="ctr">
              <a:buNone/>
            </a:pPr>
            <a:r>
              <a:rPr lang="en-US" sz="2200" dirty="0"/>
              <a:t>Data Security SOP</a:t>
            </a:r>
          </a:p>
        </p:txBody>
      </p:sp>
      <p:sp>
        <p:nvSpPr>
          <p:cNvPr id="6" name="Text 3">
            <a:extLst>
              <a:ext uri="{FF2B5EF4-FFF2-40B4-BE49-F238E27FC236}">
                <a16:creationId xmlns:a16="http://schemas.microsoft.com/office/drawing/2014/main" id="{DC0CCAA5-397D-93F1-9C1C-12746111D7E7}"/>
              </a:ext>
            </a:extLst>
          </p:cNvPr>
          <p:cNvSpPr/>
          <p:nvPr/>
        </p:nvSpPr>
        <p:spPr>
          <a:xfrm>
            <a:off x="264942" y="2973500"/>
            <a:ext cx="7680960" cy="1097280"/>
          </a:xfrm>
          <a:prstGeom prst="rect">
            <a:avLst/>
          </a:prstGeom>
          <a:noFill/>
          <a:ln/>
        </p:spPr>
        <p:txBody>
          <a:bodyPr wrap="square" rtlCol="0" anchor="ctr"/>
          <a:lstStyle/>
          <a:p>
            <a:pPr marL="0" indent="0" algn="ctr">
              <a:buNone/>
            </a:pPr>
            <a:r>
              <a:rPr lang="en-US" sz="2200" i="1" dirty="0">
                <a:solidFill>
                  <a:srgbClr val="FFFFFF"/>
                </a:solidFill>
                <a:latin typeface="Calibri" pitchFamily="34" charset="0"/>
                <a:ea typeface="Calibri" pitchFamily="34" charset="-122"/>
                <a:cs typeface="Calibri" pitchFamily="34" charset="-120"/>
              </a:rPr>
              <a:t>AI-Powered Sentiment Analysis in Real-Time Brand Monitoring  &amp;  AI-Powered Digital Media Platform</a:t>
            </a:r>
            <a:endParaRPr lang="en-US" sz="2200" dirty="0"/>
          </a:p>
        </p:txBody>
      </p:sp>
    </p:spTree>
    <p:extLst>
      <p:ext uri="{BB962C8B-B14F-4D97-AF65-F5344CB8AC3E}">
        <p14:creationId xmlns:p14="http://schemas.microsoft.com/office/powerpoint/2010/main" val="3555232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Topic 4 — Paper Overviews &amp; Research Problem</a:t>
            </a:r>
            <a:endParaRPr lang="en-US" sz="1800" dirty="0"/>
          </a:p>
        </p:txBody>
      </p:sp>
      <p:sp>
        <p:nvSpPr>
          <p:cNvPr id="4" name="Shape 2"/>
          <p:cNvSpPr/>
          <p:nvPr/>
        </p:nvSpPr>
        <p:spPr>
          <a:xfrm>
            <a:off x="0" y="5079492"/>
            <a:ext cx="9144000" cy="64008"/>
          </a:xfrm>
          <a:prstGeom prst="rect">
            <a:avLst/>
          </a:prstGeom>
          <a:solidFill>
            <a:srgbClr val="0D9488"/>
          </a:solidFill>
          <a:ln w="12700">
            <a:solidFill>
              <a:srgbClr val="0D9488"/>
            </a:solidFill>
            <a:prstDash val="solid"/>
          </a:ln>
        </p:spPr>
      </p:sp>
      <p:sp>
        <p:nvSpPr>
          <p:cNvPr id="5" name="Shape 3"/>
          <p:cNvSpPr/>
          <p:nvPr/>
        </p:nvSpPr>
        <p:spPr>
          <a:xfrm>
            <a:off x="274320" y="777240"/>
            <a:ext cx="4069080"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77240"/>
            <a:ext cx="64008" cy="4160520"/>
          </a:xfrm>
          <a:prstGeom prst="rect">
            <a:avLst/>
          </a:prstGeom>
          <a:solidFill>
            <a:srgbClr val="0D9488"/>
          </a:solidFill>
          <a:ln w="12700">
            <a:solidFill>
              <a:srgbClr val="0D9488"/>
            </a:solidFill>
            <a:prstDash val="solid"/>
          </a:ln>
        </p:spPr>
      </p:sp>
      <p:sp>
        <p:nvSpPr>
          <p:cNvPr id="7" name="Shape 5"/>
          <p:cNvSpPr/>
          <p:nvPr/>
        </p:nvSpPr>
        <p:spPr>
          <a:xfrm>
            <a:off x="338328" y="804672"/>
            <a:ext cx="3941064" cy="256032"/>
          </a:xfrm>
          <a:prstGeom prst="rect">
            <a:avLst/>
          </a:prstGeom>
          <a:solidFill>
            <a:srgbClr val="0D9488"/>
          </a:solidFill>
          <a:ln w="12700">
            <a:solidFill>
              <a:srgbClr val="0D9488"/>
            </a:solidFill>
            <a:prstDash val="solid"/>
          </a:ln>
        </p:spPr>
        <p:txBody>
          <a:bodyPr/>
          <a:lstStyle/>
          <a:p>
            <a:r>
              <a:rPr lang="en-US" sz="1400" dirty="0">
                <a:solidFill>
                  <a:schemeClr val="bg1"/>
                </a:solidFill>
              </a:rPr>
              <a:t>Research Problem</a:t>
            </a:r>
          </a:p>
        </p:txBody>
      </p:sp>
      <p:sp>
        <p:nvSpPr>
          <p:cNvPr id="8" name="Text 6"/>
          <p:cNvSpPr/>
          <p:nvPr/>
        </p:nvSpPr>
        <p:spPr>
          <a:xfrm>
            <a:off x="338328" y="804672"/>
            <a:ext cx="3941064" cy="256032"/>
          </a:xfrm>
          <a:prstGeom prst="rect">
            <a:avLst/>
          </a:prstGeom>
          <a:noFill/>
          <a:ln/>
        </p:spPr>
        <p:txBody>
          <a:bodyPr wrap="square" lIns="0" tIns="0" rIns="0" bIns="0" rtlCol="0" anchor="ctr"/>
          <a:lstStyle/>
          <a:p>
            <a:pPr marL="0" indent="0" algn="ctr">
              <a:buNone/>
            </a:pPr>
            <a:endParaRPr lang="en-US" sz="1000" dirty="0"/>
          </a:p>
        </p:txBody>
      </p:sp>
      <p:sp>
        <p:nvSpPr>
          <p:cNvPr id="9" name="Text 7"/>
          <p:cNvSpPr/>
          <p:nvPr/>
        </p:nvSpPr>
        <p:spPr>
          <a:xfrm>
            <a:off x="411480" y="1143000"/>
            <a:ext cx="3840480" cy="3703320"/>
          </a:xfrm>
          <a:prstGeom prst="rect">
            <a:avLst/>
          </a:prstGeom>
          <a:noFill/>
          <a:ln/>
        </p:spPr>
        <p:txBody>
          <a:bodyPr wrap="square" rtlCol="0" anchor="ctr"/>
          <a:lstStyle/>
          <a:p>
            <a:pPr marL="0" indent="0">
              <a:lnSpc>
                <a:spcPct val="130000"/>
              </a:lnSpc>
              <a:buNone/>
            </a:pPr>
            <a:r>
              <a:rPr lang="en-US" sz="1200" dirty="0"/>
              <a:t>How can MISTI and Cambodian government organizations establish a standardized, internationally aligned framework for protecting sensitive data through Data Security Standard Operating Procedures?</a:t>
            </a:r>
          </a:p>
          <a:p>
            <a:pPr marL="171450" indent="-171450">
              <a:lnSpc>
                <a:spcPct val="130000"/>
              </a:lnSpc>
              <a:buFont typeface="Wingdings" panose="05000000000000000000" pitchFamily="2" charset="2"/>
              <a:buChar char="§"/>
            </a:pPr>
            <a:r>
              <a:rPr lang="en-US" sz="1200" dirty="0"/>
              <a:t>Cambodia ranks </a:t>
            </a:r>
            <a:r>
              <a:rPr lang="en-US" sz="1200" b="1" dirty="0"/>
              <a:t>lowest in ASEAN</a:t>
            </a:r>
            <a:r>
              <a:rPr lang="en-US" sz="1200" dirty="0"/>
              <a:t> on the Global Cybersecurity Index</a:t>
            </a:r>
          </a:p>
          <a:p>
            <a:pPr marL="171450" indent="-171450">
              <a:lnSpc>
                <a:spcPct val="130000"/>
              </a:lnSpc>
              <a:buFont typeface="Wingdings" panose="05000000000000000000" pitchFamily="2" charset="2"/>
              <a:buChar char="§"/>
            </a:pPr>
            <a:r>
              <a:rPr lang="en-US" sz="1200" dirty="0"/>
              <a:t>MISTI handles citizen PII, chemical records, and business registrations with </a:t>
            </a:r>
            <a:r>
              <a:rPr lang="en-US" sz="1200" b="1" dirty="0"/>
              <a:t>no standardized security procedures</a:t>
            </a:r>
          </a:p>
          <a:p>
            <a:pPr marL="171450" indent="-171450">
              <a:lnSpc>
                <a:spcPct val="130000"/>
              </a:lnSpc>
              <a:buFont typeface="Wingdings" panose="05000000000000000000" pitchFamily="2" charset="2"/>
              <a:buChar char="§"/>
            </a:pPr>
            <a:r>
              <a:rPr lang="en-US" sz="1200" dirty="0"/>
              <a:t>Critical </a:t>
            </a:r>
            <a:r>
              <a:rPr lang="en-US" sz="1200" b="1" dirty="0"/>
              <a:t>absence of data governance</a:t>
            </a:r>
            <a:r>
              <a:rPr lang="en-US" sz="1200" dirty="0"/>
              <a:t> in Cambodia no enforced classification, no SOP framework</a:t>
            </a:r>
            <a:endParaRPr lang="en-US" sz="1200" b="1" dirty="0"/>
          </a:p>
          <a:p>
            <a:pPr marL="171450" indent="-171450">
              <a:lnSpc>
                <a:spcPct val="130000"/>
              </a:lnSpc>
              <a:buFont typeface="Wingdings" panose="05000000000000000000" pitchFamily="2" charset="2"/>
              <a:buChar char="§"/>
            </a:pPr>
            <a:r>
              <a:rPr lang="en-US" sz="1200" dirty="0"/>
              <a:t>Rapid digital transformation (e-government, KHQR, digital IDs) expands the attack surface </a:t>
            </a:r>
            <a:r>
              <a:rPr lang="en-US" sz="1200" b="1" dirty="0"/>
              <a:t>faster than security can keep up</a:t>
            </a:r>
            <a:endParaRPr lang="en-US" sz="1200" dirty="0"/>
          </a:p>
          <a:p>
            <a:pPr marL="0" indent="0">
              <a:lnSpc>
                <a:spcPct val="130000"/>
              </a:lnSpc>
              <a:buNone/>
            </a:pPr>
            <a:endParaRPr lang="en-US" sz="1200" dirty="0"/>
          </a:p>
        </p:txBody>
      </p:sp>
      <p:sp>
        <p:nvSpPr>
          <p:cNvPr id="10" name="Shape 8"/>
          <p:cNvSpPr/>
          <p:nvPr/>
        </p:nvSpPr>
        <p:spPr>
          <a:xfrm>
            <a:off x="4709160" y="777240"/>
            <a:ext cx="4069080"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709160" y="777240"/>
            <a:ext cx="64008" cy="4160520"/>
          </a:xfrm>
          <a:prstGeom prst="rect">
            <a:avLst/>
          </a:prstGeom>
          <a:solidFill>
            <a:srgbClr val="0D9488"/>
          </a:solidFill>
          <a:ln w="12700">
            <a:solidFill>
              <a:srgbClr val="0D9488"/>
            </a:solidFill>
            <a:prstDash val="solid"/>
          </a:ln>
        </p:spPr>
      </p:sp>
      <p:sp>
        <p:nvSpPr>
          <p:cNvPr id="12" name="Shape 10"/>
          <p:cNvSpPr/>
          <p:nvPr/>
        </p:nvSpPr>
        <p:spPr>
          <a:xfrm>
            <a:off x="4773168" y="804672"/>
            <a:ext cx="3941064" cy="256032"/>
          </a:xfrm>
          <a:prstGeom prst="rect">
            <a:avLst/>
          </a:prstGeom>
          <a:solidFill>
            <a:srgbClr val="0D9488"/>
          </a:solidFill>
          <a:ln w="12700">
            <a:solidFill>
              <a:srgbClr val="0D9488"/>
            </a:solidFill>
            <a:prstDash val="solid"/>
          </a:ln>
        </p:spPr>
      </p:sp>
      <p:sp>
        <p:nvSpPr>
          <p:cNvPr id="13" name="Text 11"/>
          <p:cNvSpPr/>
          <p:nvPr/>
        </p:nvSpPr>
        <p:spPr>
          <a:xfrm>
            <a:off x="4773168" y="804672"/>
            <a:ext cx="3941064" cy="256032"/>
          </a:xfrm>
          <a:prstGeom prst="rect">
            <a:avLst/>
          </a:prstGeom>
          <a:noFill/>
          <a:ln/>
        </p:spPr>
        <p:txBody>
          <a:bodyPr wrap="square" lIns="0" tIns="0" rIns="0" bIns="0" rtlCol="0" anchor="ctr"/>
          <a:lstStyle/>
          <a:p>
            <a:pPr marL="0" indent="0" algn="ctr">
              <a:buNone/>
            </a:pPr>
            <a:r>
              <a:rPr lang="en-US" sz="1200" dirty="0">
                <a:solidFill>
                  <a:schemeClr val="bg1"/>
                </a:solidFill>
              </a:rPr>
              <a:t>Why It Matters</a:t>
            </a:r>
          </a:p>
        </p:txBody>
      </p:sp>
      <p:sp>
        <p:nvSpPr>
          <p:cNvPr id="14" name="Text 12"/>
          <p:cNvSpPr/>
          <p:nvPr/>
        </p:nvSpPr>
        <p:spPr>
          <a:xfrm>
            <a:off x="4846320" y="1143000"/>
            <a:ext cx="3840480" cy="3703320"/>
          </a:xfrm>
          <a:prstGeom prst="rect">
            <a:avLst/>
          </a:prstGeom>
          <a:noFill/>
          <a:ln/>
        </p:spPr>
        <p:txBody>
          <a:bodyPr wrap="square" rtlCol="0" anchor="ctr"/>
          <a:lstStyle/>
          <a:p>
            <a:pPr marL="171450" indent="-171450">
              <a:lnSpc>
                <a:spcPct val="130000"/>
              </a:lnSpc>
              <a:buFont typeface="Arial" panose="020B0604020202020204" pitchFamily="34" charset="0"/>
              <a:buChar char="•"/>
            </a:pPr>
            <a:r>
              <a:rPr lang="en-US" sz="1200" dirty="0"/>
              <a:t>Without SOPs, sensitive data is handled inconsistently leading to breaches, financial loss, and legal penalties</a:t>
            </a:r>
          </a:p>
          <a:p>
            <a:pPr marL="171450" indent="-171450">
              <a:lnSpc>
                <a:spcPct val="130000"/>
              </a:lnSpc>
              <a:buFont typeface="Arial" panose="020B0604020202020204" pitchFamily="34" charset="0"/>
              <a:buChar char="•"/>
            </a:pPr>
            <a:r>
              <a:rPr lang="en-US" sz="1200" dirty="0"/>
              <a:t>Global average cost of a data breach in 2025 is </a:t>
            </a:r>
            <a:r>
              <a:rPr lang="en-US" sz="1200" b="1" dirty="0"/>
              <a:t>USD 4.4 million</a:t>
            </a:r>
            <a:r>
              <a:rPr lang="en-US" sz="1200" dirty="0"/>
              <a:t> governments are prime targets</a:t>
            </a:r>
          </a:p>
          <a:p>
            <a:pPr marL="171450" indent="-171450">
              <a:lnSpc>
                <a:spcPct val="130000"/>
              </a:lnSpc>
              <a:buFont typeface="Arial" panose="020B0604020202020204" pitchFamily="34" charset="0"/>
              <a:buChar char="•"/>
            </a:pPr>
            <a:r>
              <a:rPr lang="en-US" sz="1200" dirty="0"/>
              <a:t>ISO/IEC 27001, NIST, and GDPR all mandate data classification and tiered controls </a:t>
            </a:r>
            <a:r>
              <a:rPr lang="en-US" sz="1200" b="1" dirty="0"/>
              <a:t>Cambodia's ministries currently lack these</a:t>
            </a:r>
          </a:p>
          <a:p>
            <a:pPr marL="171450" indent="-171450">
              <a:lnSpc>
                <a:spcPct val="130000"/>
              </a:lnSpc>
              <a:buFont typeface="Arial" panose="020B0604020202020204" pitchFamily="34" charset="0"/>
              <a:buChar char="•"/>
            </a:pPr>
            <a:r>
              <a:rPr lang="en-US" sz="1200" dirty="0"/>
              <a:t>A DSSOP at MISTI creates a </a:t>
            </a:r>
            <a:r>
              <a:rPr lang="en-US" sz="1200" b="1" dirty="0"/>
              <a:t>replicable model</a:t>
            </a:r>
            <a:r>
              <a:rPr lang="en-US" sz="1200" dirty="0"/>
              <a:t> for all Cambodian government ministries</a:t>
            </a:r>
          </a:p>
        </p:txBody>
      </p:sp>
    </p:spTree>
    <p:extLst>
      <p:ext uri="{BB962C8B-B14F-4D97-AF65-F5344CB8AC3E}">
        <p14:creationId xmlns:p14="http://schemas.microsoft.com/office/powerpoint/2010/main" val="1819638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SOP</a:t>
            </a:r>
            <a:endParaRPr lang="en-US" sz="1800" dirty="0"/>
          </a:p>
        </p:txBody>
      </p:sp>
      <p:sp>
        <p:nvSpPr>
          <p:cNvPr id="4" name="Shape 2"/>
          <p:cNvSpPr/>
          <p:nvPr/>
        </p:nvSpPr>
        <p:spPr>
          <a:xfrm>
            <a:off x="0" y="5079492"/>
            <a:ext cx="9144000" cy="64008"/>
          </a:xfrm>
          <a:prstGeom prst="rect">
            <a:avLst/>
          </a:prstGeom>
          <a:solidFill>
            <a:srgbClr val="7C3AED"/>
          </a:solidFill>
          <a:ln w="12700">
            <a:solidFill>
              <a:srgbClr val="7C3AED"/>
            </a:solidFill>
            <a:prstDash val="solid"/>
          </a:ln>
        </p:spPr>
      </p:sp>
      <p:sp>
        <p:nvSpPr>
          <p:cNvPr id="5" name="Shape 3"/>
          <p:cNvSpPr/>
          <p:nvPr/>
        </p:nvSpPr>
        <p:spPr>
          <a:xfrm>
            <a:off x="274320" y="777240"/>
            <a:ext cx="8531352"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77240"/>
            <a:ext cx="64008" cy="4160520"/>
          </a:xfrm>
          <a:prstGeom prst="rect">
            <a:avLst/>
          </a:prstGeom>
          <a:solidFill>
            <a:srgbClr val="7C3AED"/>
          </a:solidFill>
          <a:ln w="12700">
            <a:solidFill>
              <a:srgbClr val="7C3AED"/>
            </a:solidFill>
            <a:prstDash val="solid"/>
          </a:ln>
        </p:spPr>
      </p:sp>
      <p:sp>
        <p:nvSpPr>
          <p:cNvPr id="7" name="Shape 5"/>
          <p:cNvSpPr/>
          <p:nvPr/>
        </p:nvSpPr>
        <p:spPr>
          <a:xfrm>
            <a:off x="338328" y="804672"/>
            <a:ext cx="8467344" cy="256032"/>
          </a:xfrm>
          <a:prstGeom prst="rect">
            <a:avLst/>
          </a:prstGeom>
          <a:solidFill>
            <a:srgbClr val="7C3AED"/>
          </a:solidFill>
          <a:ln w="12700">
            <a:solidFill>
              <a:srgbClr val="7C3AED"/>
            </a:solidFill>
            <a:prstDash val="solid"/>
          </a:ln>
        </p:spPr>
      </p:sp>
      <p:sp>
        <p:nvSpPr>
          <p:cNvPr id="8" name="Text 6"/>
          <p:cNvSpPr/>
          <p:nvPr/>
        </p:nvSpPr>
        <p:spPr>
          <a:xfrm>
            <a:off x="338328" y="804672"/>
            <a:ext cx="3941064" cy="256032"/>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457200" y="1211931"/>
            <a:ext cx="8176846" cy="2641210"/>
          </a:xfrm>
          <a:prstGeom prst="rect">
            <a:avLst/>
          </a:prstGeom>
          <a:noFill/>
          <a:ln/>
        </p:spPr>
        <p:txBody>
          <a:bodyPr wrap="square" rtlCol="0" anchor="ctr"/>
          <a:lstStyle/>
          <a:p>
            <a:pPr marL="0" indent="0">
              <a:lnSpc>
                <a:spcPct val="130000"/>
              </a:lnSpc>
              <a:buNone/>
            </a:pPr>
            <a:r>
              <a:rPr lang="en-US" sz="2000" dirty="0"/>
              <a:t>A Standard Operating Procedure (SOP) is a set of written, step-by-step instructions that describes how to perform a routine task or process consistently and safely.</a:t>
            </a:r>
          </a:p>
        </p:txBody>
      </p:sp>
    </p:spTree>
    <p:extLst>
      <p:ext uri="{BB962C8B-B14F-4D97-AF65-F5344CB8AC3E}">
        <p14:creationId xmlns:p14="http://schemas.microsoft.com/office/powerpoint/2010/main" val="322228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Why need SOP?</a:t>
            </a:r>
            <a:endParaRPr lang="en-US" sz="1800" dirty="0"/>
          </a:p>
        </p:txBody>
      </p:sp>
      <p:sp>
        <p:nvSpPr>
          <p:cNvPr id="4" name="Shape 2"/>
          <p:cNvSpPr/>
          <p:nvPr/>
        </p:nvSpPr>
        <p:spPr>
          <a:xfrm>
            <a:off x="0" y="5079492"/>
            <a:ext cx="9144000" cy="64008"/>
          </a:xfrm>
          <a:prstGeom prst="rect">
            <a:avLst/>
          </a:prstGeom>
          <a:solidFill>
            <a:srgbClr val="7C3AED"/>
          </a:solidFill>
          <a:ln w="12700">
            <a:solidFill>
              <a:srgbClr val="7C3AED"/>
            </a:solidFill>
            <a:prstDash val="solid"/>
          </a:ln>
        </p:spPr>
      </p:sp>
      <p:sp>
        <p:nvSpPr>
          <p:cNvPr id="5" name="Shape 3"/>
          <p:cNvSpPr/>
          <p:nvPr/>
        </p:nvSpPr>
        <p:spPr>
          <a:xfrm>
            <a:off x="274320" y="777240"/>
            <a:ext cx="8531352"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6" name="Shape 4"/>
          <p:cNvSpPr/>
          <p:nvPr/>
        </p:nvSpPr>
        <p:spPr>
          <a:xfrm>
            <a:off x="274320" y="777240"/>
            <a:ext cx="64008" cy="4160520"/>
          </a:xfrm>
          <a:prstGeom prst="rect">
            <a:avLst/>
          </a:prstGeom>
          <a:solidFill>
            <a:srgbClr val="7C3AED"/>
          </a:solidFill>
          <a:ln w="12700">
            <a:solidFill>
              <a:srgbClr val="7C3AED"/>
            </a:solidFill>
            <a:prstDash val="solid"/>
          </a:ln>
        </p:spPr>
      </p:sp>
      <p:sp>
        <p:nvSpPr>
          <p:cNvPr id="7" name="Shape 5"/>
          <p:cNvSpPr/>
          <p:nvPr/>
        </p:nvSpPr>
        <p:spPr>
          <a:xfrm>
            <a:off x="338328" y="804672"/>
            <a:ext cx="8467344" cy="256032"/>
          </a:xfrm>
          <a:prstGeom prst="rect">
            <a:avLst/>
          </a:prstGeom>
          <a:solidFill>
            <a:srgbClr val="7C3AED"/>
          </a:solidFill>
          <a:ln w="12700">
            <a:solidFill>
              <a:srgbClr val="7C3AED"/>
            </a:solidFill>
            <a:prstDash val="solid"/>
          </a:ln>
        </p:spPr>
      </p:sp>
      <p:sp>
        <p:nvSpPr>
          <p:cNvPr id="8" name="Text 6"/>
          <p:cNvSpPr/>
          <p:nvPr/>
        </p:nvSpPr>
        <p:spPr>
          <a:xfrm>
            <a:off x="338328" y="804672"/>
            <a:ext cx="3941064" cy="256032"/>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457200" y="1211931"/>
            <a:ext cx="8176846" cy="2641210"/>
          </a:xfrm>
          <a:prstGeom prst="rect">
            <a:avLst/>
          </a:prstGeom>
          <a:noFill/>
          <a:ln/>
        </p:spPr>
        <p:txBody>
          <a:bodyPr wrap="square" rtlCol="0" anchor="ctr"/>
          <a:lstStyle/>
          <a:p>
            <a:pPr marL="0" indent="0">
              <a:lnSpc>
                <a:spcPct val="130000"/>
              </a:lnSpc>
              <a:buNone/>
            </a:pPr>
            <a:endParaRPr lang="en-US" sz="2000" dirty="0"/>
          </a:p>
        </p:txBody>
      </p:sp>
      <p:sp>
        <p:nvSpPr>
          <p:cNvPr id="13" name="Text 7">
            <a:extLst>
              <a:ext uri="{FF2B5EF4-FFF2-40B4-BE49-F238E27FC236}">
                <a16:creationId xmlns:a16="http://schemas.microsoft.com/office/drawing/2014/main" id="{586CDB99-BC16-4DE1-0FEF-AF453FE9182E}"/>
              </a:ext>
            </a:extLst>
          </p:cNvPr>
          <p:cNvSpPr/>
          <p:nvPr/>
        </p:nvSpPr>
        <p:spPr>
          <a:xfrm>
            <a:off x="457200" y="1197864"/>
            <a:ext cx="8176846" cy="2641210"/>
          </a:xfrm>
          <a:prstGeom prst="rect">
            <a:avLst/>
          </a:prstGeom>
          <a:noFill/>
          <a:ln/>
        </p:spPr>
        <p:txBody>
          <a:bodyPr wrap="square" rtlCol="0" anchor="ctr"/>
          <a:lstStyle/>
          <a:p>
            <a:pPr marL="342900" indent="-342900">
              <a:lnSpc>
                <a:spcPct val="130000"/>
              </a:lnSpc>
              <a:buFont typeface="Arial" panose="020B0604020202020204" pitchFamily="34" charset="0"/>
              <a:buChar char="•"/>
            </a:pPr>
            <a:r>
              <a:rPr lang="en-US" sz="2000" b="1" dirty="0"/>
              <a:t>No Mistakes:</a:t>
            </a:r>
            <a:r>
              <a:rPr lang="en-US" sz="2000" dirty="0"/>
              <a:t> It helps people avoid making errors.</a:t>
            </a:r>
          </a:p>
          <a:p>
            <a:pPr marL="342900" indent="-342900">
              <a:lnSpc>
                <a:spcPct val="130000"/>
              </a:lnSpc>
              <a:buFont typeface="Arial" panose="020B0604020202020204" pitchFamily="34" charset="0"/>
              <a:buChar char="•"/>
            </a:pPr>
            <a:r>
              <a:rPr lang="en-US" sz="2000" b="1" dirty="0"/>
              <a:t>Save Time:</a:t>
            </a:r>
            <a:r>
              <a:rPr lang="en-US" sz="2000" dirty="0"/>
              <a:t> You don't have to ask "How do I do this?" every time</a:t>
            </a:r>
          </a:p>
          <a:p>
            <a:pPr marL="342900" indent="-342900">
              <a:lnSpc>
                <a:spcPct val="130000"/>
              </a:lnSpc>
              <a:buFont typeface="Arial" panose="020B0604020202020204" pitchFamily="34" charset="0"/>
              <a:buChar char="•"/>
            </a:pPr>
            <a:r>
              <a:rPr lang="en-US" sz="2000" b="1" dirty="0"/>
              <a:t>Easy Training:</a:t>
            </a:r>
            <a:r>
              <a:rPr lang="en-US" sz="2000" dirty="0"/>
              <a:t> A new person can read it and start working right away</a:t>
            </a:r>
          </a:p>
          <a:p>
            <a:pPr marL="342900" indent="-342900">
              <a:lnSpc>
                <a:spcPct val="130000"/>
              </a:lnSpc>
              <a:buFont typeface="Arial" panose="020B0604020202020204" pitchFamily="34" charset="0"/>
              <a:buChar char="•"/>
            </a:pPr>
            <a:r>
              <a:rPr lang="en-US" sz="2000" b="1" dirty="0"/>
              <a:t>Quality:</a:t>
            </a:r>
            <a:r>
              <a:rPr lang="en-US" sz="2000" dirty="0"/>
              <a:t> The work always stays at a high level</a:t>
            </a:r>
          </a:p>
        </p:txBody>
      </p:sp>
    </p:spTree>
    <p:extLst>
      <p:ext uri="{BB962C8B-B14F-4D97-AF65-F5344CB8AC3E}">
        <p14:creationId xmlns:p14="http://schemas.microsoft.com/office/powerpoint/2010/main" val="2419072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3C"/>
          </a:solidFill>
          <a:ln w="12700">
            <a:solidFill>
              <a:srgbClr val="0D1F3C"/>
            </a:solidFill>
            <a:prstDash val="solid"/>
          </a:ln>
        </p:spPr>
      </p:sp>
      <p:sp>
        <p:nvSpPr>
          <p:cNvPr id="3" name="Text 1"/>
          <p:cNvSpPr/>
          <p:nvPr/>
        </p:nvSpPr>
        <p:spPr>
          <a:xfrm>
            <a:off x="457200" y="45720"/>
            <a:ext cx="822960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Data Securit</a:t>
            </a:r>
            <a:r>
              <a:rPr lang="en-US" b="1" dirty="0">
                <a:solidFill>
                  <a:srgbClr val="FFFFFF"/>
                </a:solidFill>
                <a:latin typeface="Calibri" pitchFamily="34" charset="0"/>
                <a:ea typeface="Calibri" pitchFamily="34" charset="-122"/>
                <a:cs typeface="Calibri" pitchFamily="34" charset="-120"/>
              </a:rPr>
              <a:t>y </a:t>
            </a:r>
            <a:r>
              <a:rPr lang="en-US" sz="1800" b="1" dirty="0">
                <a:solidFill>
                  <a:srgbClr val="FFFFFF"/>
                </a:solidFill>
                <a:latin typeface="Calibri" pitchFamily="34" charset="0"/>
                <a:ea typeface="Calibri" pitchFamily="34" charset="-122"/>
                <a:cs typeface="Calibri" pitchFamily="34" charset="-120"/>
              </a:rPr>
              <a:t>SOP</a:t>
            </a:r>
            <a:endParaRPr lang="en-US" sz="1800" dirty="0"/>
          </a:p>
        </p:txBody>
      </p:sp>
      <p:sp>
        <p:nvSpPr>
          <p:cNvPr id="4" name="Shape 2"/>
          <p:cNvSpPr/>
          <p:nvPr/>
        </p:nvSpPr>
        <p:spPr>
          <a:xfrm>
            <a:off x="0" y="5079492"/>
            <a:ext cx="9144000" cy="64008"/>
          </a:xfrm>
          <a:prstGeom prst="rect">
            <a:avLst/>
          </a:prstGeom>
          <a:solidFill>
            <a:srgbClr val="7C3AED"/>
          </a:solidFill>
          <a:ln w="12700">
            <a:solidFill>
              <a:srgbClr val="7C3AED"/>
            </a:solidFill>
            <a:prstDash val="solid"/>
          </a:ln>
        </p:spPr>
      </p:sp>
      <p:sp>
        <p:nvSpPr>
          <p:cNvPr id="5" name="Shape 3"/>
          <p:cNvSpPr/>
          <p:nvPr/>
        </p:nvSpPr>
        <p:spPr>
          <a:xfrm>
            <a:off x="274320" y="777240"/>
            <a:ext cx="8531352"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777240"/>
            <a:ext cx="64008" cy="4160520"/>
          </a:xfrm>
          <a:prstGeom prst="rect">
            <a:avLst/>
          </a:prstGeom>
          <a:solidFill>
            <a:srgbClr val="7C3AED"/>
          </a:solidFill>
          <a:ln w="12700">
            <a:solidFill>
              <a:srgbClr val="7C3AED"/>
            </a:solidFill>
            <a:prstDash val="solid"/>
          </a:ln>
        </p:spPr>
      </p:sp>
      <p:sp>
        <p:nvSpPr>
          <p:cNvPr id="7" name="Shape 5"/>
          <p:cNvSpPr/>
          <p:nvPr/>
        </p:nvSpPr>
        <p:spPr>
          <a:xfrm>
            <a:off x="338328" y="804672"/>
            <a:ext cx="8467344" cy="256032"/>
          </a:xfrm>
          <a:prstGeom prst="rect">
            <a:avLst/>
          </a:prstGeom>
          <a:solidFill>
            <a:srgbClr val="7C3AED"/>
          </a:solidFill>
          <a:ln w="12700">
            <a:solidFill>
              <a:srgbClr val="7C3AED"/>
            </a:solidFill>
            <a:prstDash val="solid"/>
          </a:ln>
        </p:spPr>
      </p:sp>
      <p:sp>
        <p:nvSpPr>
          <p:cNvPr id="8" name="Text 6"/>
          <p:cNvSpPr/>
          <p:nvPr/>
        </p:nvSpPr>
        <p:spPr>
          <a:xfrm>
            <a:off x="338328" y="804672"/>
            <a:ext cx="3941064" cy="256032"/>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457200" y="1211931"/>
            <a:ext cx="8176846" cy="2641210"/>
          </a:xfrm>
          <a:prstGeom prst="rect">
            <a:avLst/>
          </a:prstGeom>
          <a:noFill/>
          <a:ln/>
        </p:spPr>
        <p:txBody>
          <a:bodyPr wrap="square" rtlCol="0" anchor="ctr"/>
          <a:lstStyle/>
          <a:p>
            <a:pPr marL="0" indent="0">
              <a:lnSpc>
                <a:spcPct val="130000"/>
              </a:lnSpc>
              <a:buNone/>
            </a:pPr>
            <a:r>
              <a:rPr lang="en-US" sz="2000" dirty="0"/>
              <a:t>A </a:t>
            </a:r>
            <a:r>
              <a:rPr lang="en-US" sz="2000" b="1" i="0" dirty="0">
                <a:solidFill>
                  <a:srgbClr val="0A0A0A"/>
                </a:solidFill>
                <a:effectLst/>
                <a:latin typeface="Google Sans"/>
              </a:rPr>
              <a:t>Data Security SOP</a:t>
            </a:r>
            <a:r>
              <a:rPr lang="en-US" sz="2000" b="0" i="0" dirty="0">
                <a:solidFill>
                  <a:srgbClr val="0A0A0A"/>
                </a:solidFill>
                <a:effectLst/>
                <a:latin typeface="Google Sans"/>
              </a:rPr>
              <a:t> is a simple, written guide that tells employees exactly how to handle and protect company information (like passwords, customer emails, or credit card numbers)</a:t>
            </a:r>
            <a:endParaRPr lang="en-US" sz="2000" dirty="0"/>
          </a:p>
        </p:txBody>
      </p:sp>
    </p:spTree>
    <p:extLst>
      <p:ext uri="{BB962C8B-B14F-4D97-AF65-F5344CB8AC3E}">
        <p14:creationId xmlns:p14="http://schemas.microsoft.com/office/powerpoint/2010/main" val="4196428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748790"/>
            <a:ext cx="8229600" cy="82296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Thank You</a:t>
            </a:r>
            <a:endParaRPr lang="en-US" sz="4200" dirty="0"/>
          </a:p>
        </p:txBody>
      </p:sp>
      <p:sp>
        <p:nvSpPr>
          <p:cNvPr id="14" name="Text 12"/>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Royal University of Phnom Penh  •  Data Science &amp; Engineering  •  2026</a:t>
            </a:r>
            <a:endParaRPr lang="en-US" sz="1000" dirty="0"/>
          </a:p>
        </p:txBody>
      </p:sp>
      <p:sp>
        <p:nvSpPr>
          <p:cNvPr id="15" name="Shape 13"/>
          <p:cNvSpPr/>
          <p:nvPr/>
        </p:nvSpPr>
        <p:spPr>
          <a:xfrm>
            <a:off x="0" y="5079492"/>
            <a:ext cx="9144000" cy="64008"/>
          </a:xfrm>
          <a:prstGeom prst="rect">
            <a:avLst/>
          </a:prstGeom>
          <a:solidFill>
            <a:srgbClr val="0D9488"/>
          </a:solidFill>
          <a:ln w="12700">
            <a:solidFill>
              <a:srgbClr val="0D948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D30A200-AD87-4DE5-817C-66665CBD1B9D}">
  <we:reference id="wa200010001" version="1.0.0.0" store="en-US" storeType="OMEX"/>
  <we:alternateReferences>
    <we:reference id="wa200010001" version="1.0.0.0"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1835</TotalTime>
  <Words>1722</Words>
  <Application>Microsoft Office PowerPoint</Application>
  <PresentationFormat>On-screen Show (16:9)</PresentationFormat>
  <Paragraphs>147</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Google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 Research Paper Review</dc:title>
  <dc:subject>PptxGenJS Presentation</dc:subject>
  <dc:creator>PptxGenJS</dc:creator>
  <cp:lastModifiedBy>﻿Nhor Povketya</cp:lastModifiedBy>
  <cp:revision>45</cp:revision>
  <dcterms:created xsi:type="dcterms:W3CDTF">2026-03-09T08:06:18Z</dcterms:created>
  <dcterms:modified xsi:type="dcterms:W3CDTF">2026-03-25T05:25:52Z</dcterms:modified>
</cp:coreProperties>
</file>