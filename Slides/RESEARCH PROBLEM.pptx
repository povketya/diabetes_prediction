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57" r:id="rId3"/>
    <p:sldId id="261" r:id="rId4"/>
    <p:sldId id="262" r:id="rId5"/>
    <p:sldId id="265" r:id="rId6"/>
    <p:sldId id="263" r:id="rId7"/>
    <p:sldId id="264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4C979-7058-4FBB-8AC5-2BD24EDF9B8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654F6-FA8B-4653-B4C0-1BBA41016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77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8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98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09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46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96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51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92C4-88D7-52BA-4FF8-7617F0EA2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A67E6-FF7B-3944-7255-8428DF9C1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F125C-CCF8-BEED-ACA9-8832EE56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0B29-87C2-C07D-9F3D-09C192E7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60102-1639-C0BB-D3ED-D2EEFBED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34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9198C-A077-6A72-82E8-B82DD48C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229E1-8137-C8F2-1F39-B7850C8D3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F001-7BE4-7B30-F834-403B96CE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DBB1F-CCC8-6525-5539-BC2C7655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0A78A-B398-4430-6C03-B221331B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8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0F36-1F3A-1285-2AB5-5BAF76F2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08EAF-F548-5A5B-CED2-C3D6477A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D277C-6A1E-AC50-81CF-DA51574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5240A-3D1E-3760-C16E-1D4AD1C1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ACBDB-9201-CE59-AEF2-4CCCC024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9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200F-CC82-1FA6-252E-FA4C0C78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BD3C7-AFCC-127F-242A-815C10766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36D2C-649D-39C8-2A5D-D0D4BFD77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A59F8-DB6D-88D9-B0D3-738B9949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F8AB9-CEC7-0CB9-B24A-5B1290EFD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D3C16-F9A1-686B-5077-222F09CC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50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9960-8812-A526-E03E-3522C0C3F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A763C-339B-E6FE-DE3F-3C0B1882D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561E2-4466-28D2-276E-001E3B2DD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4B39E-C658-ECFB-CC1D-AA600F156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925EB-A419-9131-D4CF-BD847FA4F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77D4B-AF1F-1429-D445-164AB4F0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87F52-D37B-C762-C633-F618C03A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B471A-96CB-2939-8B06-2B41FD46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3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7E9F-01EF-BBA3-3E9D-888BC9A9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2CF74-E55E-E446-CD79-E60ADC611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FCAD1-4330-8FAD-9237-D77BC4BBF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27F2B-4D40-5C2C-CCC8-DE5CC72A7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53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26573-A88A-1376-46F0-93A4B4AF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2AC60C-240B-32B2-14A1-DDA2DF5A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34D85-9755-FAB6-0F0E-E41A0762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92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C77E-FC8C-83AF-7C18-B71DE65D2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BAEDC-9E4B-3992-B1F6-AE04B5D82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38685-DB61-CF57-7F72-7DE2E26C2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EAAB3-5FD7-2A84-4430-D9B4FE487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78772-6A6C-0227-26B0-D38E3F862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3D84A-062B-2DF4-698F-6CB8ABC0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51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E854-8D30-AF01-6A2F-F20B27B5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713A7-BFE4-6801-594A-08D8FC935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1C1A5-407C-66AF-7023-421996F84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36114-173C-A896-9CA7-501D1EB5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EA1EA-7456-F7B5-ADB3-BA9BD819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ABB94-1023-8AF8-5113-95CBBDB5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5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65B4-7382-71A0-A40F-75EEFDB5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BAF03-AB28-3256-B28E-AA67FBA86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6E30D-D284-CDDA-E254-D2F572EE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F0A9-1724-3E0E-D2F1-742383C6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625D9-8122-E2DC-AEE5-17CE22F8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4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18167-E87A-C661-32C8-445D77477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1BB39-69B6-E30C-2C65-030475043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72879-B771-DEF9-74F8-7E79E318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C2D02-030A-B2EC-8F8B-6BDFDBBDF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BC354-6D77-FDDB-DDF1-00DC9AC5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16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33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A4DD30-EDED-C082-9580-27A8C096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96C4A-C9D3-577A-5CAE-A8E7F0604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86B88-A4DD-922D-B787-EDFA5F087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6AC19-16D8-4464-BC9D-791E2E8F082F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7943B-F85C-0DED-C162-8D7FB4305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F51E9-752A-A7A5-65A1-D35ABECF9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AA27-ACC3-43FE-AEE4-47CCAA09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9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30B7348-92AD-7355-195D-4924BED9B961}"/>
              </a:ext>
            </a:extLst>
          </p:cNvPr>
          <p:cNvSpPr/>
          <p:nvPr/>
        </p:nvSpPr>
        <p:spPr>
          <a:xfrm>
            <a:off x="1985682" y="1569706"/>
            <a:ext cx="8220635" cy="1579773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47DE9C-E07A-AD34-2B0F-5CE1AA59CE68}"/>
              </a:ext>
            </a:extLst>
          </p:cNvPr>
          <p:cNvSpPr txBox="1">
            <a:spLocks/>
          </p:cNvSpPr>
          <p:nvPr/>
        </p:nvSpPr>
        <p:spPr>
          <a:xfrm>
            <a:off x="1649679" y="1303640"/>
            <a:ext cx="9144000" cy="1917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Transparent and Accurate Diabetes Prediction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98C70F3-DFD6-196E-46DD-59622CF42DCF}"/>
              </a:ext>
            </a:extLst>
          </p:cNvPr>
          <p:cNvSpPr txBox="1">
            <a:spLocks/>
          </p:cNvSpPr>
          <p:nvPr/>
        </p:nvSpPr>
        <p:spPr>
          <a:xfrm>
            <a:off x="1401357" y="3902219"/>
            <a:ext cx="9144000" cy="492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4C3343-491B-BB49-F0D8-0B84135585F5}"/>
              </a:ext>
            </a:extLst>
          </p:cNvPr>
          <p:cNvSpPr txBox="1"/>
          <p:nvPr/>
        </p:nvSpPr>
        <p:spPr>
          <a:xfrm>
            <a:off x="3065070" y="4729197"/>
            <a:ext cx="612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Chamroeun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E72693-F4DA-FB24-D440-B06A37C98E30}"/>
              </a:ext>
            </a:extLst>
          </p:cNvPr>
          <p:cNvSpPr txBox="1"/>
          <p:nvPr/>
        </p:nvSpPr>
        <p:spPr>
          <a:xfrm>
            <a:off x="2055332" y="5461134"/>
            <a:ext cx="754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by: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Povketya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C92FAB-6F07-EC69-6C98-1FD587A4B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4" y="310808"/>
            <a:ext cx="1140386" cy="11027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113620-3B4E-D650-AD58-CF449A695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310808"/>
            <a:ext cx="1048946" cy="1097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A1FDF1-54F4-5BB1-ACCA-A0117837538A}"/>
              </a:ext>
            </a:extLst>
          </p:cNvPr>
          <p:cNvSpPr txBox="1"/>
          <p:nvPr/>
        </p:nvSpPr>
        <p:spPr>
          <a:xfrm>
            <a:off x="156882" y="3221033"/>
            <a:ext cx="11942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Ensemble Learning and Explainable AI (XAI) for Clinical Trust.</a:t>
            </a: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E6A1EAAF-E5E7-9270-4C6F-ADEC91994AAD}"/>
              </a:ext>
            </a:extLst>
          </p:cNvPr>
          <p:cNvSpPr/>
          <p:nvPr/>
        </p:nvSpPr>
        <p:spPr>
          <a:xfrm rot="5400000">
            <a:off x="6042572" y="708571"/>
            <a:ext cx="106859" cy="121920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12810539-5C2E-B47C-1E86-62E3003A74CE}"/>
              </a:ext>
            </a:extLst>
          </p:cNvPr>
          <p:cNvSpPr/>
          <p:nvPr/>
        </p:nvSpPr>
        <p:spPr>
          <a:xfrm rot="5400000">
            <a:off x="6042572" y="717537"/>
            <a:ext cx="106859" cy="121920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030356C9-DD03-23BF-8906-3DB12052B699}"/>
              </a:ext>
            </a:extLst>
          </p:cNvPr>
          <p:cNvSpPr/>
          <p:nvPr/>
        </p:nvSpPr>
        <p:spPr>
          <a:xfrm rot="5400000">
            <a:off x="6047904" y="2738458"/>
            <a:ext cx="48128" cy="2680447"/>
          </a:xfrm>
          <a:prstGeom prst="rect">
            <a:avLst/>
          </a:prstGeom>
          <a:solidFill>
            <a:srgbClr val="C9973A"/>
          </a:solidFill>
          <a:ln/>
        </p:spPr>
      </p:sp>
    </p:spTree>
    <p:extLst>
      <p:ext uri="{BB962C8B-B14F-4D97-AF65-F5344CB8AC3E}">
        <p14:creationId xmlns:p14="http://schemas.microsoft.com/office/powerpoint/2010/main" val="2727896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75590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68224" y="0"/>
            <a:ext cx="67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914400" y="219456"/>
            <a:ext cx="48768" cy="31699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1121664" y="0"/>
            <a:ext cx="103632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Problem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2238" y="1557887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3394" y="1498003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4430" y="1484735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430" y="1484735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970878" y="1460351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31966" y="2069951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727037" y="2045567"/>
            <a:ext cx="888725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models are "Black Boxes." A doctor cannot trust a "Yes/No" answer without knowing the logic.</a:t>
            </a:r>
            <a:endParaRPr lang="en-US" sz="14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A0D69BB-9AEC-F413-9650-39D76D60137C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8D9E46F1-3E4C-0BBD-0FD1-F651D73CD2C9}"/>
              </a:ext>
            </a:extLst>
          </p:cNvPr>
          <p:cNvSpPr/>
          <p:nvPr/>
        </p:nvSpPr>
        <p:spPr>
          <a:xfrm>
            <a:off x="434430" y="3458615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B5BDF30F-73E8-DF3A-C828-2836D620F408}"/>
              </a:ext>
            </a:extLst>
          </p:cNvPr>
          <p:cNvSpPr/>
          <p:nvPr/>
        </p:nvSpPr>
        <p:spPr>
          <a:xfrm>
            <a:off x="455586" y="3398731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D001E399-1144-07FD-5886-D63C6047DB23}"/>
              </a:ext>
            </a:extLst>
          </p:cNvPr>
          <p:cNvSpPr/>
          <p:nvPr/>
        </p:nvSpPr>
        <p:spPr>
          <a:xfrm>
            <a:off x="446622" y="3385463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90B2DA9C-C14B-9E2E-7E56-847D8EFF3617}"/>
              </a:ext>
            </a:extLst>
          </p:cNvPr>
          <p:cNvSpPr/>
          <p:nvPr/>
        </p:nvSpPr>
        <p:spPr>
          <a:xfrm>
            <a:off x="446622" y="3385463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F48C9496-B9CE-7767-EC28-0F3230F12FA8}"/>
              </a:ext>
            </a:extLst>
          </p:cNvPr>
          <p:cNvSpPr/>
          <p:nvPr/>
        </p:nvSpPr>
        <p:spPr>
          <a:xfrm>
            <a:off x="983070" y="3361079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33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555E4526-615C-E98F-2A2B-14304F2CF96F}"/>
              </a:ext>
            </a:extLst>
          </p:cNvPr>
          <p:cNvSpPr/>
          <p:nvPr/>
        </p:nvSpPr>
        <p:spPr>
          <a:xfrm>
            <a:off x="544158" y="3970679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222A18F-B0E8-ED56-54F8-623423A6E563}"/>
              </a:ext>
            </a:extLst>
          </p:cNvPr>
          <p:cNvSpPr/>
          <p:nvPr/>
        </p:nvSpPr>
        <p:spPr>
          <a:xfrm>
            <a:off x="739229" y="3946295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a global crisis, early, understandable detection can change lives.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75590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68224" y="0"/>
            <a:ext cx="67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914400" y="219456"/>
            <a:ext cx="48768" cy="31699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1121664" y="0"/>
            <a:ext cx="103632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2238" y="1557887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3394" y="1498003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4430" y="1484735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430" y="1484735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970878" y="1460351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31966" y="2069951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727037" y="2045567"/>
            <a:ext cx="888725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current projects focus only on accuracy. They ignore the "Interpretability" (the why).</a:t>
            </a:r>
            <a:endParaRPr lang="en-US" sz="1400" dirty="0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1C58F079-939E-0D22-2528-8FE8FD0E9B41}"/>
              </a:ext>
            </a:extLst>
          </p:cNvPr>
          <p:cNvSpPr/>
          <p:nvPr/>
        </p:nvSpPr>
        <p:spPr>
          <a:xfrm>
            <a:off x="434430" y="3263870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91EB8467-155C-1DC9-9DCC-3A6BE36FA775}"/>
              </a:ext>
            </a:extLst>
          </p:cNvPr>
          <p:cNvSpPr/>
          <p:nvPr/>
        </p:nvSpPr>
        <p:spPr>
          <a:xfrm>
            <a:off x="455586" y="3203986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8B03087-1DA9-D93F-2494-AD291DC99D8F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A0D69BB-9AEC-F413-9650-39D76D60137C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A5EBD43-9668-D397-983C-13B716C923D9}"/>
              </a:ext>
            </a:extLst>
          </p:cNvPr>
          <p:cNvSpPr/>
          <p:nvPr/>
        </p:nvSpPr>
        <p:spPr>
          <a:xfrm>
            <a:off x="983070" y="3166334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33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250F1B48-9A79-CD16-81AA-DCDC75B9663E}"/>
              </a:ext>
            </a:extLst>
          </p:cNvPr>
          <p:cNvSpPr/>
          <p:nvPr/>
        </p:nvSpPr>
        <p:spPr>
          <a:xfrm>
            <a:off x="544158" y="3775934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BB757519-C477-977F-888B-B00820F68C2D}"/>
              </a:ext>
            </a:extLst>
          </p:cNvPr>
          <p:cNvSpPr/>
          <p:nvPr/>
        </p:nvSpPr>
        <p:spPr>
          <a:xfrm>
            <a:off x="739229" y="3751550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an Ensemble Model (for power) + XAI Tools (for transparency).</a:t>
            </a:r>
            <a:endParaRPr lang="en-US" sz="14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8D9E46F1-3E4C-0BBD-0FD1-F651D73CD2C9}"/>
              </a:ext>
            </a:extLst>
          </p:cNvPr>
          <p:cNvSpPr/>
          <p:nvPr/>
        </p:nvSpPr>
        <p:spPr>
          <a:xfrm>
            <a:off x="434430" y="5007505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B5BDF30F-73E8-DF3A-C828-2836D620F408}"/>
              </a:ext>
            </a:extLst>
          </p:cNvPr>
          <p:cNvSpPr/>
          <p:nvPr/>
        </p:nvSpPr>
        <p:spPr>
          <a:xfrm>
            <a:off x="455586" y="4947621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D001E399-1144-07FD-5886-D63C6047DB23}"/>
              </a:ext>
            </a:extLst>
          </p:cNvPr>
          <p:cNvSpPr/>
          <p:nvPr/>
        </p:nvSpPr>
        <p:spPr>
          <a:xfrm>
            <a:off x="446622" y="4934353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90B2DA9C-C14B-9E2E-7E56-847D8EFF3617}"/>
              </a:ext>
            </a:extLst>
          </p:cNvPr>
          <p:cNvSpPr/>
          <p:nvPr/>
        </p:nvSpPr>
        <p:spPr>
          <a:xfrm>
            <a:off x="446622" y="4934353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F48C9496-B9CE-7767-EC28-0F3230F12FA8}"/>
              </a:ext>
            </a:extLst>
          </p:cNvPr>
          <p:cNvSpPr/>
          <p:nvPr/>
        </p:nvSpPr>
        <p:spPr>
          <a:xfrm>
            <a:off x="983070" y="4909969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33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555E4526-615C-E98F-2A2B-14304F2CF96F}"/>
              </a:ext>
            </a:extLst>
          </p:cNvPr>
          <p:cNvSpPr/>
          <p:nvPr/>
        </p:nvSpPr>
        <p:spPr>
          <a:xfrm>
            <a:off x="544158" y="5519569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222A18F-B0E8-ED56-54F8-623423A6E563}"/>
              </a:ext>
            </a:extLst>
          </p:cNvPr>
          <p:cNvSpPr/>
          <p:nvPr/>
        </p:nvSpPr>
        <p:spPr>
          <a:xfrm>
            <a:off x="739229" y="5495185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&gt;90% accuracy while providing visual proofs for every prediction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2199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75590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68224" y="0"/>
            <a:ext cx="67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914400" y="219456"/>
            <a:ext cx="48768" cy="31699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1121664" y="0"/>
            <a:ext cx="103632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2238" y="1557887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3394" y="1498003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4430" y="1484735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430" y="1484735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970878" y="1460351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31966" y="2069951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727037" y="2045567"/>
            <a:ext cx="888725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Binary Health Indicators Dataset (253,680 records).</a:t>
            </a:r>
            <a:endParaRPr lang="en-US" sz="1400" dirty="0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1C58F079-939E-0D22-2528-8FE8FD0E9B41}"/>
              </a:ext>
            </a:extLst>
          </p:cNvPr>
          <p:cNvSpPr/>
          <p:nvPr/>
        </p:nvSpPr>
        <p:spPr>
          <a:xfrm>
            <a:off x="434430" y="3263870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91EB8467-155C-1DC9-9DCC-3A6BE36FA775}"/>
              </a:ext>
            </a:extLst>
          </p:cNvPr>
          <p:cNvSpPr/>
          <p:nvPr/>
        </p:nvSpPr>
        <p:spPr>
          <a:xfrm>
            <a:off x="455586" y="3203986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8B03087-1DA9-D93F-2494-AD291DC99D8F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A0D69BB-9AEC-F413-9650-39D76D60137C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A5EBD43-9668-D397-983C-13B716C923D9}"/>
              </a:ext>
            </a:extLst>
          </p:cNvPr>
          <p:cNvSpPr/>
          <p:nvPr/>
        </p:nvSpPr>
        <p:spPr>
          <a:xfrm>
            <a:off x="983070" y="3166334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33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250F1B48-9A79-CD16-81AA-DCDC75B9663E}"/>
              </a:ext>
            </a:extLst>
          </p:cNvPr>
          <p:cNvSpPr/>
          <p:nvPr/>
        </p:nvSpPr>
        <p:spPr>
          <a:xfrm>
            <a:off x="544158" y="3775934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BB757519-C477-977F-888B-B00820F68C2D}"/>
              </a:ext>
            </a:extLst>
          </p:cNvPr>
          <p:cNvSpPr/>
          <p:nvPr/>
        </p:nvSpPr>
        <p:spPr>
          <a:xfrm>
            <a:off x="739229" y="3751550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health indicators (High BP, Cholesterol, BMI, Smoker, Stroke, Heart Disease, etc.).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70856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75590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68224" y="0"/>
            <a:ext cx="67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914400" y="219456"/>
            <a:ext cx="48768" cy="31699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1121664" y="0"/>
            <a:ext cx="103632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2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B427443-C264-77D9-CF4E-10F68663E4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628"/>
          <a:stretch/>
        </p:blipFill>
        <p:spPr>
          <a:xfrm>
            <a:off x="3348317" y="755904"/>
            <a:ext cx="5495365" cy="588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2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75590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68224" y="0"/>
            <a:ext cx="67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914400" y="219456"/>
            <a:ext cx="48768" cy="31699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1121664" y="0"/>
            <a:ext cx="103632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2238" y="1557887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3394" y="1498003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4430" y="1484735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430" y="1484735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970878" y="1460351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31966" y="2069951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727037" y="2045567"/>
            <a:ext cx="888725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SMOTE (Synthetic Minority Over-sampling Technique). We don't just copy data we create new, logical data points to help the AI learn what "Diabetes" looks like</a:t>
            </a:r>
            <a:endParaRPr lang="en-US" sz="1400" dirty="0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1C58F079-939E-0D22-2528-8FE8FD0E9B41}"/>
              </a:ext>
            </a:extLst>
          </p:cNvPr>
          <p:cNvSpPr/>
          <p:nvPr/>
        </p:nvSpPr>
        <p:spPr>
          <a:xfrm>
            <a:off x="434430" y="3263870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91EB8467-155C-1DC9-9DCC-3A6BE36FA775}"/>
              </a:ext>
            </a:extLst>
          </p:cNvPr>
          <p:cNvSpPr/>
          <p:nvPr/>
        </p:nvSpPr>
        <p:spPr>
          <a:xfrm>
            <a:off x="455586" y="3203986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8B03087-1DA9-D93F-2494-AD291DC99D8F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A0D69BB-9AEC-F413-9650-39D76D60137C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A5EBD43-9668-D397-983C-13B716C923D9}"/>
              </a:ext>
            </a:extLst>
          </p:cNvPr>
          <p:cNvSpPr/>
          <p:nvPr/>
        </p:nvSpPr>
        <p:spPr>
          <a:xfrm>
            <a:off x="983070" y="3166334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333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250F1B48-9A79-CD16-81AA-DCDC75B9663E}"/>
              </a:ext>
            </a:extLst>
          </p:cNvPr>
          <p:cNvSpPr/>
          <p:nvPr/>
        </p:nvSpPr>
        <p:spPr>
          <a:xfrm>
            <a:off x="544158" y="3775934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BB757519-C477-977F-888B-B00820F68C2D}"/>
              </a:ext>
            </a:extLst>
          </p:cNvPr>
          <p:cNvSpPr/>
          <p:nvPr/>
        </p:nvSpPr>
        <p:spPr>
          <a:xfrm>
            <a:off x="739229" y="3751550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StandardScaler to ensure a "BMI of 30" and "Age of 50" are mathematically comparable.</a:t>
            </a:r>
            <a:endParaRPr lang="en-US" sz="1400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0944CF55-4B4C-6FC8-BDFE-22BBCF6F15A8}"/>
              </a:ext>
            </a:extLst>
          </p:cNvPr>
          <p:cNvSpPr/>
          <p:nvPr/>
        </p:nvSpPr>
        <p:spPr>
          <a:xfrm>
            <a:off x="434430" y="5007505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6C5C22E-A115-AA59-5E67-BF4EC9309FEA}"/>
              </a:ext>
            </a:extLst>
          </p:cNvPr>
          <p:cNvSpPr/>
          <p:nvPr/>
        </p:nvSpPr>
        <p:spPr>
          <a:xfrm>
            <a:off x="455586" y="4947621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B6B35AA9-9BB0-1C8E-D67C-AAF018A87D6A}"/>
              </a:ext>
            </a:extLst>
          </p:cNvPr>
          <p:cNvSpPr/>
          <p:nvPr/>
        </p:nvSpPr>
        <p:spPr>
          <a:xfrm>
            <a:off x="446622" y="4934353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B89B1F59-4A0A-012C-C2B3-C65018D2EA82}"/>
              </a:ext>
            </a:extLst>
          </p:cNvPr>
          <p:cNvSpPr/>
          <p:nvPr/>
        </p:nvSpPr>
        <p:spPr>
          <a:xfrm>
            <a:off x="446622" y="4934353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F81B7B11-989A-E3A2-1360-F69F34C4A288}"/>
              </a:ext>
            </a:extLst>
          </p:cNvPr>
          <p:cNvSpPr/>
          <p:nvPr/>
        </p:nvSpPr>
        <p:spPr>
          <a:xfrm>
            <a:off x="983070" y="4909969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33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FA54EDBA-9FD7-B091-F304-A8E5B02A25B7}"/>
              </a:ext>
            </a:extLst>
          </p:cNvPr>
          <p:cNvSpPr/>
          <p:nvPr/>
        </p:nvSpPr>
        <p:spPr>
          <a:xfrm>
            <a:off x="544158" y="5519569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E85352E0-9182-CC2C-6CC1-38C104143F3D}"/>
              </a:ext>
            </a:extLst>
          </p:cNvPr>
          <p:cNvSpPr/>
          <p:nvPr/>
        </p:nvSpPr>
        <p:spPr>
          <a:xfrm>
            <a:off x="739229" y="5495185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via Median Imputation to maintain data integrity.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1540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75590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68224" y="0"/>
            <a:ext cx="67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914400" y="219456"/>
            <a:ext cx="48768" cy="31699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1121664" y="0"/>
            <a:ext cx="103632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2238" y="1557887"/>
            <a:ext cx="11301984" cy="1159316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3394" y="1498003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4430" y="1484735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430" y="1484735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970878" y="1460351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Approach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31966" y="2069951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727037" y="2045567"/>
            <a:ext cx="888725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"Soft Voting" classifier (The </a:t>
            </a:r>
            <a:r>
              <a:rPr lang="en-US" sz="16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Decider)</a:t>
            </a:r>
            <a:endParaRPr lang="en-US" sz="1400" dirty="0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1C58F079-939E-0D22-2528-8FE8FD0E9B41}"/>
              </a:ext>
            </a:extLst>
          </p:cNvPr>
          <p:cNvSpPr/>
          <p:nvPr/>
        </p:nvSpPr>
        <p:spPr>
          <a:xfrm>
            <a:off x="434430" y="3267097"/>
            <a:ext cx="11301984" cy="1714232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91EB8467-155C-1DC9-9DCC-3A6BE36FA775}"/>
              </a:ext>
            </a:extLst>
          </p:cNvPr>
          <p:cNvSpPr/>
          <p:nvPr/>
        </p:nvSpPr>
        <p:spPr>
          <a:xfrm>
            <a:off x="455586" y="3203986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8B03087-1DA9-D93F-2494-AD291DC99D8F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A0D69BB-9AEC-F413-9650-39D76D60137C}"/>
              </a:ext>
            </a:extLst>
          </p:cNvPr>
          <p:cNvSpPr/>
          <p:nvPr/>
        </p:nvSpPr>
        <p:spPr>
          <a:xfrm>
            <a:off x="446622" y="319071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A5EBD43-9668-D397-983C-13B716C923D9}"/>
              </a:ext>
            </a:extLst>
          </p:cNvPr>
          <p:cNvSpPr/>
          <p:nvPr/>
        </p:nvSpPr>
        <p:spPr>
          <a:xfrm>
            <a:off x="983070" y="3166334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33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250F1B48-9A79-CD16-81AA-DCDC75B9663E}"/>
              </a:ext>
            </a:extLst>
          </p:cNvPr>
          <p:cNvSpPr/>
          <p:nvPr/>
        </p:nvSpPr>
        <p:spPr>
          <a:xfrm>
            <a:off x="544158" y="3775934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BB757519-C477-977F-888B-B00820F68C2D}"/>
              </a:ext>
            </a:extLst>
          </p:cNvPr>
          <p:cNvSpPr/>
          <p:nvPr/>
        </p:nvSpPr>
        <p:spPr>
          <a:xfrm>
            <a:off x="739229" y="3751549"/>
            <a:ext cx="10497671" cy="1109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Excellent for speed and performance.</a:t>
            </a:r>
          </a:p>
          <a:p>
            <a:endParaRPr lang="en-US" sz="1400" dirty="0">
              <a:solidFill>
                <a:srgbClr val="EDE8D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Optimized for speed and large-scale data efficiency</a:t>
            </a:r>
          </a:p>
          <a:p>
            <a:endParaRPr lang="en-US" sz="1400" dirty="0">
              <a:solidFill>
                <a:srgbClr val="EDE8D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Reduces the risk of "overfitting" (the AI memorizing instead of learning)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59537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75590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68224" y="0"/>
            <a:ext cx="67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914400" y="219456"/>
            <a:ext cx="48768" cy="31699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1121664" y="0"/>
            <a:ext cx="103632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"Glass Box" – Explainable AI (XAI)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2238" y="1236448"/>
            <a:ext cx="11301984" cy="1026280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3394" y="1176564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4430" y="1163296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434430" y="116329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4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970878" y="1138912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31966" y="1748512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727037" y="1724128"/>
            <a:ext cx="10640210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Global understanding. It tells us: "Across the whole country, what are the top 3 causes of diabetes?" (Result: BMI, Age, General Health).</a:t>
            </a:r>
            <a:endParaRPr lang="en-US" sz="1400" dirty="0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1C58F079-939E-0D22-2528-8FE8FD0E9B41}"/>
              </a:ext>
            </a:extLst>
          </p:cNvPr>
          <p:cNvSpPr/>
          <p:nvPr/>
        </p:nvSpPr>
        <p:spPr>
          <a:xfrm>
            <a:off x="413274" y="2480032"/>
            <a:ext cx="11301984" cy="975360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91EB8467-155C-1DC9-9DCC-3A6BE36FA775}"/>
              </a:ext>
            </a:extLst>
          </p:cNvPr>
          <p:cNvSpPr/>
          <p:nvPr/>
        </p:nvSpPr>
        <p:spPr>
          <a:xfrm>
            <a:off x="434430" y="2420148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8B03087-1DA9-D93F-2494-AD291DC99D8F}"/>
              </a:ext>
            </a:extLst>
          </p:cNvPr>
          <p:cNvSpPr/>
          <p:nvPr/>
        </p:nvSpPr>
        <p:spPr>
          <a:xfrm>
            <a:off x="425466" y="2406880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A0D69BB-9AEC-F413-9650-39D76D60137C}"/>
              </a:ext>
            </a:extLst>
          </p:cNvPr>
          <p:cNvSpPr/>
          <p:nvPr/>
        </p:nvSpPr>
        <p:spPr>
          <a:xfrm>
            <a:off x="425466" y="2406880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A5EBD43-9668-D397-983C-13B716C923D9}"/>
              </a:ext>
            </a:extLst>
          </p:cNvPr>
          <p:cNvSpPr/>
          <p:nvPr/>
        </p:nvSpPr>
        <p:spPr>
          <a:xfrm>
            <a:off x="983069" y="2493300"/>
            <a:ext cx="7381001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(Local Interpretable Model-agnostic Explanations)</a:t>
            </a:r>
            <a:endParaRPr lang="en-US" sz="1333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250F1B48-9A79-CD16-81AA-DCDC75B9663E}"/>
              </a:ext>
            </a:extLst>
          </p:cNvPr>
          <p:cNvSpPr/>
          <p:nvPr/>
        </p:nvSpPr>
        <p:spPr>
          <a:xfrm>
            <a:off x="523002" y="2992096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BB757519-C477-977F-888B-B00820F68C2D}"/>
              </a:ext>
            </a:extLst>
          </p:cNvPr>
          <p:cNvSpPr/>
          <p:nvPr/>
        </p:nvSpPr>
        <p:spPr>
          <a:xfrm>
            <a:off x="718073" y="2939719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Individual understanding. It tells the doctor: "Patient X is at risk specifically because of their high Blood Pressure, even though their BMI is normal."</a:t>
            </a:r>
            <a:endParaRPr lang="en-US" sz="14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B89B1F59-4A0A-012C-C2B3-C65018D2EA82}"/>
              </a:ext>
            </a:extLst>
          </p:cNvPr>
          <p:cNvSpPr/>
          <p:nvPr/>
        </p:nvSpPr>
        <p:spPr>
          <a:xfrm>
            <a:off x="425466" y="3319811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71" name="Shape 11">
            <a:extLst>
              <a:ext uri="{FF2B5EF4-FFF2-40B4-BE49-F238E27FC236}">
                <a16:creationId xmlns:a16="http://schemas.microsoft.com/office/drawing/2014/main" id="{D5D2732F-711D-FAC6-04B0-D0EE4FEEA1E8}"/>
              </a:ext>
            </a:extLst>
          </p:cNvPr>
          <p:cNvSpPr/>
          <p:nvPr/>
        </p:nvSpPr>
        <p:spPr>
          <a:xfrm>
            <a:off x="392118" y="3729758"/>
            <a:ext cx="11301984" cy="975360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2" name="Shape 12">
            <a:extLst>
              <a:ext uri="{FF2B5EF4-FFF2-40B4-BE49-F238E27FC236}">
                <a16:creationId xmlns:a16="http://schemas.microsoft.com/office/drawing/2014/main" id="{E1C34E3A-F6FB-86A5-119D-B6AA13AAE695}"/>
              </a:ext>
            </a:extLst>
          </p:cNvPr>
          <p:cNvSpPr/>
          <p:nvPr/>
        </p:nvSpPr>
        <p:spPr>
          <a:xfrm>
            <a:off x="413274" y="3669874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3" name="Shape 13">
            <a:extLst>
              <a:ext uri="{FF2B5EF4-FFF2-40B4-BE49-F238E27FC236}">
                <a16:creationId xmlns:a16="http://schemas.microsoft.com/office/drawing/2014/main" id="{AD7EF55B-E451-CFBE-1DDC-0EA57EE8F70B}"/>
              </a:ext>
            </a:extLst>
          </p:cNvPr>
          <p:cNvSpPr/>
          <p:nvPr/>
        </p:nvSpPr>
        <p:spPr>
          <a:xfrm>
            <a:off x="404310" y="3656606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74" name="Text 14">
            <a:extLst>
              <a:ext uri="{FF2B5EF4-FFF2-40B4-BE49-F238E27FC236}">
                <a16:creationId xmlns:a16="http://schemas.microsoft.com/office/drawing/2014/main" id="{FB84F9BC-8947-C50E-4808-D834B18CA1DE}"/>
              </a:ext>
            </a:extLst>
          </p:cNvPr>
          <p:cNvSpPr/>
          <p:nvPr/>
        </p:nvSpPr>
        <p:spPr>
          <a:xfrm>
            <a:off x="404310" y="365660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634C314F-0A86-B015-40EA-5212DBD82471}"/>
              </a:ext>
            </a:extLst>
          </p:cNvPr>
          <p:cNvSpPr/>
          <p:nvPr/>
        </p:nvSpPr>
        <p:spPr>
          <a:xfrm>
            <a:off x="961913" y="3743026"/>
            <a:ext cx="7381001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90/90 Target</a:t>
            </a:r>
            <a:endParaRPr lang="en-US" sz="1333" dirty="0"/>
          </a:p>
        </p:txBody>
      </p:sp>
      <p:sp>
        <p:nvSpPr>
          <p:cNvPr id="76" name="Shape 16">
            <a:extLst>
              <a:ext uri="{FF2B5EF4-FFF2-40B4-BE49-F238E27FC236}">
                <a16:creationId xmlns:a16="http://schemas.microsoft.com/office/drawing/2014/main" id="{9779A4CA-79B0-E966-D81F-CD4C4D935BF1}"/>
              </a:ext>
            </a:extLst>
          </p:cNvPr>
          <p:cNvSpPr/>
          <p:nvPr/>
        </p:nvSpPr>
        <p:spPr>
          <a:xfrm>
            <a:off x="501846" y="4241822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67EFAD5C-4C00-22BB-E2DF-0F92BCE58AE3}"/>
              </a:ext>
            </a:extLst>
          </p:cNvPr>
          <p:cNvSpPr/>
          <p:nvPr/>
        </p:nvSpPr>
        <p:spPr>
          <a:xfrm>
            <a:off x="696917" y="4217438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&gt;90% Accuracy and &gt;90% Interpretability (measured by SHAP consistency).</a:t>
            </a:r>
            <a:endParaRPr lang="en-US" sz="1400" dirty="0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6A8D7237-F412-1A0D-9D35-1BFE8CAEB3FA}"/>
              </a:ext>
            </a:extLst>
          </p:cNvPr>
          <p:cNvSpPr/>
          <p:nvPr/>
        </p:nvSpPr>
        <p:spPr>
          <a:xfrm>
            <a:off x="392118" y="4903957"/>
            <a:ext cx="11301984" cy="975360"/>
          </a:xfrm>
          <a:prstGeom prst="rect">
            <a:avLst/>
          </a:prstGeom>
          <a:solidFill>
            <a:srgbClr val="1E2530"/>
          </a:solidFill>
          <a:ln w="6350">
            <a:solidFill>
              <a:srgbClr val="3A4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9" name="Shape 12">
            <a:extLst>
              <a:ext uri="{FF2B5EF4-FFF2-40B4-BE49-F238E27FC236}">
                <a16:creationId xmlns:a16="http://schemas.microsoft.com/office/drawing/2014/main" id="{0A0C496E-3DC0-0C01-7657-1A4FFAAC4439}"/>
              </a:ext>
            </a:extLst>
          </p:cNvPr>
          <p:cNvSpPr/>
          <p:nvPr/>
        </p:nvSpPr>
        <p:spPr>
          <a:xfrm>
            <a:off x="413274" y="4844073"/>
            <a:ext cx="11280828" cy="450028"/>
          </a:xfrm>
          <a:prstGeom prst="rect">
            <a:avLst/>
          </a:prstGeom>
          <a:solidFill>
            <a:srgbClr val="2B3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0" name="Shape 13">
            <a:extLst>
              <a:ext uri="{FF2B5EF4-FFF2-40B4-BE49-F238E27FC236}">
                <a16:creationId xmlns:a16="http://schemas.microsoft.com/office/drawing/2014/main" id="{C56D53EB-D699-5F11-A5B1-238699CB953E}"/>
              </a:ext>
            </a:extLst>
          </p:cNvPr>
          <p:cNvSpPr/>
          <p:nvPr/>
        </p:nvSpPr>
        <p:spPr>
          <a:xfrm>
            <a:off x="404310" y="4830805"/>
            <a:ext cx="414528" cy="414528"/>
          </a:xfrm>
          <a:prstGeom prst="ellipse">
            <a:avLst/>
          </a:prstGeom>
          <a:solidFill>
            <a:srgbClr val="C9973A"/>
          </a:solidFill>
          <a:ln/>
        </p:spPr>
        <p:txBody>
          <a:bodyPr/>
          <a:lstStyle/>
          <a:p>
            <a:r>
              <a:rPr lang="en-US" dirty="0"/>
              <a:t>!</a:t>
            </a:r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5F31DCD3-FBBF-A45D-481F-20B3F8CACFDB}"/>
              </a:ext>
            </a:extLst>
          </p:cNvPr>
          <p:cNvSpPr/>
          <p:nvPr/>
        </p:nvSpPr>
        <p:spPr>
          <a:xfrm>
            <a:off x="404310" y="4830805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867" dirty="0"/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E11FFF61-B23A-8EE8-6807-A56C3DB5BC39}"/>
              </a:ext>
            </a:extLst>
          </p:cNvPr>
          <p:cNvSpPr/>
          <p:nvPr/>
        </p:nvSpPr>
        <p:spPr>
          <a:xfrm>
            <a:off x="940758" y="4806421"/>
            <a:ext cx="4754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60" dirty="0">
                <a:solidFill>
                  <a:srgbClr val="E5B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Dashboard</a:t>
            </a:r>
            <a:endParaRPr lang="en-US" sz="1333" dirty="0"/>
          </a:p>
        </p:txBody>
      </p:sp>
      <p:sp>
        <p:nvSpPr>
          <p:cNvPr id="83" name="Shape 16">
            <a:extLst>
              <a:ext uri="{FF2B5EF4-FFF2-40B4-BE49-F238E27FC236}">
                <a16:creationId xmlns:a16="http://schemas.microsoft.com/office/drawing/2014/main" id="{C0D64CD5-A0CA-8AF1-40E6-6863E35A1F06}"/>
              </a:ext>
            </a:extLst>
          </p:cNvPr>
          <p:cNvSpPr/>
          <p:nvPr/>
        </p:nvSpPr>
        <p:spPr>
          <a:xfrm>
            <a:off x="501846" y="5416021"/>
            <a:ext cx="73152" cy="46329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84" name="Text 17">
            <a:extLst>
              <a:ext uri="{FF2B5EF4-FFF2-40B4-BE49-F238E27FC236}">
                <a16:creationId xmlns:a16="http://schemas.microsoft.com/office/drawing/2014/main" id="{22AB19A3-215E-B763-0A91-F5F3EAE76C11}"/>
              </a:ext>
            </a:extLst>
          </p:cNvPr>
          <p:cNvSpPr/>
          <p:nvPr/>
        </p:nvSpPr>
        <p:spPr>
          <a:xfrm>
            <a:off x="696917" y="5363644"/>
            <a:ext cx="10497671" cy="56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interface showing "Local Explanations" (why this patient is sick) and "Global Explanations" (what causes diabetes in the general population).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4057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47DE9C-E07A-AD34-2B0F-5CE1AA59CE68}"/>
              </a:ext>
            </a:extLst>
          </p:cNvPr>
          <p:cNvSpPr txBox="1">
            <a:spLocks/>
          </p:cNvSpPr>
          <p:nvPr/>
        </p:nvSpPr>
        <p:spPr>
          <a:xfrm>
            <a:off x="1524000" y="2231032"/>
            <a:ext cx="9144000" cy="1917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98C70F3-DFD6-196E-46DD-59622CF42DCF}"/>
              </a:ext>
            </a:extLst>
          </p:cNvPr>
          <p:cNvSpPr txBox="1">
            <a:spLocks/>
          </p:cNvSpPr>
          <p:nvPr/>
        </p:nvSpPr>
        <p:spPr>
          <a:xfrm>
            <a:off x="1401357" y="3902219"/>
            <a:ext cx="9144000" cy="492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E6A1EAAF-E5E7-9270-4C6F-ADEC91994AAD}"/>
              </a:ext>
            </a:extLst>
          </p:cNvPr>
          <p:cNvSpPr/>
          <p:nvPr/>
        </p:nvSpPr>
        <p:spPr>
          <a:xfrm rot="5400000">
            <a:off x="6042572" y="708571"/>
            <a:ext cx="106859" cy="121920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12810539-5C2E-B47C-1E86-62E3003A74CE}"/>
              </a:ext>
            </a:extLst>
          </p:cNvPr>
          <p:cNvSpPr/>
          <p:nvPr/>
        </p:nvSpPr>
        <p:spPr>
          <a:xfrm rot="5400000">
            <a:off x="6042572" y="717537"/>
            <a:ext cx="106859" cy="12192000"/>
          </a:xfrm>
          <a:prstGeom prst="rect">
            <a:avLst/>
          </a:prstGeom>
          <a:solidFill>
            <a:srgbClr val="C9973A"/>
          </a:solidFill>
          <a:ln/>
        </p:spPr>
      </p:sp>
    </p:spTree>
    <p:extLst>
      <p:ext uri="{BB962C8B-B14F-4D97-AF65-F5344CB8AC3E}">
        <p14:creationId xmlns:p14="http://schemas.microsoft.com/office/powerpoint/2010/main" val="260849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2000" cy="755904"/>
          </a:xfrm>
          <a:prstGeom prst="rect">
            <a:avLst/>
          </a:prstGeom>
          <a:solidFill>
            <a:srgbClr val="1418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73152" cy="75590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268224" y="0"/>
            <a:ext cx="670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914400" y="219456"/>
            <a:ext cx="48768" cy="316992"/>
          </a:xfrm>
          <a:prstGeom prst="rect">
            <a:avLst/>
          </a:prstGeom>
          <a:solidFill>
            <a:srgbClr val="3A4550"/>
          </a:solidFill>
          <a:ln/>
        </p:spPr>
      </p:sp>
      <p:sp>
        <p:nvSpPr>
          <p:cNvPr id="8" name="Text 6"/>
          <p:cNvSpPr/>
          <p:nvPr/>
        </p:nvSpPr>
        <p:spPr>
          <a:xfrm>
            <a:off x="1121664" y="0"/>
            <a:ext cx="103632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750234-2A86-158D-7836-8B5FD245C94B}"/>
              </a:ext>
            </a:extLst>
          </p:cNvPr>
          <p:cNvSpPr/>
          <p:nvPr/>
        </p:nvSpPr>
        <p:spPr>
          <a:xfrm>
            <a:off x="540180" y="1297154"/>
            <a:ext cx="10761804" cy="37888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Need for Explanations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Popular 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cap="none" spc="0" dirty="0">
                <a:ln w="0"/>
                <a:solidFill>
                  <a:schemeClr val="tx1"/>
                </a:solidFill>
              </a:rPr>
              <a:t>Growing interest</a:t>
            </a:r>
          </a:p>
          <a:p>
            <a:pPr>
              <a:lnSpc>
                <a:spcPct val="150000"/>
              </a:lnSpc>
            </a:pPr>
            <a:r>
              <a:rPr lang="en-US" dirty="0"/>
              <a:t>The Problem with Previous Research</a:t>
            </a:r>
            <a:r>
              <a:rPr lang="en-US" dirty="0">
                <a:ln w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They often used only one explanation tool at a time</a:t>
            </a:r>
            <a:endParaRPr lang="en-US" dirty="0">
              <a:ln w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They used small or limited sets of data</a:t>
            </a:r>
            <a:endParaRPr lang="en-US" dirty="0">
              <a:ln w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They didn't always check if the explanations themselves were reliable or useful for real doctors</a:t>
            </a:r>
          </a:p>
          <a:p>
            <a:pPr>
              <a:lnSpc>
                <a:spcPct val="150000"/>
              </a:lnSpc>
            </a:pPr>
            <a:r>
              <a:rPr lang="en-US" dirty="0"/>
              <a:t>A New Approach: Combine several different explanation tools to give more complete and trustworthy result for healthcare workers</a:t>
            </a:r>
            <a:endParaRPr lang="en-US" b="0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07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520</Words>
  <Application>Microsoft Office PowerPoint</Application>
  <PresentationFormat>Widescreen</PresentationFormat>
  <Paragraphs>89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Nhor Povketya</dc:creator>
  <cp:lastModifiedBy>﻿Nhor Povketya</cp:lastModifiedBy>
  <cp:revision>21</cp:revision>
  <dcterms:created xsi:type="dcterms:W3CDTF">2026-03-26T18:00:44Z</dcterms:created>
  <dcterms:modified xsi:type="dcterms:W3CDTF">2026-03-27T10:45:55Z</dcterms:modified>
</cp:coreProperties>
</file>