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2" r:id="rId6"/>
    <p:sldId id="263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25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E5A78">
              <a:alpha val="50000"/>
            </a:srgbClr>
          </a:solidFill>
          <a:ln w="12700">
            <a:solidFill>
              <a:srgbClr val="0E5A7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E5A78">
              <a:alpha val="40000"/>
            </a:srgbClr>
          </a:solidFill>
          <a:ln w="12700">
            <a:solidFill>
              <a:srgbClr val="0E5A7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Feature Grouping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Original Dataset: 21 Features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148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14884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Binary Features (13)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" y="1325880"/>
            <a:ext cx="200253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HighBP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HighChol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CholCheck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Smoker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Stroke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HeartDiseaseorAttack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PhysActivity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Fruits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Veggies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HvyAlcoholConsump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AnyHealthcare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NoDocbcCost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DiffWalk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868680"/>
            <a:ext cx="2148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868680"/>
            <a:ext cx="214884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868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Ordinal / Scale (4)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33472" y="1325880"/>
            <a:ext cx="200253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GenHlth (1–5)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Age (1–13)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Education (1–6)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Income (1–8)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868680"/>
            <a:ext cx="2148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868680"/>
            <a:ext cx="214884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68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Continuous (3)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1325880"/>
            <a:ext cx="200253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BMI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MentHlth (0–30 days)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PhysHlth (0–30 days)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868680"/>
            <a:ext cx="2148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868680"/>
            <a:ext cx="2148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868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14032" y="1325880"/>
            <a:ext cx="200253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E2E"/>
                </a:solidFill>
              </a:rPr>
              <a:t>Diabetes_binary (0/1)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48709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Target: Diabetes_binary →  0 = No Diabetes / Pre-Diabetes   |   1 = Diabetes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Slide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91440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914400" cy="109728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</a:rPr>
              <a:t>Too Many Features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16824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21 variables create high-dimensional complexity that strains model interpretability and training efficiency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23160"/>
            <a:ext cx="9144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23160"/>
            <a:ext cx="914400" cy="109728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231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258775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</a:rPr>
              <a:t>Hard to Explain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29169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Stakeholders including clinicians and patients struggle to understand predictions from raw 21-feature inputs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57600"/>
            <a:ext cx="9144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57600"/>
            <a:ext cx="914400" cy="109728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576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08760" y="382219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</a:rPr>
              <a:t>Feature Correlation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15137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Some features are related to each other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Feature Groups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Slide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</a:rPr>
              <a:t>Group 1 — Demographic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Age · Gender · Education · Income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54864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774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5146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</a:rPr>
              <a:t>Group 2 — Clinical Conditions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Blood pressure · Cholesterol · Stroke · Heart disease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11880"/>
            <a:ext cx="54864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1188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</a:rPr>
              <a:t>Group 3 — Health Status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General health · Physical health · Mental health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143000"/>
            <a:ext cx="54864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4300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12801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</a:rPr>
              <a:t>Group 4 — Lifestyle Behavior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1645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Smoking · Drinking · Exercise · Diet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377440"/>
            <a:ext cx="54864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774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0" y="25146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</a:rPr>
              <a:t>Group 5 — Healthcare Access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28803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Insurance · Cost issue · Doctor check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Three Big Groups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Slide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28346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17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WHO YOU ARE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E0F2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Group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</a:rPr>
              <a:t>Demographic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Age · Gender · Education · Income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17320"/>
            <a:ext cx="2834640" cy="777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417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HEALTH STATE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49040" y="228600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E0F2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</a:rPr>
              <a:t>Groups 2 + 3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651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</a:rPr>
              <a:t>Clinical + Health Status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Blood pressure · Cholesterol · Stroke   · Heart disease · General health · Physical &amp; Mental health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41732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417320"/>
            <a:ext cx="283464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417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</a:rPr>
              <a:t>BEHAVIOR &amp; ACCESS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20840" y="228600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E0F2F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Groups 4 + 5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2651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</a:rPr>
              <a:t>Lifestyle + Healthcare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0175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Smoking · Drinking · Exercise · Diet       · Insurance · Cost issue · Doctor check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Groups?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Slide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0972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</a:rPr>
              <a:t>Simpler Explanation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3 groups are easy to remember. Anyone can understand it fast no confusion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48840"/>
            <a:ext cx="109728" cy="8412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4884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490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</a:rPr>
              <a:t>Suitable for Teachers &amp; Doctors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8775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Matches the vocabulary health professionals use when discussing patient risk factors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08960"/>
            <a:ext cx="109728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0896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</a:rPr>
              <a:t>Reflects Real-World Concepts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5478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In real life, we also think about health in 3 ways: who you are, your health, and your habits</a:t>
            </a:r>
          </a:p>
        </p:txBody>
      </p:sp>
      <p:sp>
        <p:nvSpPr>
          <p:cNvPr id="21" name="Shape 19"/>
          <p:cNvSpPr/>
          <p:nvPr/>
        </p:nvSpPr>
        <p:spPr>
          <a:xfrm>
            <a:off x="320040" y="4069080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69080"/>
            <a:ext cx="10972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06908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416052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</a:rPr>
              <a:t>Better for Decision Making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5079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Clinicians can quickly identify which dimension drives risk: identity, health, or behavior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E5A78">
              <a:alpha val="50000"/>
            </a:srgbClr>
          </a:solidFill>
          <a:ln w="12700">
            <a:solidFill>
              <a:srgbClr val="0E5A78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E5A78">
              <a:alpha val="40000"/>
            </a:srgbClr>
          </a:solidFill>
          <a:ln w="12700">
            <a:solidFill>
              <a:srgbClr val="0E5A7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2004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04672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18872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Feature grouping makes complex data dramatically easier to use and present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804672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084832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Grouped features help explain model predictions to non-technical stakeholders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804672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980944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The dataset is sufficient for behavioral-based diabetes prediction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804672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877056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Adding glucose or HbA1c data could further improve model accuracy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415</Words>
  <Application>Microsoft Office PowerPoint</Application>
  <PresentationFormat>On-screen Show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Using Feature Grouping</dc:title>
  <dc:subject>PptxGenJS Presentation</dc:subject>
  <dc:creator>PptxGenJS</dc:creator>
  <cp:lastModifiedBy>﻿Nhor Povketya</cp:lastModifiedBy>
  <cp:revision>24</cp:revision>
  <dcterms:created xsi:type="dcterms:W3CDTF">2026-04-21T09:54:52Z</dcterms:created>
  <dcterms:modified xsi:type="dcterms:W3CDTF">2026-04-22T16:50:47Z</dcterms:modified>
</cp:coreProperties>
</file>