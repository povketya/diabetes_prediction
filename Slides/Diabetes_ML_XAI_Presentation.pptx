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643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73D55"/>
          </a:solidFill>
          <a:ln w="12700">
            <a:solidFill>
              <a:srgbClr val="073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5029200" cy="182880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B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Transparent &amp; Accurate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B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Explainable AI (XAI)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166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Khokhar, Pentangelo, Palomba, Gravino</a:t>
            </a:r>
            <a:r>
              <a:rPr lang="en-US" sz="14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University of Salerno, Italy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SeSa Lab · Dept. of Computer Science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5212080"/>
            <a:ext cx="1600200" cy="3474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5212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Ensemble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424160" y="5212080"/>
            <a:ext cx="1600200" cy="3474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0" y="5212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/ SHAP / LIME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0" y="5687568"/>
            <a:ext cx="1600200" cy="3474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56875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424160" y="5687568"/>
            <a:ext cx="1600200" cy="3474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0" y="56875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253,680 Patients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6692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685800" cy="685800"/>
          </a:xfrm>
          <a:prstGeom prst="ellipse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early diabetes prediction matters &amp; the AI transparency gap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56692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280160"/>
            <a:ext cx="685800" cy="68580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1600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BRFSS dataset, SMOTE balancing, feature scaling &amp; splitting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6692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108960"/>
            <a:ext cx="685800" cy="685800"/>
          </a:xfrm>
          <a:prstGeom prst="ellipse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Ensemble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429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RF and soft-voting ensemble creation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2834640"/>
            <a:ext cx="56692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108960"/>
            <a:ext cx="685800" cy="68580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3429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92.50% accuracy, ROC-AUC 0.975 — outperforming prior work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56692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937760"/>
            <a:ext cx="685800" cy="685800"/>
          </a:xfrm>
          <a:prstGeom prst="ellipse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937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846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5257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EBM, PDPs, Anchors &amp; Counterfactuals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4663440"/>
            <a:ext cx="56692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4937760"/>
            <a:ext cx="685800" cy="68580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937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4846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0" y="5257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 BMI, General Health, Age, Income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Diabetes Crisis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4864" cy="82296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affected worldwide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1828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 diabetes was among the top 10 causes of death in 2020 (WHO).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4864" cy="82296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complications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disease, neuropathy, retinopathy, and kidney failure.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864" cy="82296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is critical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4114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prediction can prevent serious complications in high-risk individuals.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937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achieves high 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5257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have shown strong predictive performance on patient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59436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914400"/>
            <a:ext cx="5943600" cy="4572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914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0" y="1554480"/>
            <a:ext cx="365760" cy="365760"/>
          </a:xfrm>
          <a:prstGeom prst="ellipse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15087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is rarely addressed — black-box predictions limit clinical use.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52160" y="2468880"/>
            <a:ext cx="365760" cy="365760"/>
          </a:xfrm>
          <a:prstGeom prst="ellipse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24231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use isolated XAI tools on single ML algorithms.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3383280"/>
            <a:ext cx="365760" cy="365760"/>
          </a:xfrm>
          <a:prstGeom prst="ellipse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33375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datasets reduce generalizability of findings.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4297680"/>
            <a:ext cx="365760" cy="365760"/>
          </a:xfrm>
          <a:prstGeom prst="ellipse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42519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comprehensive comparison of XAI algorithm performance quality.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52160" y="5212080"/>
            <a:ext cx="365760" cy="365760"/>
          </a:xfrm>
          <a:prstGeom prst="ellipse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09360" y="51663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balancing global vs. local explainability for healthcare.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06040" cy="128016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251460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253,680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708099"/>
            <a:ext cx="251460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606040" cy="128016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987552"/>
            <a:ext cx="251460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37560" y="1708099"/>
            <a:ext cx="251460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606040" cy="128016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987552"/>
            <a:ext cx="251460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13.07%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72200" y="1708099"/>
            <a:ext cx="251460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914400"/>
            <a:ext cx="2606040" cy="128016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987552"/>
            <a:ext cx="251460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86.93%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06840" y="1708099"/>
            <a:ext cx="251460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Non-diabetic Cases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5303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23160"/>
            <a:ext cx="5303520" cy="41148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23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Clinical Features (BRFSS)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077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(Body Mass Index)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292608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077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Blood Pressure (HighBP)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42900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410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Cholesterol (HighChol)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342900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410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 (PhysActivity)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Health (GenHlth)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393192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(MentHlth)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416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08960" y="443484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4416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93776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919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status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08960" y="493776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4919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Alcohol Consumption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44068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4223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08960" y="5440680"/>
            <a:ext cx="109728" cy="27432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54223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/ Heart Disease history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89320" y="2423160"/>
            <a:ext cx="5760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89320" y="2423160"/>
            <a:ext cx="5760720" cy="41148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2423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080760" y="2944368"/>
            <a:ext cx="384048" cy="384048"/>
          </a:xfrm>
          <a:prstGeom prst="ellipse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65392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65392" y="32004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— robust against outliers, preserves central tendency in healthcare data.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80760" y="3767328"/>
            <a:ext cx="384048" cy="384048"/>
          </a:xfrm>
          <a:prstGeom prst="ellipse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565392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65392" y="40233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zero mean, unit variance. Ensures comparability across BMI, BP, cholesterol.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080760" y="4590288"/>
            <a:ext cx="384048" cy="384048"/>
          </a:xfrm>
          <a:prstGeom prst="ellipse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8076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565392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 (SMOTE)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65392" y="48463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Oversampling: 13.07% diabetic → balanced training set. Prevents bias toward majority class.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080760" y="5413248"/>
            <a:ext cx="384048" cy="384048"/>
          </a:xfrm>
          <a:prstGeom prst="ellipse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8076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565392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565392" y="56692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70% · Validation 15% · Test 15%. Stratified sampling maintains original class ratio.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&amp; Ensemble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594360" cy="594360"/>
          </a:xfrm>
          <a:prstGeom prst="ellipse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124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4904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via bagging; reduces overfitting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143000"/>
            <a:ext cx="594360" cy="59436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0520" y="1124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14904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boosting; handles non-linearity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143000"/>
            <a:ext cx="594360" cy="594360"/>
          </a:xfrm>
          <a:prstGeom prst="ellipse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1124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14904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Fast; efficient on large datasets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98280" y="960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143000"/>
            <a:ext cx="594360" cy="594360"/>
          </a:xfrm>
          <a:prstGeom prst="ellipse">
            <a:avLst/>
          </a:prstGeom>
          <a:solidFill>
            <a:srgbClr val="6B8BA4"/>
          </a:solidFill>
          <a:ln w="12700">
            <a:solidFill>
              <a:srgbClr val="6B8B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21240" y="1124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21240" y="14904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interpretable, baseline model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2743200"/>
            <a:ext cx="594360" cy="594360"/>
          </a:xfrm>
          <a:prstGeom prst="ellipse">
            <a:avLst/>
          </a:prstGeom>
          <a:solidFill>
            <a:srgbClr val="7A5C8F"/>
          </a:solidFill>
          <a:ln w="12700">
            <a:solidFill>
              <a:srgbClr val="7A5C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30906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margin-based classifier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2560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0" y="2743200"/>
            <a:ext cx="594360" cy="59436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60520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60520" y="30906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linear probabilistic model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560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2743200"/>
            <a:ext cx="594360" cy="594360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30906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fast, simple baseline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61120" y="2530182"/>
            <a:ext cx="3611880" cy="1417320"/>
          </a:xfrm>
          <a:prstGeom prst="rect">
            <a:avLst/>
          </a:prstGeom>
          <a:solidFill>
            <a:srgbClr val="F0FBF8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61120" y="2556774"/>
            <a:ext cx="3611880" cy="38404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6840" y="253018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Ensemble (Soft Voting)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006840" y="294166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 + LightGBM — averages prediction probabilities for balanced, robust output.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224528"/>
            <a:ext cx="1127455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224528"/>
            <a:ext cx="11274552" cy="384048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2245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&amp; Validation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" y="4709160"/>
            <a:ext cx="411480" cy="41148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51560" y="4681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Cross-Validation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51560" y="50017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model tuning, prevents overfitting, all folds well-balanced.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37560" y="4709160"/>
            <a:ext cx="411480" cy="41148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840480" y="4681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SearchCV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840480" y="50017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hyperparameter exploration across each model's parameter space.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26480" y="4709160"/>
            <a:ext cx="411480" cy="41148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629400" y="4681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Ensemble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29400" y="50017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model probabilities rather than majority vote — better for class imbalance.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915400" y="4709160"/>
            <a:ext cx="411480" cy="41148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154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418320" y="4681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418320" y="50017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ROC-AUC, Precision, Recall, F1-Score on both validation and test sets.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 (RQ1)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23444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246888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679753"/>
            <a:ext cx="24688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914400"/>
            <a:ext cx="2560320" cy="12344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987552"/>
            <a:ext cx="246888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19272" y="1679753"/>
            <a:ext cx="24688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9904" y="914400"/>
            <a:ext cx="2560320" cy="1234440"/>
          </a:xfrm>
          <a:prstGeom prst="rect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5624" y="987552"/>
            <a:ext cx="246888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35624" y="1679753"/>
            <a:ext cx="24688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06256" y="914400"/>
            <a:ext cx="2560320" cy="1234440"/>
          </a:xfrm>
          <a:prstGeom prst="rect">
            <a:avLst/>
          </a:prstGeom>
          <a:solidFill>
            <a:srgbClr val="7A5C8F"/>
          </a:solidFill>
          <a:ln w="12700">
            <a:solidFill>
              <a:srgbClr val="7A5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1976" y="987552"/>
            <a:ext cx="246888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951976" y="1679753"/>
            <a:ext cx="24688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155680" cy="378561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Val. Acc.(%)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Acc.(%)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Val. 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4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Ensemble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2A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2A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4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4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4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4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4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Methods Used (RQ2)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657600" cy="45720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 ·  Global + Local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Game-theory based. Distributes feature contributions across all possible combinations. Identifies top predictors (BMI, Age, GenHlth).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960120"/>
            <a:ext cx="36576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960120"/>
            <a:ext cx="3657600" cy="45720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960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 ·  Local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Interpretable Model-Agnostic Explanations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Post-hoc, instance-level explanations via heatmaps. Shows which features drove a specific patient prediction.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960120"/>
            <a:ext cx="36576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960120"/>
            <a:ext cx="3657600" cy="457200"/>
          </a:xfrm>
          <a:prstGeom prst="rect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960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EBM  ·  Global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Boosting Machine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192024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high accuracy while remaining interpretable by design. Confirms BMI and GenHlth as highest-priority predictors.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6576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solidFill>
            <a:srgbClr val="7A5C8F"/>
          </a:solidFill>
          <a:ln w="12700">
            <a:solidFill>
              <a:srgbClr val="7A5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 ·  Feature Interactions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Plots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non-linear relationships — e.g., patients with both HighBP and HighChol have extremely high diabetes incidence.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657600"/>
            <a:ext cx="36576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3657600"/>
            <a:ext cx="3657600" cy="4572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 ·  Rule-Based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Explanations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461772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decision boundaries as if-then rules. E.g., 'Low physical activity AND BMI &gt; 30 → High Risk'.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657600"/>
            <a:ext cx="36576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657600"/>
            <a:ext cx="3657600" cy="45720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CFX  ·  Actionable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Explanations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461772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'what if?' — shows minimal feature changes to flip prediction. E.g., reduce BMI or increase activity.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115800" y="960120"/>
            <a:ext cx="640080" cy="5715000"/>
          </a:xfrm>
          <a:prstGeom prst="rect">
            <a:avLst/>
          </a:prstGeom>
          <a:solidFill>
            <a:srgbClr val="EBF4F8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Interpretability — Key Predictors of Diabetes Risk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34640" y="1069848"/>
            <a:ext cx="5029200" cy="320040"/>
          </a:xfrm>
          <a:prstGeom prst="rect">
            <a:avLst/>
          </a:prstGeom>
          <a:solidFill>
            <a:srgbClr val="E2ECF3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069848"/>
            <a:ext cx="4777740" cy="3200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3820" y="10515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4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1051560"/>
            <a:ext cx="2103120" cy="329184"/>
          </a:xfrm>
          <a:prstGeom prst="rect">
            <a:avLst/>
          </a:prstGeom>
          <a:solidFill>
            <a:srgbClr val="FFF0EC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1051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1728216"/>
            <a:ext cx="5029200" cy="320040"/>
          </a:xfrm>
          <a:prstGeom prst="rect">
            <a:avLst/>
          </a:prstGeom>
          <a:solidFill>
            <a:srgbClr val="E2ECF3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728216"/>
            <a:ext cx="4526280" cy="3200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709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1709928"/>
            <a:ext cx="2103120" cy="329184"/>
          </a:xfrm>
          <a:prstGeom prst="rect">
            <a:avLst/>
          </a:prstGeom>
          <a:solidFill>
            <a:srgbClr val="FFF0EC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7099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22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Health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2386584"/>
            <a:ext cx="5029200" cy="320040"/>
          </a:xfrm>
          <a:prstGeom prst="rect">
            <a:avLst/>
          </a:prstGeom>
          <a:solidFill>
            <a:srgbClr val="E2ECF3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386584"/>
            <a:ext cx="4274820" cy="32004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0900" y="23682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2368296"/>
            <a:ext cx="2103120" cy="329184"/>
          </a:xfrm>
          <a:prstGeom prst="rect">
            <a:avLst/>
          </a:prstGeom>
          <a:solidFill>
            <a:srgbClr val="E8F9F5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3682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(protective)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80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3044952"/>
            <a:ext cx="5029200" cy="320040"/>
          </a:xfrm>
          <a:prstGeom prst="rect">
            <a:avLst/>
          </a:prstGeom>
          <a:solidFill>
            <a:srgbClr val="E2ECF3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3044952"/>
            <a:ext cx="3621024" cy="320040"/>
          </a:xfrm>
          <a:prstGeom prst="rect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30266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0" y="3026664"/>
            <a:ext cx="2103120" cy="329184"/>
          </a:xfrm>
          <a:prstGeom prst="rect">
            <a:avLst/>
          </a:prstGeom>
          <a:solidFill>
            <a:srgbClr val="E8F9F5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0266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(protective)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639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34640" y="3703320"/>
            <a:ext cx="5029200" cy="320040"/>
          </a:xfrm>
          <a:prstGeom prst="rect">
            <a:avLst/>
          </a:prstGeom>
          <a:solidFill>
            <a:srgbClr val="E2ECF3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3703320"/>
            <a:ext cx="3419856" cy="320040"/>
          </a:xfrm>
          <a:prstGeom prst="rect">
            <a:avLst/>
          </a:prstGeom>
          <a:solidFill>
            <a:srgbClr val="7A5C8F"/>
          </a:solidFill>
          <a:ln w="12700">
            <a:solidFill>
              <a:srgbClr val="7A5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685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12480" y="3685032"/>
            <a:ext cx="2103120" cy="329184"/>
          </a:xfrm>
          <a:prstGeom prst="rect">
            <a:avLst/>
          </a:prstGeom>
          <a:solidFill>
            <a:srgbClr val="FFF0EC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3685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Health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34640" y="4361688"/>
            <a:ext cx="5029200" cy="320040"/>
          </a:xfrm>
          <a:prstGeom prst="rect">
            <a:avLst/>
          </a:prstGeom>
          <a:solidFill>
            <a:srgbClr val="E2ECF3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4361688"/>
            <a:ext cx="3168396" cy="3200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4476" y="4343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12480" y="4343400"/>
            <a:ext cx="2103120" cy="329184"/>
          </a:xfrm>
          <a:prstGeom prst="rect">
            <a:avLst/>
          </a:prstGeom>
          <a:solidFill>
            <a:srgbClr val="E8F9F5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4343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(protective)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956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834640" y="5020056"/>
            <a:ext cx="5029200" cy="320040"/>
          </a:xfrm>
          <a:prstGeom prst="rect">
            <a:avLst/>
          </a:prstGeom>
          <a:solidFill>
            <a:srgbClr val="E2ECF3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34640" y="5020056"/>
            <a:ext cx="2615184" cy="32004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41264" y="5001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12480" y="5001768"/>
            <a:ext cx="2103120" cy="329184"/>
          </a:xfrm>
          <a:prstGeom prst="rect">
            <a:avLst/>
          </a:prstGeom>
          <a:solidFill>
            <a:srgbClr val="E8F9F5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5001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(protective)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5614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834640" y="5678424"/>
            <a:ext cx="5029200" cy="320040"/>
          </a:xfrm>
          <a:prstGeom prst="rect">
            <a:avLst/>
          </a:prstGeom>
          <a:solidFill>
            <a:srgbClr val="E2ECF3"/>
          </a:solidFill>
          <a:ln w="12700">
            <a:solidFill>
              <a:srgbClr val="E2EC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5678424"/>
            <a:ext cx="2263140" cy="320040"/>
          </a:xfrm>
          <a:prstGeom prst="rect">
            <a:avLst/>
          </a:prstGeom>
          <a:solidFill>
            <a:srgbClr val="6B8BA4"/>
          </a:solidFill>
          <a:ln w="12700">
            <a:solidFill>
              <a:srgbClr val="6B8BA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89220" y="5660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12480" y="5660136"/>
            <a:ext cx="2103120" cy="329184"/>
          </a:xfrm>
          <a:prstGeom prst="rect">
            <a:avLst/>
          </a:prstGeom>
          <a:solidFill>
            <a:srgbClr val="EBF4F8"/>
          </a:solidFill>
          <a:ln w="12700">
            <a:solidFill>
              <a:srgbClr val="D0E4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56601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698480" y="960120"/>
            <a:ext cx="1188720" cy="5806440"/>
          </a:xfrm>
          <a:prstGeom prst="rect">
            <a:avLst/>
          </a:prstGeom>
          <a:solidFill>
            <a:srgbClr val="FFF8F0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0698480" y="960120"/>
            <a:ext cx="1188720" cy="38404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716768" y="9601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716768" y="1417320"/>
            <a:ext cx="10972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EBM &amp; Permutation Importance all agree: BMI + General Health + Physical Health are the most critical predictors — consistent with clinical expertise.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factors matter as much as clinical biomarkers.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Interpretability &amp; Feature Interactions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9496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394960" cy="41148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Patient-Level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patient, LIME identifies which features drove the prediction: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GenHlth &gt; 1.15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956816"/>
            <a:ext cx="2720340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-0.34 &lt; Age ≤ 0.32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459736"/>
            <a:ext cx="2400300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&lt; BMI ≤ 0.70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962656"/>
            <a:ext cx="1800225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29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HighChol ≤ 1.17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3465576"/>
            <a:ext cx="1200150" cy="25603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31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HighBP ≤ 1.15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996115"/>
            <a:ext cx="1000125" cy="25603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34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≤ -0.99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91256" y="4471416"/>
            <a:ext cx="800100" cy="25603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37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PhysHlth ≤ -0.49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4973403"/>
            <a:ext cx="720090" cy="25603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40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≤ 0.96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5477256"/>
            <a:ext cx="480060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Increases risk    ■ Decreases risk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914400"/>
            <a:ext cx="56235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914400"/>
            <a:ext cx="5623560" cy="41148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91440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Force / Waterfall Plot Insights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1444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GenHlth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1444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8116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18562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+0.245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81160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2267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+1.154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8116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2679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2679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-2.44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81160" y="2679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lowers risk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HighChol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30906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+1.165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8116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80760" y="3794760"/>
            <a:ext cx="56235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3794760"/>
            <a:ext cx="5623560" cy="41148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79476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Explanations — Actionable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126480" y="4315968"/>
            <a:ext cx="54864" cy="29260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42976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BMI (coefficient 0.24) → lowers risk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26480" y="4773168"/>
            <a:ext cx="54864" cy="29260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47548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Physical Activity (0.57) → lowers risk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5230368"/>
            <a:ext cx="54864" cy="29260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52120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General Health score (1.39) → major reduction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26480" y="5687568"/>
            <a:ext cx="54864" cy="29260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56692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High BP (1.15) → significant risk reduction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26480" y="6144768"/>
            <a:ext cx="54864" cy="29260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61264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heavy alcohol intake (-0.24) → helps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Metrics — Quality &amp; Reliability (RQ4)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011680" cy="384048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4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accurately represent the model's original predictions and behaviour.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06624" y="9144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06624" y="914400"/>
            <a:ext cx="2011680" cy="38404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2344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52344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98064" y="23774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reflect the model's underlying mechanisms — real insights into decision-making.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56048" y="9144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56048" y="914400"/>
            <a:ext cx="2011680" cy="384048"/>
          </a:xfrm>
          <a:prstGeom prst="rect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01768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6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047488" y="23774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features used while retaining relevance — exposes the most impactful variables.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05472" y="9144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05472" y="914400"/>
            <a:ext cx="2011680" cy="384048"/>
          </a:xfrm>
          <a:prstGeom prst="rect">
            <a:avLst/>
          </a:prstGeom>
          <a:solidFill>
            <a:srgbClr val="7A5C8F"/>
          </a:solidFill>
          <a:ln w="12700">
            <a:solidFill>
              <a:srgbClr val="7A5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51192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51192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A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5.35e-5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296912" y="23774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inputs produce similar explanations — critical for consistent clinical use.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54896" y="9144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54896" y="914400"/>
            <a:ext cx="2011680" cy="38404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0616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00616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546336" y="23774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agrees across models and conditions — supports generalizability.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112745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297680"/>
            <a:ext cx="11274552" cy="384048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976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Metrics Mean for Clinical Use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metrics confirm that the XAI system is </a:t>
            </a:r>
            <a:r>
              <a:rPr lang="en-US" sz="1200" b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>
                <a:solidFill>
                  <a:srgbClr val="0A4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2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real-world diabetes diagnosis. High fidelity + faithfulness = clinicians can rely on explanations. Low stability score = highly stable outputs. Sparsity keeps explanations concise and usable.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— This Study vs. Prior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286000" cy="804672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60120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80360" y="960120"/>
            <a:ext cx="4206240" cy="804672"/>
          </a:xfrm>
          <a:prstGeom prst="rect">
            <a:avLst/>
          </a:prstGeom>
          <a:solidFill>
            <a:srgbClr val="FFF8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80360" y="960120"/>
            <a:ext cx="73152" cy="80467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0058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70%–91% accuracy depending on dataset and model (logistic regression, decision trees, RF)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78040" y="1234440"/>
            <a:ext cx="457200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26680" y="960120"/>
            <a:ext cx="3977640" cy="804672"/>
          </a:xfrm>
          <a:prstGeom prst="rect">
            <a:avLst/>
          </a:prstGeom>
          <a:solidFill>
            <a:srgbClr val="EEF9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26680" y="960120"/>
            <a:ext cx="73152" cy="8046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005840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Study: 92.50% accuracy + ROC-AUC 0.975 using ensemble of XGBoost, LightGBM, RF with SMOTE balancing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92808"/>
            <a:ext cx="2286000" cy="804672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892808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1892808"/>
            <a:ext cx="4206240" cy="804672"/>
          </a:xfrm>
          <a:prstGeom prst="rect">
            <a:avLst/>
          </a:prstGeom>
          <a:solidFill>
            <a:srgbClr val="FFF8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80360" y="1892808"/>
            <a:ext cx="73152" cy="80467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93852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Limited to individual tools like SHAP alone, or XAI ignored entirely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78040" y="2167128"/>
            <a:ext cx="457200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167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26680" y="1892808"/>
            <a:ext cx="3977640" cy="804672"/>
          </a:xfrm>
          <a:prstGeom prst="rect">
            <a:avLst/>
          </a:prstGeom>
          <a:solidFill>
            <a:srgbClr val="EEF9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26680" y="1892808"/>
            <a:ext cx="73152" cy="8046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938528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Study: Comprehensive integration: SHAP (global) + LIME (local) + Anchors (rules) + Counterfactuals (actions) + EBM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25496"/>
            <a:ext cx="2286000" cy="804672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825496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80360" y="2825496"/>
            <a:ext cx="4206240" cy="804672"/>
          </a:xfrm>
          <a:prstGeom prst="rect">
            <a:avLst/>
          </a:prstGeom>
          <a:solidFill>
            <a:srgbClr val="FFF8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880360" y="2825496"/>
            <a:ext cx="73152" cy="80467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28712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Focused on BMI, age, glucose levels only (narrow clinical view)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3099816"/>
            <a:ext cx="457200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3099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26680" y="2825496"/>
            <a:ext cx="3977640" cy="804672"/>
          </a:xfrm>
          <a:prstGeom prst="rect">
            <a:avLst/>
          </a:prstGeom>
          <a:solidFill>
            <a:srgbClr val="EEF9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26680" y="2825496"/>
            <a:ext cx="73152" cy="8046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2871216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Study: Broadened to include lifestyle: physical activity, general health, income, education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58184"/>
            <a:ext cx="2286000" cy="804672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758184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vs Transparency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3758184"/>
            <a:ext cx="4206240" cy="804672"/>
          </a:xfrm>
          <a:prstGeom prst="rect">
            <a:avLst/>
          </a:prstGeom>
          <a:solidFill>
            <a:srgbClr val="FFF8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880360" y="3758184"/>
            <a:ext cx="73152" cy="80467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380390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Sacrifice interpretability for accuracy (ensemble) OR accuracy for interpretability (DT)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78040" y="4032504"/>
            <a:ext cx="457200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4032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726680" y="3758184"/>
            <a:ext cx="3977640" cy="804672"/>
          </a:xfrm>
          <a:prstGeom prst="rect">
            <a:avLst/>
          </a:prstGeom>
          <a:solidFill>
            <a:srgbClr val="EEF9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726680" y="3758184"/>
            <a:ext cx="73152" cy="8046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3803904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Study: Balanced: ensemble models + post-hoc XAI (SHAP, LIME) + inherently interpretable EBM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690872"/>
            <a:ext cx="2286000" cy="804672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4690872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880360" y="4690872"/>
            <a:ext cx="4206240" cy="804672"/>
          </a:xfrm>
          <a:prstGeom prst="rect">
            <a:avLst/>
          </a:prstGeom>
          <a:solidFill>
            <a:srgbClr val="FFF8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880360" y="4690872"/>
            <a:ext cx="73152" cy="80467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473659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Feature attribution only — no recommendations for patient interventions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78040" y="4965192"/>
            <a:ext cx="457200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040" y="4965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726680" y="4690872"/>
            <a:ext cx="3977640" cy="804672"/>
          </a:xfrm>
          <a:prstGeom prst="rect">
            <a:avLst/>
          </a:prstGeom>
          <a:solidFill>
            <a:srgbClr val="EEF9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726680" y="4690872"/>
            <a:ext cx="73152" cy="8046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4736592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Study: Counterfactual explanations: specific changes (reduce BMI, increase activity) that alter risk class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5623560"/>
            <a:ext cx="2286000" cy="804672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" y="5623560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880360" y="5623560"/>
            <a:ext cx="4206240" cy="804672"/>
          </a:xfrm>
          <a:prstGeom prst="rect">
            <a:avLst/>
          </a:prstGeom>
          <a:solidFill>
            <a:srgbClr val="FFF8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880360" y="5623560"/>
            <a:ext cx="73152" cy="80467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56692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Heavy reliance on small PIMA Indians dataset; limited applicability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78040" y="5897880"/>
            <a:ext cx="457200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040" y="5897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726680" y="5623560"/>
            <a:ext cx="3977640" cy="804672"/>
          </a:xfrm>
          <a:prstGeom prst="rect">
            <a:avLst/>
          </a:prstGeom>
          <a:solidFill>
            <a:srgbClr val="EEF9F6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726680" y="5623560"/>
            <a:ext cx="73152" cy="8046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0" y="5669280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Study: 253,680 patients from BRFSS (CDC); advocates external validation on NHANES + multimodal data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Directions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69951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6995160" cy="411480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320040" cy="32004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 (RF + XGBoost + LightGBM) achieves 92.50% accuracy and ROC-AUC 0.975 — best among all models.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20040" cy="32004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General Health, Age, and Physical Activity are the most influential diabetes risk predictors.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95728"/>
            <a:ext cx="320040" cy="32004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36829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SHAP + LIME + EBM + Anchors provides the best balance of global and local interpretability.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320040" cy="32004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4378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metrics (fidelity 0.744, faithfulness 0.709) confirm predictions are trustworthy for clinical use.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46704"/>
            <a:ext cx="320040" cy="32004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46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3192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explanations translate model outputs into actionable patient recommendations.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69951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14800"/>
            <a:ext cx="6995160" cy="38404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14800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59028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SMOTE-synthesized data may not fully capture real-world class imbalance complexities.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157216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 computational requirements limit direct clinical deployment.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724144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Social factors (income, education) included but broader demographic validation needed.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26680" y="914400"/>
            <a:ext cx="397764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26680" y="914400"/>
            <a:ext cx="3977640" cy="411480"/>
          </a:xfrm>
          <a:prstGeom prst="rect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9144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818120" y="1444752"/>
            <a:ext cx="384048" cy="384048"/>
          </a:xfrm>
          <a:prstGeom prst="ellipse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84464" y="147218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NHANES and other diverse datasets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18120" y="2157984"/>
            <a:ext cx="384048" cy="384048"/>
          </a:xfrm>
          <a:prstGeom prst="ellipse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84464" y="21854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data integration (imaging + tabular + continuous monitoring)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18120" y="2871216"/>
            <a:ext cx="384048" cy="384048"/>
          </a:xfrm>
          <a:prstGeom prst="ellipse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84464" y="28986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computational cost for real-time clinical deployment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18120" y="3584448"/>
            <a:ext cx="384048" cy="384048"/>
          </a:xfrm>
          <a:prstGeom prst="ellipse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84464" y="3611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Electronic Health Records (EHRs)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818120" y="4297680"/>
            <a:ext cx="384048" cy="384048"/>
          </a:xfrm>
          <a:prstGeom prst="ellipse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84464" y="43251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model for different demographic groups and healthcare settings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818120" y="5010912"/>
            <a:ext cx="384048" cy="384048"/>
          </a:xfrm>
          <a:prstGeom prst="ellipse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1812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84464" y="50383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framework to other chronic diseases (hypertension, obesity)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818120" y="5724144"/>
            <a:ext cx="384048" cy="384048"/>
          </a:xfrm>
          <a:prstGeom prst="ellipse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8120" y="5724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84464" y="575157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telemedicine-ready AI-driven personalized care tools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4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73D55"/>
          </a:solidFill>
          <a:ln w="12700">
            <a:solidFill>
              <a:srgbClr val="073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4114800" cy="155448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· Accurate · Actionable Diabetes Prediction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0" y="3108960"/>
            <a:ext cx="1828800" cy="1463040"/>
          </a:xfrm>
          <a:prstGeom prst="rect">
            <a:avLst/>
          </a:prstGeom>
          <a:solidFill>
            <a:srgbClr val="0D3D55"/>
          </a:solidFill>
          <a:ln w="12700">
            <a:solidFill>
              <a:srgbClr val="0D3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154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3108960"/>
            <a:ext cx="1828800" cy="1463040"/>
          </a:xfrm>
          <a:prstGeom prst="rect">
            <a:avLst/>
          </a:prstGeom>
          <a:solidFill>
            <a:srgbClr val="0D3D55"/>
          </a:solidFill>
          <a:ln w="12700">
            <a:solidFill>
              <a:srgbClr val="0D3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3154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319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108960"/>
            <a:ext cx="1828800" cy="1463040"/>
          </a:xfrm>
          <a:prstGeom prst="rect">
            <a:avLst/>
          </a:prstGeom>
          <a:solidFill>
            <a:srgbClr val="0D3D55"/>
          </a:solidFill>
          <a:ln w="12700">
            <a:solidFill>
              <a:srgbClr val="0D3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154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XAI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3108960"/>
            <a:ext cx="1828800" cy="1463040"/>
          </a:xfrm>
          <a:prstGeom prst="rect">
            <a:avLst/>
          </a:prstGeom>
          <a:solidFill>
            <a:srgbClr val="0D3D55"/>
          </a:solidFill>
          <a:ln w="12700">
            <a:solidFill>
              <a:srgbClr val="0D3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3154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253K+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039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486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Khokhar · Pentangelo · Palomba · Gravino  |  University of Salerno  |  SeSa Lab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1676</Words>
  <Application>Microsoft Office PowerPoint</Application>
  <PresentationFormat>Widescreen</PresentationFormat>
  <Paragraphs>385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using ML &amp; XAI</dc:title>
  <dc:subject>PptxGenJS Presentation</dc:subject>
  <dc:creator>Research Summary</dc:creator>
  <cp:lastModifiedBy>﻿Nhor Povketya</cp:lastModifiedBy>
  <cp:revision>3</cp:revision>
  <dcterms:created xsi:type="dcterms:W3CDTF">2026-03-26T04:39:34Z</dcterms:created>
  <dcterms:modified xsi:type="dcterms:W3CDTF">2026-03-26T08:22:40Z</dcterms:modified>
</cp:coreProperties>
</file>