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2" r:id="rId4"/>
    <p:sldId id="266" r:id="rId5"/>
    <p:sldId id="269" r:id="rId6"/>
    <p:sldId id="267" r:id="rId7"/>
    <p:sldId id="268" r:id="rId8"/>
    <p:sldId id="265" r:id="rId9"/>
    <p:sldId id="290" r:id="rId10"/>
    <p:sldId id="278" r:id="rId11"/>
    <p:sldId id="279" r:id="rId12"/>
    <p:sldId id="280" r:id="rId13"/>
    <p:sldId id="261" r:id="rId14"/>
    <p:sldId id="281" r:id="rId15"/>
    <p:sldId id="282" r:id="rId16"/>
    <p:sldId id="283" r:id="rId17"/>
    <p:sldId id="263" r:id="rId18"/>
    <p:sldId id="284" r:id="rId19"/>
    <p:sldId id="287" r:id="rId20"/>
    <p:sldId id="291" r:id="rId21"/>
    <p:sldId id="286" r:id="rId22"/>
    <p:sldId id="288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10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group contribution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80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719-402C-9703-D7B6D423C5AA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19-402C-9703-D7B6D423C5AA}"/>
              </c:ext>
            </c:extLst>
          </c:dPt>
          <c:dPt>
            <c:idx val="2"/>
            <c:bubble3D val="0"/>
            <c:spPr>
              <a:solidFill>
                <a:srgbClr val="2FAA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719-402C-9703-D7B6D423C5AA}"/>
              </c:ext>
            </c:extLst>
          </c:dPt>
          <c:cat>
            <c:strRef>
              <c:f>Sheet1!$A$2:$A$4</c:f>
              <c:strCache>
                <c:ptCount val="3"/>
                <c:pt idx="0">
                  <c:v>Health Status</c:v>
                </c:pt>
                <c:pt idx="1">
                  <c:v>Lifestyle &amp; Healthcare Access</c:v>
                </c:pt>
                <c:pt idx="2">
                  <c:v>Demographic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25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719-402C-9703-D7B6D423C5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98D-459B-82BE-E52AEDBC0D48}"/>
              </c:ext>
            </c:extLst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8D-459B-82BE-E52AEDBC0D48}"/>
              </c:ext>
            </c:extLst>
          </c:dPt>
          <c:cat>
            <c:strRef>
              <c:f>Sheet1!$A$2:$A$3</c:f>
              <c:strCache>
                <c:ptCount val="2"/>
                <c:pt idx="0">
                  <c:v>Class 0</c:v>
                </c:pt>
                <c:pt idx="1">
                  <c:v>Class 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650997</c:v>
                </c:pt>
                <c:pt idx="1">
                  <c:v>119922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98D-459B-82BE-E52AEDBC0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data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2015</c:v>
                </c:pt>
                <c:pt idx="1">
                  <c:v>2017</c:v>
                </c:pt>
                <c:pt idx="2">
                  <c:v>2019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253680</c:v>
                </c:pt>
                <c:pt idx="1">
                  <c:v>450000</c:v>
                </c:pt>
                <c:pt idx="2">
                  <c:v>418000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B1-468A-A426-506856B51B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Clean binary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2015</c:v>
                </c:pt>
                <c:pt idx="1">
                  <c:v>2017</c:v>
                </c:pt>
                <c:pt idx="2">
                  <c:v>2019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253680</c:v>
                </c:pt>
                <c:pt idx="1">
                  <c:v>275746</c:v>
                </c:pt>
                <c:pt idx="2">
                  <c:v>240493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B1-468A-A426-506856B51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class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0EE-4175-9FCD-8D64B1E1701F}"/>
              </c:ext>
            </c:extLst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EE-4175-9FCD-8D64B1E1701F}"/>
              </c:ext>
            </c:extLst>
          </c:dPt>
          <c:cat>
            <c:strRef>
              <c:f>Sheet1!$A$2:$A$3</c:f>
              <c:strCache>
                <c:ptCount val="2"/>
                <c:pt idx="0">
                  <c:v>Class 0: No diabetes</c:v>
                </c:pt>
                <c:pt idx="1">
                  <c:v>Class 1: Risk group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650997</c:v>
                </c:pt>
                <c:pt idx="1">
                  <c:v>119922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EE-4175-9FCD-8D64B1E170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25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54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probability is the model confidence of diabetes risk. Risk levels are a communication layer, not a medical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BMI, age, and physical activity because the paper identifies BMI, general health, age, and physical activity as important contributors.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grouping reduces complexity. Instead of showing many columns, we summarize the reason into three understandable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audience that recommendations should be safe and general, such as exercise, healthy diet, and check-up. It should not be a final medical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final report format. It is the most important slide for explaining the extended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final report format. It is the most important slide for explaining the extended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412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882896"/>
            <a:ext cx="85725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7190" y="4924044"/>
            <a:ext cx="2331720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XAI Diabetes Risk Prediction</a:t>
            </a:r>
            <a:endParaRPr lang="en-US" sz="56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69630" y="4924044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63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3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c.gov/brfss/annual_data/annual_data.htm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datasets/alexteboul/diabetes-health-indicators-dataset/data" TargetMode="External"/><Relationship Id="rId5" Type="http://schemas.openxmlformats.org/officeDocument/2006/relationships/hyperlink" Target="https://www.cdc.gov/brfss/annual_data/annual_2019.html" TargetMode="External"/><Relationship Id="rId4" Type="http://schemas.openxmlformats.org/officeDocument/2006/relationships/hyperlink" Target="https://www.cdc.gov/brfss/annual_data/annual_2017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E5A78">
              <a:alpha val="50000"/>
            </a:srgbClr>
          </a:solidFill>
          <a:ln w="12700">
            <a:solidFill>
              <a:srgbClr val="0E5A78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E5A78">
              <a:alpha val="40000"/>
            </a:srgbClr>
          </a:solidFill>
          <a:ln w="12700">
            <a:solidFill>
              <a:srgbClr val="0E5A7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Feature Grouping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1148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94CDE4-79E3-33EC-59B9-555BA969800F}"/>
              </a:ext>
            </a:extLst>
          </p:cNvPr>
          <p:cNvSpPr txBox="1"/>
          <p:nvPr/>
        </p:nvSpPr>
        <p:spPr>
          <a:xfrm>
            <a:off x="263769" y="4720080"/>
            <a:ext cx="253570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100"/>
              </a:spcBef>
            </a:pPr>
            <a:r>
              <a:rPr lang="en-US" sz="1400" dirty="0">
                <a:solidFill>
                  <a:srgbClr val="FFFFFF"/>
                </a:solidFill>
              </a:rPr>
              <a:t>24/April/2026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Original Dataset: 21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148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" y="1269608"/>
            <a:ext cx="200253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HighBP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HighChol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CholCheck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Smoker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Stroke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HeartDiseaseorAttack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PhysActivity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Fruits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Veggies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HvyAlcoholConsump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AnyHealthcare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NoDocbcCost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DiffWalk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868680"/>
            <a:ext cx="2148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33472" y="1269608"/>
            <a:ext cx="200253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GenHlth (1–5)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Age (1–13)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Education (1–6)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Income (1–8)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868680"/>
            <a:ext cx="2148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9472" y="1269608"/>
            <a:ext cx="200253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BMI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MentHlth (0–30 days)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PhysHlth (0–30 days)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812408"/>
            <a:ext cx="2148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67728" y="229373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highlight>
                  <a:srgbClr val="FFFF00"/>
                </a:highlight>
              </a:rPr>
              <a:t>Target Variable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14032" y="1325880"/>
            <a:ext cx="200253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Diabetes_binary (0/1)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48709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Target: Diabetes_binary →  0 = No Diabetes / Pre-Diabetes   |   1 = Diabetes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Big Groups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28346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17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</a:rPr>
              <a:t>Demographic</a:t>
            </a:r>
          </a:p>
        </p:txBody>
      </p:sp>
      <p:sp>
        <p:nvSpPr>
          <p:cNvPr id="13" name="Text 11"/>
          <p:cNvSpPr/>
          <p:nvPr/>
        </p:nvSpPr>
        <p:spPr>
          <a:xfrm>
            <a:off x="411480" y="2314133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Age · Gender · Education · Income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141732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17320"/>
            <a:ext cx="2834640" cy="777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417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</a:rPr>
              <a:t>HEALTH STATUS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83280" y="2314133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Blood pressure · Cholesterol · Stroke · Heart disease · General health · Physical &amp; Mental health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141732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417320"/>
            <a:ext cx="283464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417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</a:rPr>
              <a:t>Lifestyle &amp; Healthcare Access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2314133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Smoking · Drinking · Exercise · Diet · Insurance · Cost issue · Doctor check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50316"/>
            <a:ext cx="3037819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Bef>
                <a:spcPts val="100"/>
              </a:spcBef>
            </a:pPr>
            <a:r>
              <a:rPr sz="2200" b="1" dirty="0">
                <a:solidFill>
                  <a:srgbClr val="FFFFFF"/>
                </a:solidFill>
              </a:rPr>
              <a:t>EDA  —  Class Imbalance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387862" cy="47548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39" y="937148"/>
            <a:ext cx="7828671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100"/>
              </a:spcBef>
            </a:pPr>
            <a:r>
              <a:rPr lang="en-US" sz="1600" b="1" dirty="0">
                <a:solidFill>
                  <a:srgbClr val="FFFFFF"/>
                </a:solidFill>
              </a:rPr>
              <a:t>Data Overview (Imbalance)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E01947-CE34-7314-6367-4C01FBCBD9C9}"/>
              </a:ext>
            </a:extLst>
          </p:cNvPr>
          <p:cNvSpPr txBox="1"/>
          <p:nvPr/>
        </p:nvSpPr>
        <p:spPr>
          <a:xfrm>
            <a:off x="463550" y="4644121"/>
            <a:ext cx="8342142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/>
              <a:t>The dataset is imbalance Use SMOTE to balance training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D95DDE-267E-3520-AC5D-9FB614E90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1" y="1464451"/>
            <a:ext cx="7528456" cy="30293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50316"/>
            <a:ext cx="3037819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Bef>
                <a:spcPts val="100"/>
              </a:spcBef>
            </a:pPr>
            <a:r>
              <a:rPr sz="2200" b="1" dirty="0">
                <a:solidFill>
                  <a:srgbClr val="FFFFFF"/>
                </a:solidFill>
              </a:rPr>
              <a:t>EDA  —  Class Imbalance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387862" cy="47548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39" y="937148"/>
            <a:ext cx="7828671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100"/>
              </a:spcBef>
            </a:pPr>
            <a:r>
              <a:rPr lang="en-US" sz="1600" b="1" dirty="0">
                <a:solidFill>
                  <a:srgbClr val="FFFFFF"/>
                </a:solidFill>
              </a:rPr>
              <a:t>Data Overview (Imbalance)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79D97C-59C0-A94D-5CC3-938D0569E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86" y="1547262"/>
            <a:ext cx="7695028" cy="303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29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50316"/>
            <a:ext cx="2796599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Bef>
                <a:spcPts val="100"/>
              </a:spcBef>
            </a:pPr>
            <a:r>
              <a:rPr sz="2200" b="1" dirty="0">
                <a:solidFill>
                  <a:srgbClr val="FFFFFF"/>
                </a:solidFill>
              </a:rPr>
              <a:t>EDA </a:t>
            </a:r>
            <a:r>
              <a:rPr lang="en-US" sz="2200" b="1" dirty="0">
                <a:solidFill>
                  <a:srgbClr val="FFFFFF"/>
                </a:solidFill>
              </a:rPr>
              <a:t>– Key Risk Factors</a:t>
            </a:r>
            <a:endParaRPr sz="22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1581912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9914" y="914400"/>
            <a:ext cx="864108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BMI vs Diabetes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182880" y="1646623"/>
            <a:ext cx="8641080" cy="3143426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9914" y="1844197"/>
            <a:ext cx="4740812" cy="1615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100" b="0" dirty="0">
                <a:effectLst/>
                <a:latin typeface="Consolas" panose="020B0609020204030204" pitchFamily="49" charset="0"/>
              </a:rPr>
              <a:t># average BMI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avg_bmi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df.groupby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('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Diabetes_binary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')['BMI'].mean()</a:t>
            </a:r>
          </a:p>
          <a:p>
            <a:br>
              <a:rPr lang="en-US" sz="1100" b="0" dirty="0"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effectLst/>
                <a:latin typeface="Consolas" panose="020B0609020204030204" pitchFamily="49" charset="0"/>
              </a:rPr>
              <a:t># plot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avg_bmi.plot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(kind='bar')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plt.xticks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([0,1], ['Non-Diabetic', 'Diabetic'], rotation=0)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plt.ylabel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("Average BMI")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plt.title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("Average BMI by Diabetes Status")</a:t>
            </a:r>
          </a:p>
          <a:p>
            <a:r>
              <a:rPr lang="en-US" sz="1100" b="0" dirty="0" err="1">
                <a:effectLst/>
                <a:latin typeface="Consolas" panose="020B0609020204030204" pitchFamily="49" charset="0"/>
              </a:rPr>
              <a:t>plt.show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D4FE0D-9B0B-4ABD-AC07-D9E1E26F3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218" y="1399735"/>
            <a:ext cx="4297680" cy="3483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50316"/>
            <a:ext cx="2796599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Bef>
                <a:spcPts val="100"/>
              </a:spcBef>
            </a:pPr>
            <a:r>
              <a:rPr lang="en-US" sz="2200" b="1" dirty="0">
                <a:solidFill>
                  <a:srgbClr val="FFFFFF"/>
                </a:solidFill>
              </a:rPr>
              <a:t>EDA – Key Risk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1581912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9914" y="914400"/>
            <a:ext cx="864108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Age VS Diabetes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182880" y="1646623"/>
            <a:ext cx="8641080" cy="3143426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7075" y="2201134"/>
            <a:ext cx="4378568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400" b="0" dirty="0" err="1">
                <a:effectLst/>
                <a:latin typeface="Consolas" panose="020B0609020204030204" pitchFamily="49" charset="0"/>
              </a:rPr>
              <a:t>plt.figure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400" b="0" dirty="0" err="1">
                <a:effectLst/>
                <a:latin typeface="Consolas" panose="020B0609020204030204" pitchFamily="49" charset="0"/>
              </a:rPr>
              <a:t>sns.countplot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(x='Age', hue='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Diabetes_binary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', data=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df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 err="1">
                <a:effectLst/>
                <a:latin typeface="Consolas" panose="020B0609020204030204" pitchFamily="49" charset="0"/>
              </a:rPr>
              <a:t>plt.title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("Age vs Diabetes")</a:t>
            </a:r>
          </a:p>
          <a:p>
            <a:r>
              <a:rPr lang="en-US" sz="1400" b="0" dirty="0" err="1">
                <a:effectLst/>
                <a:latin typeface="Consolas" panose="020B0609020204030204" pitchFamily="49" charset="0"/>
              </a:rPr>
              <a:t>plt.show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72644C-4F71-3824-4E6B-514D69E4E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612" y="1414500"/>
            <a:ext cx="4740813" cy="368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59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15100" y="-822960"/>
            <a:ext cx="4114800" cy="4114800"/>
          </a:xfrm>
          <a:prstGeom prst="ellipse">
            <a:avLst/>
          </a:prstGeom>
          <a:solidFill>
            <a:srgbClr val="0E7490">
              <a:alpha val="40000"/>
            </a:srgbClr>
          </a:solidFill>
          <a:ln w="12700">
            <a:solidFill>
              <a:srgbClr val="0E74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086100"/>
            <a:ext cx="3429000" cy="34290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7543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3200" b="1" kern="0" spc="4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37310"/>
            <a:ext cx="75438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2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Diabetes Risk Prediction</a:t>
            </a:r>
            <a:endParaRPr lang="en-US" sz="2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400300" y="2194560"/>
            <a:ext cx="432054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69180"/>
            <a:ext cx="9141714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" y="0"/>
            <a:ext cx="9143771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7472" y="253337"/>
            <a:ext cx="5944874" cy="367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B1F3A"/>
                </a:solidFill>
              </a:rPr>
              <a:t>Royal University of Phnom Penh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7472" y="674234"/>
            <a:ext cx="6036333" cy="65151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Faculty of Engineering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64748B"/>
                </a:solidFill>
              </a:rPr>
              <a:t>Department of Data Science and Engineering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344" y="1799118"/>
            <a:ext cx="51777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Explainable AI for Diabetes Risk Prediction and Actionable Insights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80060" y="2827818"/>
            <a:ext cx="28803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" y="3012984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F766E"/>
                </a:solidFill>
              </a:rPr>
              <a:t>Extended Output Design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66344" y="4290958"/>
            <a:ext cx="3977640" cy="35661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38" dirty="0">
                <a:solidFill>
                  <a:srgbClr val="111827"/>
                </a:solidFill>
              </a:rPr>
              <a:t>Advisor: Prof. Khim Chamrouen</a:t>
            </a:r>
            <a:endParaRPr lang="en-US" sz="938" dirty="0"/>
          </a:p>
          <a:p>
            <a:r>
              <a:rPr lang="en-US" sz="938" dirty="0">
                <a:solidFill>
                  <a:srgbClr val="111827"/>
                </a:solidFill>
              </a:rPr>
              <a:t>Presenter: NHOR Povketya</a:t>
            </a:r>
            <a:endParaRPr lang="en-US" sz="93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750" kern="1200">
                <a:solidFill>
                  <a:srgbClr val="64748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9</a:t>
            </a:fld>
            <a:endParaRPr lang="en-US"/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696ABB52-EDD7-0DF9-7EF3-6514C527C31C}"/>
              </a:ext>
            </a:extLst>
          </p:cNvPr>
          <p:cNvSpPr/>
          <p:nvPr/>
        </p:nvSpPr>
        <p:spPr>
          <a:xfrm>
            <a:off x="5508683" y="2894076"/>
            <a:ext cx="925481" cy="569211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B970EDAE-BA13-6353-B786-2201E96FA918}"/>
              </a:ext>
            </a:extLst>
          </p:cNvPr>
          <p:cNvSpPr/>
          <p:nvPr/>
        </p:nvSpPr>
        <p:spPr>
          <a:xfrm>
            <a:off x="5645843" y="3113532"/>
            <a:ext cx="6858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6B7280"/>
                </a:solidFill>
              </a:rPr>
              <a:t>1 / 0</a:t>
            </a:r>
            <a:endParaRPr lang="en-US" sz="135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588B87C5-2670-E0C8-5FE2-983242159E25}"/>
              </a:ext>
            </a:extLst>
          </p:cNvPr>
          <p:cNvSpPr/>
          <p:nvPr/>
        </p:nvSpPr>
        <p:spPr>
          <a:xfrm>
            <a:off x="6537383" y="3236976"/>
            <a:ext cx="58293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1731BB25-2DDB-1432-3D2B-0C4A6991D1E4}"/>
              </a:ext>
            </a:extLst>
          </p:cNvPr>
          <p:cNvSpPr/>
          <p:nvPr/>
        </p:nvSpPr>
        <p:spPr>
          <a:xfrm>
            <a:off x="7257473" y="2539423"/>
            <a:ext cx="1062990" cy="397764"/>
          </a:xfrm>
          <a:prstGeom prst="roundRect">
            <a:avLst>
              <a:gd name="adj" fmla="val 17241"/>
            </a:avLst>
          </a:prstGeom>
          <a:solidFill>
            <a:srgbClr val="29A354"/>
          </a:solidFill>
          <a:ln w="12700">
            <a:solidFill>
              <a:srgbClr val="29A354"/>
            </a:solidFill>
            <a:prstDash val="solid"/>
          </a:ln>
        </p:spPr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1041035B-97CC-1E5D-8729-2C99EF14EAD7}"/>
              </a:ext>
            </a:extLst>
          </p:cNvPr>
          <p:cNvSpPr/>
          <p:nvPr/>
        </p:nvSpPr>
        <p:spPr>
          <a:xfrm>
            <a:off x="7360343" y="2676583"/>
            <a:ext cx="85725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78% Risk</a:t>
            </a:r>
            <a:endParaRPr lang="en-US" sz="825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2AB99EBA-78CD-4E6B-311E-A06E07A89BF2}"/>
              </a:ext>
            </a:extLst>
          </p:cNvPr>
          <p:cNvSpPr/>
          <p:nvPr/>
        </p:nvSpPr>
        <p:spPr>
          <a:xfrm>
            <a:off x="7200439" y="3065526"/>
            <a:ext cx="1165860" cy="397764"/>
          </a:xfrm>
          <a:prstGeom prst="roundRect">
            <a:avLst>
              <a:gd name="adj" fmla="val 1724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BFB11CC7-9D45-705D-0DA5-040B590332BE}"/>
              </a:ext>
            </a:extLst>
          </p:cNvPr>
          <p:cNvSpPr/>
          <p:nvPr/>
        </p:nvSpPr>
        <p:spPr>
          <a:xfrm>
            <a:off x="7298795" y="3194073"/>
            <a:ext cx="101498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Risk Level</a:t>
            </a:r>
            <a:endParaRPr lang="en-US" sz="825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AFE0F4D5-7467-BDC1-AF68-A62FC0655746}"/>
              </a:ext>
            </a:extLst>
          </p:cNvPr>
          <p:cNvSpPr/>
          <p:nvPr/>
        </p:nvSpPr>
        <p:spPr>
          <a:xfrm>
            <a:off x="7260818" y="3599069"/>
            <a:ext cx="1165860" cy="397764"/>
          </a:xfrm>
          <a:prstGeom prst="roundRect">
            <a:avLst>
              <a:gd name="adj" fmla="val 1724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F3C738DB-B802-648C-04CD-F23828614D78}"/>
              </a:ext>
            </a:extLst>
          </p:cNvPr>
          <p:cNvSpPr/>
          <p:nvPr/>
        </p:nvSpPr>
        <p:spPr>
          <a:xfrm>
            <a:off x="7521422" y="3736229"/>
            <a:ext cx="58293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Why?</a:t>
            </a:r>
            <a:endParaRPr lang="en-US" sz="825" dirty="0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F96A0DD5-888B-0E2E-3C40-A3D5E5A1BE78}"/>
              </a:ext>
            </a:extLst>
          </p:cNvPr>
          <p:cNvSpPr/>
          <p:nvPr/>
        </p:nvSpPr>
        <p:spPr>
          <a:xfrm>
            <a:off x="7200439" y="4169664"/>
            <a:ext cx="1508760" cy="397764"/>
          </a:xfrm>
          <a:prstGeom prst="roundRect">
            <a:avLst>
              <a:gd name="adj" fmla="val 17241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7D40EE44-7DD2-54A9-9635-11082D48E195}"/>
              </a:ext>
            </a:extLst>
          </p:cNvPr>
          <p:cNvSpPr/>
          <p:nvPr/>
        </p:nvSpPr>
        <p:spPr>
          <a:xfrm>
            <a:off x="7371889" y="4306824"/>
            <a:ext cx="1179576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What to improve</a:t>
            </a:r>
            <a:endParaRPr lang="en-US" sz="8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0EEE03-C1B9-BF3B-2AD4-EE5BBC2A5108}"/>
              </a:ext>
            </a:extLst>
          </p:cNvPr>
          <p:cNvSpPr txBox="1"/>
          <p:nvPr/>
        </p:nvSpPr>
        <p:spPr>
          <a:xfrm>
            <a:off x="263769" y="4743163"/>
            <a:ext cx="253570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100"/>
              </a:spcBef>
            </a:pPr>
            <a:r>
              <a:rPr lang="en-US" sz="1050" dirty="0"/>
              <a:t>06/May/2026</a:t>
            </a:r>
          </a:p>
        </p:txBody>
      </p:sp>
    </p:spTree>
    <p:extLst>
      <p:ext uri="{BB962C8B-B14F-4D97-AF65-F5344CB8AC3E}">
        <p14:creationId xmlns:p14="http://schemas.microsoft.com/office/powerpoint/2010/main" val="409929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72350" y="-445770"/>
            <a:ext cx="2194560" cy="2194560"/>
          </a:xfrm>
          <a:prstGeom prst="arc">
            <a:avLst/>
          </a:prstGeom>
          <a:solidFill>
            <a:srgbClr val="FBFDFF">
              <a:alpha val="0"/>
            </a:srgbClr>
          </a:solidFill>
          <a:ln w="25400">
            <a:solidFill>
              <a:srgbClr val="D9ECF9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77190" y="4011930"/>
            <a:ext cx="1508760" cy="1508760"/>
          </a:xfrm>
          <a:prstGeom prst="arc">
            <a:avLst/>
          </a:prstGeom>
          <a:solidFill>
            <a:srgbClr val="FBFDFF">
              <a:alpha val="0"/>
            </a:srgbClr>
          </a:solidFill>
          <a:ln w="25400">
            <a:solidFill>
              <a:srgbClr val="D9ECF9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7190" y="260604"/>
            <a:ext cx="60350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1: Probability + Risk Level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397764" y="603504"/>
            <a:ext cx="5349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6B7280"/>
                </a:solidFill>
              </a:rPr>
              <a:t>Convert model probability into human-readable risk categories</a:t>
            </a:r>
            <a:endParaRPr lang="en-US" sz="713" dirty="0"/>
          </a:p>
        </p:txBody>
      </p:sp>
      <p:sp>
        <p:nvSpPr>
          <p:cNvPr id="7" name="Shape 5"/>
          <p:cNvSpPr/>
          <p:nvPr/>
        </p:nvSpPr>
        <p:spPr>
          <a:xfrm>
            <a:off x="377190" y="802386"/>
            <a:ext cx="72009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2221992" cy="240030"/>
          </a:xfrm>
          <a:prstGeom prst="roundRect">
            <a:avLst>
              <a:gd name="adj" fmla="val 22857"/>
            </a:avLst>
          </a:prstGeom>
          <a:solidFill>
            <a:srgbClr val="29A354"/>
          </a:solidFill>
          <a:ln w="12700">
            <a:solidFill>
              <a:srgbClr val="29A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07792" y="1371600"/>
            <a:ext cx="2962656" cy="240030"/>
          </a:xfrm>
          <a:prstGeom prst="roundRect">
            <a:avLst>
              <a:gd name="adj" fmla="val 5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70448" y="1371600"/>
            <a:ext cx="2221992" cy="24003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666494"/>
            <a:ext cx="0" cy="10287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96796"/>
            <a:ext cx="3429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6B7280"/>
                </a:solidFill>
              </a:rPr>
              <a:t>0%</a:t>
            </a:r>
            <a:endParaRPr lang="en-US" sz="675" dirty="0"/>
          </a:p>
        </p:txBody>
      </p:sp>
      <p:sp>
        <p:nvSpPr>
          <p:cNvPr id="13" name="Shape 11"/>
          <p:cNvSpPr/>
          <p:nvPr/>
        </p:nvSpPr>
        <p:spPr>
          <a:xfrm>
            <a:off x="2907792" y="1666494"/>
            <a:ext cx="0" cy="10287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1796796"/>
            <a:ext cx="3429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6B7280"/>
                </a:solidFill>
              </a:rPr>
              <a:t>30%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5870448" y="1666494"/>
            <a:ext cx="0" cy="10287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1796796"/>
            <a:ext cx="3429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6B7280"/>
                </a:solidFill>
              </a:rPr>
              <a:t>70%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8092440" y="1666494"/>
            <a:ext cx="0" cy="10287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796796"/>
            <a:ext cx="3429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6B7280"/>
                </a:solidFill>
              </a:rPr>
              <a:t>100%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1303020" y="1042416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29A354"/>
                </a:solidFill>
              </a:rPr>
              <a:t>Low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3806190" y="1042416"/>
            <a:ext cx="8229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59E0B"/>
                </a:solidFill>
              </a:rPr>
              <a:t>Medium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720840" y="1042416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EF4444"/>
                </a:solidFill>
              </a:rPr>
              <a:t>High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720090" y="2798064"/>
            <a:ext cx="2880360" cy="82296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5830" y="2983230"/>
            <a:ext cx="11658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9A354"/>
                </a:solidFill>
              </a:rPr>
              <a:t>Example A: 20%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5830" y="327812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72033"/>
                </a:solidFill>
              </a:rPr>
              <a:t>Risk level: Low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60570" y="2798064"/>
            <a:ext cx="2880360" cy="82296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6310" y="2983230"/>
            <a:ext cx="13030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F4444"/>
                </a:solidFill>
              </a:rPr>
              <a:t>Example B: 78%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66310" y="3278124"/>
            <a:ext cx="1303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72033"/>
                </a:solidFill>
              </a:rPr>
              <a:t>Risk level: High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72350" y="-445770"/>
            <a:ext cx="2194560" cy="21945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9ECF9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77190" y="4011930"/>
            <a:ext cx="1508760" cy="15087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9ECF9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7190" y="260604"/>
            <a:ext cx="60350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2: Feature Contribution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377190" y="802386"/>
            <a:ext cx="72009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51510" y="1062990"/>
            <a:ext cx="21945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0B1F3A"/>
                </a:solidFill>
              </a:rPr>
              <a:t>Patient risk explanation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2194560" y="1405890"/>
            <a:ext cx="2194560" cy="240030"/>
          </a:xfrm>
          <a:prstGeom prst="roundRect">
            <a:avLst>
              <a:gd name="adj" fmla="val 1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510" y="1453896"/>
            <a:ext cx="75438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72033"/>
                </a:solidFill>
              </a:rPr>
              <a:t>BMI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00600" y="1453896"/>
            <a:ext cx="150876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B7280"/>
                </a:solidFill>
              </a:rPr>
              <a:t>biggest reason ↑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194560" y="1899666"/>
            <a:ext cx="1543050" cy="24003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510" y="1947672"/>
            <a:ext cx="75438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72033"/>
                </a:solidFill>
              </a:rPr>
              <a:t>Age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00600" y="1947672"/>
            <a:ext cx="150876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B7280"/>
                </a:solidFill>
              </a:rPr>
              <a:t>second reason ↑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194560" y="2393442"/>
            <a:ext cx="1097280" cy="240030"/>
          </a:xfrm>
          <a:prstGeom prst="roundRect">
            <a:avLst>
              <a:gd name="adj" fmla="val 1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510" y="2441448"/>
            <a:ext cx="75438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72033"/>
                </a:solidFill>
              </a:rPr>
              <a:t>High BP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800600" y="2441448"/>
            <a:ext cx="150876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B7280"/>
                </a:solidFill>
              </a:rPr>
              <a:t>pushes risk ↑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234440" y="2887218"/>
            <a:ext cx="960120" cy="240030"/>
          </a:xfrm>
          <a:prstGeom prst="roundRect">
            <a:avLst>
              <a:gd name="adj" fmla="val 11429"/>
            </a:avLst>
          </a:prstGeom>
          <a:solidFill>
            <a:srgbClr val="29A354"/>
          </a:solidFill>
          <a:ln w="12700">
            <a:solidFill>
              <a:srgbClr val="29A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510" y="2935224"/>
            <a:ext cx="75438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72033"/>
                </a:solidFill>
              </a:rPr>
              <a:t>Exercise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00600" y="2935224"/>
            <a:ext cx="150876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B7280"/>
                </a:solidFill>
              </a:rPr>
              <a:t>reduces risk ↓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645920" y="3380994"/>
            <a:ext cx="548640" cy="240030"/>
          </a:xfrm>
          <a:prstGeom prst="roundRect">
            <a:avLst>
              <a:gd name="adj" fmla="val 11429"/>
            </a:avLst>
          </a:prstGeom>
          <a:solidFill>
            <a:srgbClr val="29A354"/>
          </a:solidFill>
          <a:ln w="12700">
            <a:solidFill>
              <a:srgbClr val="29A3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510" y="3429000"/>
            <a:ext cx="75438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72033"/>
                </a:solidFill>
              </a:rPr>
              <a:t>Fruits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00600" y="3429000"/>
            <a:ext cx="150876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B7280"/>
                </a:solidFill>
              </a:rPr>
              <a:t>reduces risk ↓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1303020"/>
            <a:ext cx="0" cy="28117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011930"/>
            <a:ext cx="857250" cy="260604"/>
          </a:xfrm>
          <a:prstGeom prst="roundRect">
            <a:avLst>
              <a:gd name="adj" fmla="val 2105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4073652"/>
            <a:ext cx="74752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higher risk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>
            <a:off x="1474470" y="4011930"/>
            <a:ext cx="788670" cy="260604"/>
          </a:xfrm>
          <a:prstGeom prst="roundRect">
            <a:avLst>
              <a:gd name="adj" fmla="val 21053"/>
            </a:avLst>
          </a:prstGeom>
          <a:solidFill>
            <a:srgbClr val="29A354"/>
          </a:solidFill>
          <a:ln w="12700">
            <a:solidFill>
              <a:srgbClr val="29A35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29334" y="4073652"/>
            <a:ext cx="6789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lower risk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6515100" y="1303020"/>
            <a:ext cx="1577340" cy="2125980"/>
          </a:xfrm>
          <a:prstGeom prst="roundRect">
            <a:avLst>
              <a:gd name="adj" fmla="val 6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1508760"/>
            <a:ext cx="11658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B1F3A"/>
                </a:solidFill>
              </a:rPr>
              <a:t>Simple explanation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1851660"/>
            <a:ext cx="1234440" cy="109728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38" dirty="0">
                <a:solidFill>
                  <a:srgbClr val="172033"/>
                </a:solidFill>
              </a:rPr>
              <a:t>“This patient is high risk mainly because BMI and Age push the prediction upward. Physical activity helps reduce the risk.”</a:t>
            </a:r>
            <a:endParaRPr lang="en-US" sz="93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72350" y="-445770"/>
            <a:ext cx="2194560" cy="2194560"/>
          </a:xfrm>
          <a:prstGeom prst="arc">
            <a:avLst/>
          </a:prstGeom>
          <a:solidFill>
            <a:srgbClr val="F7FBFF">
              <a:alpha val="0"/>
            </a:srgbClr>
          </a:solidFill>
          <a:ln w="25400">
            <a:solidFill>
              <a:srgbClr val="D9ECF9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77190" y="4011930"/>
            <a:ext cx="1508760" cy="1508760"/>
          </a:xfrm>
          <a:prstGeom prst="arc">
            <a:avLst/>
          </a:prstGeom>
          <a:solidFill>
            <a:srgbClr val="F7FBFF">
              <a:alpha val="0"/>
            </a:srgbClr>
          </a:solidFill>
          <a:ln w="25400">
            <a:solidFill>
              <a:srgbClr val="D9ECF9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7190" y="260604"/>
            <a:ext cx="60350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3: Group Insight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377190" y="802386"/>
            <a:ext cx="72009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51510" y="1062990"/>
            <a:ext cx="7475220" cy="72009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" dist="12700" dir="2700000" algn="bl" rotWithShape="0">
              <a:srgbClr val="64748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7250" y="1213866"/>
            <a:ext cx="397764" cy="3977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  <a:effectLst>
            <a:outerShdw blurRad="12700" dist="12700" dir="2700000" algn="bl" rotWithShape="0">
              <a:srgbClr val="1F2937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1540" y="1296162"/>
            <a:ext cx="3291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</a:rPr>
              <a:t>1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371600" y="1186434"/>
            <a:ext cx="21259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0B1F3A"/>
                </a:solidFill>
              </a:rPr>
              <a:t>Demographic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371600" y="1460754"/>
            <a:ext cx="3566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10" dirty="0">
                <a:solidFill>
                  <a:srgbClr val="6B7280"/>
                </a:solidFill>
              </a:rPr>
              <a:t>Age, Sex, Education, Income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57850" y="1316736"/>
            <a:ext cx="1714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F77B4"/>
                </a:solidFill>
              </a:rPr>
              <a:t>Who the patient 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1510" y="2077974"/>
            <a:ext cx="7475220" cy="72009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" dist="12700" dir="2700000" algn="bl" rotWithShape="0">
              <a:srgbClr val="64748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7250" y="2228850"/>
            <a:ext cx="397764" cy="39776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  <a:effectLst>
            <a:outerShdw blurRad="12700" dist="12700" dir="2700000" algn="bl" rotWithShape="0">
              <a:srgbClr val="1F2937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1540" y="2311146"/>
            <a:ext cx="3291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</a:rPr>
              <a:t>2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371600" y="2201418"/>
            <a:ext cx="21259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0B1F3A"/>
                </a:solidFill>
              </a:rPr>
              <a:t>Health Status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371600" y="2475738"/>
            <a:ext cx="3566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10" dirty="0">
                <a:solidFill>
                  <a:srgbClr val="6B7280"/>
                </a:solidFill>
              </a:rPr>
              <a:t>BMI, HighBP, HighChol, GenHlth, Heart disease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5657850" y="2331720"/>
            <a:ext cx="1714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EF4444"/>
                </a:solidFill>
              </a:rPr>
              <a:t>Current health condition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1510" y="3092958"/>
            <a:ext cx="7475220" cy="72009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" dist="12700" dir="2700000" algn="bl" rotWithShape="0">
              <a:srgbClr val="64748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7250" y="3243834"/>
            <a:ext cx="397764" cy="397764"/>
          </a:xfrm>
          <a:prstGeom prst="ellipse">
            <a:avLst/>
          </a:prstGeom>
          <a:solidFill>
            <a:srgbClr val="29A354"/>
          </a:solidFill>
          <a:ln w="12700">
            <a:solidFill>
              <a:srgbClr val="29A354">
                <a:alpha val="0"/>
              </a:srgbClr>
            </a:solidFill>
            <a:prstDash val="solid"/>
          </a:ln>
          <a:effectLst>
            <a:outerShdw blurRad="12700" dist="12700" dir="2700000" algn="bl" rotWithShape="0">
              <a:srgbClr val="1F2937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1540" y="3326130"/>
            <a:ext cx="3291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</a:rPr>
              <a:t>3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371600" y="3216402"/>
            <a:ext cx="21259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0B1F3A"/>
                </a:solidFill>
              </a:rPr>
              <a:t>Lifestyle &amp; Healthcare Access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371600" y="3490722"/>
            <a:ext cx="3566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10" dirty="0">
                <a:solidFill>
                  <a:srgbClr val="6B7280"/>
                </a:solidFill>
              </a:rPr>
              <a:t>Physical activity, fruits, veggies, smoking, healthcare access</a:t>
            </a:r>
            <a:endParaRPr lang="en-US" sz="810" dirty="0"/>
          </a:p>
        </p:txBody>
      </p:sp>
      <p:sp>
        <p:nvSpPr>
          <p:cNvPr id="25" name="Text 23"/>
          <p:cNvSpPr/>
          <p:nvPr/>
        </p:nvSpPr>
        <p:spPr>
          <a:xfrm>
            <a:off x="5657850" y="3346704"/>
            <a:ext cx="1714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29A354"/>
                </a:solidFill>
              </a:rPr>
              <a:t>Daily behavior and access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4380" y="4320540"/>
            <a:ext cx="73380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dirty="0">
                <a:solidFill>
                  <a:srgbClr val="172033"/>
                </a:solidFill>
              </a:rPr>
              <a:t>Example insight: “Health Status is the strongest driver because BMI and high blood pressure increase the prediction.”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72350" y="-445770"/>
            <a:ext cx="2194560" cy="21945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9ECF9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77190" y="4011930"/>
            <a:ext cx="1508760" cy="15087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9ECF9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7190" y="260604"/>
            <a:ext cx="60350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4: Explain + Suggest Improvement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377190" y="802386"/>
            <a:ext cx="72009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51510" y="1371600"/>
            <a:ext cx="2091690" cy="1474470"/>
          </a:xfrm>
          <a:prstGeom prst="roundRect">
            <a:avLst>
              <a:gd name="adj" fmla="val 930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91056"/>
            <a:ext cx="17487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EF4444"/>
                </a:solidFill>
              </a:rPr>
              <a:t>Model Output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3534" y="2023110"/>
            <a:ext cx="1714500" cy="4800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172033"/>
                </a:solidFill>
              </a:rPr>
              <a:t>78% High Risk</a:t>
            </a:r>
            <a:endParaRPr lang="en-US" sz="1013" dirty="0"/>
          </a:p>
        </p:txBody>
      </p:sp>
      <p:sp>
        <p:nvSpPr>
          <p:cNvPr id="11" name="Shape 9"/>
          <p:cNvSpPr/>
          <p:nvPr/>
        </p:nvSpPr>
        <p:spPr>
          <a:xfrm>
            <a:off x="2880360" y="2091690"/>
            <a:ext cx="34290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29000" y="1371600"/>
            <a:ext cx="2091690" cy="1474470"/>
          </a:xfrm>
          <a:prstGeom prst="roundRect">
            <a:avLst>
              <a:gd name="adj" fmla="val 930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0450" y="1591056"/>
            <a:ext cx="17487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7C3AED"/>
                </a:solidFill>
              </a:rPr>
              <a:t>Why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21024" y="2023110"/>
            <a:ext cx="1714500" cy="4800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172033"/>
                </a:solidFill>
              </a:rPr>
              <a:t>BMI + Age increase risk</a:t>
            </a:r>
            <a:endParaRPr lang="en-US" sz="1013" dirty="0"/>
          </a:p>
          <a:p>
            <a:pPr algn="ctr"/>
            <a:r>
              <a:rPr lang="en-US" sz="1013" dirty="0">
                <a:solidFill>
                  <a:srgbClr val="172033"/>
                </a:solidFill>
              </a:rPr>
              <a:t>Exercise reduces risk</a:t>
            </a:r>
            <a:endParaRPr lang="en-US" sz="1013" dirty="0"/>
          </a:p>
        </p:txBody>
      </p:sp>
      <p:sp>
        <p:nvSpPr>
          <p:cNvPr id="15" name="Shape 13"/>
          <p:cNvSpPr/>
          <p:nvPr/>
        </p:nvSpPr>
        <p:spPr>
          <a:xfrm>
            <a:off x="5657850" y="2091690"/>
            <a:ext cx="34290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06490" y="1371600"/>
            <a:ext cx="2091690" cy="1474470"/>
          </a:xfrm>
          <a:prstGeom prst="roundRect">
            <a:avLst>
              <a:gd name="adj" fmla="val 930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7940" y="1591056"/>
            <a:ext cx="17487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29A354"/>
                </a:solidFill>
              </a:rPr>
              <a:t>Improve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98514" y="2023110"/>
            <a:ext cx="1714500" cy="4800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172033"/>
                </a:solidFill>
              </a:rPr>
              <a:t>More activity</a:t>
            </a:r>
            <a:endParaRPr lang="en-US" sz="1013" dirty="0"/>
          </a:p>
          <a:p>
            <a:pPr algn="ctr"/>
            <a:r>
              <a:rPr lang="en-US" sz="1013" dirty="0">
                <a:solidFill>
                  <a:srgbClr val="172033"/>
                </a:solidFill>
              </a:rPr>
              <a:t>Weight management</a:t>
            </a:r>
            <a:endParaRPr lang="en-US" sz="1013" dirty="0"/>
          </a:p>
          <a:p>
            <a:pPr algn="ctr"/>
            <a:r>
              <a:rPr lang="en-US" sz="1013" dirty="0">
                <a:solidFill>
                  <a:srgbClr val="172033"/>
                </a:solidFill>
              </a:rPr>
              <a:t>Regular check-up</a:t>
            </a:r>
            <a:endParaRPr lang="en-US" sz="1013" dirty="0"/>
          </a:p>
        </p:txBody>
      </p:sp>
      <p:sp>
        <p:nvSpPr>
          <p:cNvPr id="19" name="Shape 17"/>
          <p:cNvSpPr/>
          <p:nvPr/>
        </p:nvSpPr>
        <p:spPr>
          <a:xfrm>
            <a:off x="788670" y="3600450"/>
            <a:ext cx="7406640" cy="54864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410" y="3806190"/>
            <a:ext cx="696087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88" b="1" dirty="0">
                <a:solidFill>
                  <a:srgbClr val="0B1F3A"/>
                </a:solidFill>
              </a:rPr>
              <a:t>Important: the system supports prevention and education. It should not claim to replace doctors or diagnose the patient.</a:t>
            </a:r>
            <a:endParaRPr lang="en-US" sz="108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72350" y="-445770"/>
            <a:ext cx="2194560" cy="2194560"/>
          </a:xfrm>
          <a:prstGeom prst="arc">
            <a:avLst/>
          </a:prstGeom>
          <a:solidFill>
            <a:srgbClr val="FBFDFF">
              <a:alpha val="0"/>
            </a:srgbClr>
          </a:solidFill>
          <a:ln w="25400">
            <a:solidFill>
              <a:srgbClr val="D9ECF9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77190" y="4011930"/>
            <a:ext cx="1508760" cy="1508760"/>
          </a:xfrm>
          <a:prstGeom prst="arc">
            <a:avLst/>
          </a:prstGeom>
          <a:solidFill>
            <a:srgbClr val="FBFDFF">
              <a:alpha val="0"/>
            </a:srgbClr>
          </a:solidFill>
          <a:ln w="25400">
            <a:solidFill>
              <a:srgbClr val="D9ECF9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7190" y="260604"/>
            <a:ext cx="60350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Extended Output Design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377190" y="802386"/>
            <a:ext cx="72009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17220" y="994410"/>
            <a:ext cx="7886700" cy="332613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25400" dist="12700" dir="2700000" algn="bl" rotWithShape="0">
              <a:srgbClr val="64748B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1540" y="1268730"/>
            <a:ext cx="2125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0B1F3A"/>
                </a:solidFill>
              </a:rPr>
              <a:t>Patient Risk Report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6652260" y="1220724"/>
            <a:ext cx="1165860" cy="260604"/>
          </a:xfrm>
          <a:prstGeom prst="roundRect">
            <a:avLst>
              <a:gd name="adj" fmla="val 2105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7124" y="1282446"/>
            <a:ext cx="10561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</a:rPr>
              <a:t>78% High Risk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925830" y="1748790"/>
            <a:ext cx="16116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EA5E9"/>
                </a:solidFill>
              </a:rPr>
              <a:t>Probability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297430" y="1748790"/>
            <a:ext cx="55549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945" dirty="0">
                <a:solidFill>
                  <a:srgbClr val="172033"/>
                </a:solidFill>
              </a:rPr>
              <a:t>Risk score = 78% → High</a:t>
            </a:r>
            <a:endParaRPr lang="en-US" sz="945" dirty="0"/>
          </a:p>
        </p:txBody>
      </p:sp>
      <p:sp>
        <p:nvSpPr>
          <p:cNvPr id="14" name="Shape 12"/>
          <p:cNvSpPr/>
          <p:nvPr/>
        </p:nvSpPr>
        <p:spPr>
          <a:xfrm>
            <a:off x="925830" y="2043684"/>
            <a:ext cx="67894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5830" y="2283714"/>
            <a:ext cx="16116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EA5E9"/>
                </a:solidFill>
              </a:rPr>
              <a:t>Feature Contribution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2297430" y="2283714"/>
            <a:ext cx="55549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945" dirty="0">
                <a:solidFill>
                  <a:srgbClr val="172033"/>
                </a:solidFill>
              </a:rPr>
              <a:t>BMI and Age increase risk; Physical Activity reduces risk</a:t>
            </a:r>
            <a:endParaRPr lang="en-US" sz="945" dirty="0"/>
          </a:p>
        </p:txBody>
      </p:sp>
      <p:sp>
        <p:nvSpPr>
          <p:cNvPr id="17" name="Shape 15"/>
          <p:cNvSpPr/>
          <p:nvPr/>
        </p:nvSpPr>
        <p:spPr>
          <a:xfrm>
            <a:off x="925830" y="2578608"/>
            <a:ext cx="67894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830" y="2818638"/>
            <a:ext cx="16116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EA5E9"/>
                </a:solidFill>
              </a:rPr>
              <a:t>Group Insight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297430" y="2818638"/>
            <a:ext cx="55549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945" dirty="0">
                <a:solidFill>
                  <a:srgbClr val="172033"/>
                </a:solidFill>
              </a:rPr>
              <a:t>Health Status is the main driver; Lifestyle is modifiable</a:t>
            </a:r>
            <a:endParaRPr lang="en-US" sz="945" dirty="0"/>
          </a:p>
        </p:txBody>
      </p:sp>
      <p:sp>
        <p:nvSpPr>
          <p:cNvPr id="20" name="Shape 18"/>
          <p:cNvSpPr/>
          <p:nvPr/>
        </p:nvSpPr>
        <p:spPr>
          <a:xfrm>
            <a:off x="925830" y="3113532"/>
            <a:ext cx="67894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830" y="3353562"/>
            <a:ext cx="16116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EA5E9"/>
                </a:solidFill>
              </a:rPr>
              <a:t>Recommendation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2297430" y="3353562"/>
            <a:ext cx="55549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945" dirty="0">
                <a:solidFill>
                  <a:srgbClr val="172033"/>
                </a:solidFill>
              </a:rPr>
              <a:t>Increase activity, monitor BMI, check blood pressure / cholesterol</a:t>
            </a:r>
            <a:endParaRPr lang="en-US" sz="945" dirty="0"/>
          </a:p>
        </p:txBody>
      </p:sp>
      <p:sp>
        <p:nvSpPr>
          <p:cNvPr id="23" name="Shape 21"/>
          <p:cNvSpPr/>
          <p:nvPr/>
        </p:nvSpPr>
        <p:spPr>
          <a:xfrm>
            <a:off x="925830" y="3648456"/>
            <a:ext cx="67894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7250" y="4560570"/>
            <a:ext cx="7200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88" dirty="0">
                <a:solidFill>
                  <a:srgbClr val="6B7280"/>
                </a:solidFill>
              </a:rPr>
              <a:t>This output is easier for users because it answers: How risky? Why? Which group? What can be improved?</a:t>
            </a:r>
            <a:endParaRPr lang="en-US" sz="108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40030"/>
            <a:ext cx="840105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Actionable Recommendation: What does Gemini receive?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2194560" y="2510028"/>
            <a:ext cx="582930" cy="0"/>
          </a:xfrm>
          <a:prstGeom prst="line">
            <a:avLst/>
          </a:prstGeom>
          <a:noFill/>
          <a:ln w="27940">
            <a:solidFill>
              <a:srgbClr val="9AB6CF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089904" y="2510028"/>
            <a:ext cx="576072" cy="0"/>
          </a:xfrm>
          <a:prstGeom prst="line">
            <a:avLst/>
          </a:prstGeom>
          <a:noFill/>
          <a:ln w="27940">
            <a:solidFill>
              <a:srgbClr val="9AB6C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5196" y="1062990"/>
            <a:ext cx="1769364" cy="291465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3970">
            <a:solidFill>
              <a:srgbClr val="D5E2EF"/>
            </a:solidFill>
            <a:prstDash val="solid"/>
          </a:ln>
          <a:effectLst>
            <a:outerShdw blurRad="12700" dist="50800" dir="2700000" algn="bl" rotWithShape="0">
              <a:srgbClr val="B6C7D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2930" y="1220724"/>
            <a:ext cx="14058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2355B"/>
                </a:solidFill>
              </a:rPr>
              <a:t>System Output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2930" y="1522476"/>
            <a:ext cx="1453896" cy="507492"/>
          </a:xfrm>
          <a:prstGeom prst="roundRect">
            <a:avLst>
              <a:gd name="adj" fmla="val 16216"/>
            </a:avLst>
          </a:prstGeom>
          <a:solidFill>
            <a:srgbClr val="FFF3E6"/>
          </a:solidFill>
          <a:ln w="11430">
            <a:solidFill>
              <a:srgbClr val="F299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91056"/>
            <a:ext cx="124815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F2994A"/>
                </a:solidFill>
              </a:rPr>
              <a:t>Prediction result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672084" y="1748790"/>
            <a:ext cx="1268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00" b="1" dirty="0">
                <a:solidFill>
                  <a:srgbClr val="12355B"/>
                </a:solidFill>
              </a:rPr>
              <a:t>78% · High Risk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2930" y="2112264"/>
            <a:ext cx="1453896" cy="507492"/>
          </a:xfrm>
          <a:prstGeom prst="roundRect">
            <a:avLst>
              <a:gd name="adj" fmla="val 16216"/>
            </a:avLst>
          </a:prstGeom>
          <a:solidFill>
            <a:srgbClr val="EAF3FF"/>
          </a:solidFill>
          <a:ln w="1143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80844"/>
            <a:ext cx="124815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2F80ED"/>
                </a:solidFill>
              </a:rPr>
              <a:t>Patient profile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672084" y="2338578"/>
            <a:ext cx="1268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00" b="1" dirty="0">
                <a:solidFill>
                  <a:srgbClr val="12355B"/>
                </a:solidFill>
              </a:rPr>
              <a:t>Age, BMI, BP, activity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2930" y="2702052"/>
            <a:ext cx="1453896" cy="507492"/>
          </a:xfrm>
          <a:prstGeom prst="roundRect">
            <a:avLst>
              <a:gd name="adj" fmla="val 16216"/>
            </a:avLst>
          </a:prstGeom>
          <a:solidFill>
            <a:srgbClr val="E8F7F7"/>
          </a:solidFill>
          <a:ln w="11430">
            <a:solidFill>
              <a:srgbClr val="17A2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70632"/>
            <a:ext cx="124815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A2A4"/>
                </a:solidFill>
              </a:rPr>
              <a:t>SHAP explanation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672084" y="2928366"/>
            <a:ext cx="1268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00" b="1" dirty="0">
                <a:solidFill>
                  <a:srgbClr val="12355B"/>
                </a:solidFill>
              </a:rPr>
              <a:t>Top factors: BMI, 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2930" y="3291840"/>
            <a:ext cx="1453896" cy="507492"/>
          </a:xfrm>
          <a:prstGeom prst="roundRect">
            <a:avLst>
              <a:gd name="adj" fmla="val 16216"/>
            </a:avLst>
          </a:prstGeom>
          <a:solidFill>
            <a:srgbClr val="ECF8EE"/>
          </a:solidFill>
          <a:ln w="1143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60420"/>
            <a:ext cx="124815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2E7D32"/>
                </a:solidFill>
              </a:rPr>
              <a:t>Safety rule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672084" y="3518154"/>
            <a:ext cx="1268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n-US" sz="900" b="1" dirty="0">
                <a:solidFill>
                  <a:srgbClr val="12355B"/>
                </a:solidFill>
              </a:rPr>
              <a:t>Education only, not diagnosis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77490" y="994410"/>
            <a:ext cx="3319272" cy="3051810"/>
          </a:xfrm>
          <a:prstGeom prst="roundRect">
            <a:avLst>
              <a:gd name="adj" fmla="val 4045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  <a:effectLst>
            <a:outerShdw blurRad="12700" dist="50800" dir="2700000" algn="bl" rotWithShape="0">
              <a:srgbClr val="7B8794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83230" y="1179576"/>
            <a:ext cx="29146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38" b="1" dirty="0">
                <a:solidFill>
                  <a:srgbClr val="FFFFFF"/>
                </a:solidFill>
              </a:rPr>
              <a:t>Structured Input Sent to Gemini</a:t>
            </a:r>
            <a:endParaRPr lang="en-US" sz="1238" dirty="0"/>
          </a:p>
        </p:txBody>
      </p:sp>
      <p:sp>
        <p:nvSpPr>
          <p:cNvPr id="22" name="Shape 20"/>
          <p:cNvSpPr/>
          <p:nvPr/>
        </p:nvSpPr>
        <p:spPr>
          <a:xfrm>
            <a:off x="2990088" y="1508760"/>
            <a:ext cx="2894076" cy="2091690"/>
          </a:xfrm>
          <a:prstGeom prst="roundRect">
            <a:avLst>
              <a:gd name="adj" fmla="val 2623"/>
            </a:avLst>
          </a:prstGeom>
          <a:solidFill>
            <a:srgbClr val="0C2A49"/>
          </a:solidFill>
          <a:ln w="10160">
            <a:solidFill>
              <a:srgbClr val="335B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89528" y="1508136"/>
            <a:ext cx="2753487" cy="207859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/>
          </a:bodyPr>
          <a:lstStyle/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"risk_probability": 0.78,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"risk_level": "High",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"patient_profile": {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"Age": "58",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"BMI": 34.7,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"HighBP": 1,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"HighChol": 1,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"PhysActivity": 0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"top_risk_factors": ["BMI", "Age", "HighBP"],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"protective_factors": ["Physical Activity"],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"instruction": "Provide simple lifestyle education only. Do not diagnose."</a:t>
            </a:r>
          </a:p>
          <a:p>
            <a:r>
              <a:rPr lang="en-US" sz="900" dirty="0">
                <a:solidFill>
                  <a:srgbClr val="E6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31236" y="3717036"/>
            <a:ext cx="28117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863" dirty="0">
                <a:solidFill>
                  <a:srgbClr val="DDEBFA"/>
                </a:solidFill>
              </a:rPr>
              <a:t>Important: Gemini explains and recommends. The ML model already made the prediction.</a:t>
            </a:r>
            <a:endParaRPr lang="en-US" sz="863" dirty="0"/>
          </a:p>
        </p:txBody>
      </p:sp>
      <p:sp>
        <p:nvSpPr>
          <p:cNvPr id="25" name="Shape 23"/>
          <p:cNvSpPr/>
          <p:nvPr/>
        </p:nvSpPr>
        <p:spPr>
          <a:xfrm>
            <a:off x="6665976" y="1062990"/>
            <a:ext cx="2002536" cy="291465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3970">
            <a:solidFill>
              <a:srgbClr val="D5E2EF"/>
            </a:solidFill>
            <a:prstDash val="solid"/>
          </a:ln>
          <a:effectLst>
            <a:outerShdw blurRad="12700" dist="50800" dir="2700000" algn="bl" rotWithShape="0">
              <a:srgbClr val="B6C7D8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92290" y="1220724"/>
            <a:ext cx="15430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2355B"/>
                </a:solidFill>
              </a:rPr>
              <a:t>Gemini Output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99148" y="1611630"/>
            <a:ext cx="240030" cy="24003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9148" y="1663065"/>
            <a:ext cx="24003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1</a:t>
            </a:r>
            <a:endParaRPr lang="en-US" sz="713" dirty="0"/>
          </a:p>
        </p:txBody>
      </p:sp>
      <p:sp>
        <p:nvSpPr>
          <p:cNvPr id="29" name="Text 27"/>
          <p:cNvSpPr/>
          <p:nvPr/>
        </p:nvSpPr>
        <p:spPr>
          <a:xfrm>
            <a:off x="7235190" y="1597914"/>
            <a:ext cx="122072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15" dirty="0">
                <a:solidFill>
                  <a:srgbClr val="12355B"/>
                </a:solidFill>
              </a:rPr>
              <a:t>Simple explanation: why risk is high</a:t>
            </a:r>
            <a:endParaRPr lang="en-US" sz="915" dirty="0"/>
          </a:p>
        </p:txBody>
      </p:sp>
      <p:sp>
        <p:nvSpPr>
          <p:cNvPr id="30" name="Shape 28"/>
          <p:cNvSpPr/>
          <p:nvPr/>
        </p:nvSpPr>
        <p:spPr>
          <a:xfrm>
            <a:off x="6899148" y="2084832"/>
            <a:ext cx="240030" cy="240030"/>
          </a:xfrm>
          <a:prstGeom prst="ellipse">
            <a:avLst/>
          </a:prstGeom>
          <a:solidFill>
            <a:srgbClr val="17A2A4"/>
          </a:solidFill>
          <a:ln w="12700">
            <a:solidFill>
              <a:srgbClr val="17A2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9148" y="2136267"/>
            <a:ext cx="24003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2</a:t>
            </a:r>
            <a:endParaRPr lang="en-US" sz="713" dirty="0"/>
          </a:p>
        </p:txBody>
      </p:sp>
      <p:sp>
        <p:nvSpPr>
          <p:cNvPr id="32" name="Text 30"/>
          <p:cNvSpPr/>
          <p:nvPr/>
        </p:nvSpPr>
        <p:spPr>
          <a:xfrm>
            <a:off x="7235190" y="2071116"/>
            <a:ext cx="122072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15" dirty="0">
                <a:solidFill>
                  <a:srgbClr val="12355B"/>
                </a:solidFill>
              </a:rPr>
              <a:t>3–5 actions: exercise, diet, BMI tracking</a:t>
            </a:r>
            <a:endParaRPr lang="en-US" sz="915" dirty="0"/>
          </a:p>
        </p:txBody>
      </p:sp>
      <p:sp>
        <p:nvSpPr>
          <p:cNvPr id="33" name="Shape 31"/>
          <p:cNvSpPr/>
          <p:nvPr/>
        </p:nvSpPr>
        <p:spPr>
          <a:xfrm>
            <a:off x="6899148" y="2667762"/>
            <a:ext cx="240030" cy="24003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719197"/>
            <a:ext cx="24003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3</a:t>
            </a:r>
            <a:endParaRPr lang="en-US" sz="713" dirty="0"/>
          </a:p>
        </p:txBody>
      </p:sp>
      <p:sp>
        <p:nvSpPr>
          <p:cNvPr id="35" name="Text 33"/>
          <p:cNvSpPr/>
          <p:nvPr/>
        </p:nvSpPr>
        <p:spPr>
          <a:xfrm>
            <a:off x="7235190" y="2654046"/>
            <a:ext cx="122072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15" dirty="0">
                <a:solidFill>
                  <a:srgbClr val="12355B"/>
                </a:solidFill>
              </a:rPr>
              <a:t>Safe reminder: consult health professional</a:t>
            </a:r>
            <a:endParaRPr lang="en-US" sz="915" dirty="0"/>
          </a:p>
        </p:txBody>
      </p:sp>
      <p:sp>
        <p:nvSpPr>
          <p:cNvPr id="36" name="Shape 34"/>
          <p:cNvSpPr/>
          <p:nvPr/>
        </p:nvSpPr>
        <p:spPr>
          <a:xfrm>
            <a:off x="6899148" y="3250692"/>
            <a:ext cx="240030" cy="24003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99148" y="3302127"/>
            <a:ext cx="24003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4</a:t>
            </a:r>
            <a:endParaRPr lang="en-US" sz="713" dirty="0"/>
          </a:p>
        </p:txBody>
      </p:sp>
      <p:sp>
        <p:nvSpPr>
          <p:cNvPr id="38" name="Text 36"/>
          <p:cNvSpPr/>
          <p:nvPr/>
        </p:nvSpPr>
        <p:spPr>
          <a:xfrm>
            <a:off x="7235190" y="3236976"/>
            <a:ext cx="122072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15" dirty="0">
                <a:solidFill>
                  <a:srgbClr val="12355B"/>
                </a:solidFill>
              </a:rPr>
              <a:t>Friendly wording for patient/user</a:t>
            </a:r>
            <a:endParaRPr lang="en-US" sz="915" dirty="0"/>
          </a:p>
        </p:txBody>
      </p:sp>
      <p:sp>
        <p:nvSpPr>
          <p:cNvPr id="39" name="Shape 37"/>
          <p:cNvSpPr/>
          <p:nvPr/>
        </p:nvSpPr>
        <p:spPr>
          <a:xfrm>
            <a:off x="493776" y="4279392"/>
            <a:ext cx="8161020" cy="425196"/>
          </a:xfrm>
          <a:prstGeom prst="roundRect">
            <a:avLst>
              <a:gd name="adj" fmla="val 20968"/>
            </a:avLst>
          </a:prstGeom>
          <a:solidFill>
            <a:srgbClr val="EAF3FF"/>
          </a:solidFill>
          <a:ln w="12700">
            <a:solidFill>
              <a:srgbClr val="B7D7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" y="4382262"/>
            <a:ext cx="77769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990" b="1" dirty="0">
                <a:solidFill>
                  <a:srgbClr val="12355B"/>
                </a:solidFill>
              </a:rPr>
              <a:t>“The AI recommendation uses three inputs: the risk score, patient health data, and SHAP reasons. Gemini only translates them into understandable lifestyle advice.”</a:t>
            </a:r>
            <a:endParaRPr lang="en-US" sz="990" dirty="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AE74BA3C-F747-5305-799F-B8713E1AB726}"/>
              </a:ext>
            </a:extLst>
          </p:cNvPr>
          <p:cNvSpPr/>
          <p:nvPr/>
        </p:nvSpPr>
        <p:spPr>
          <a:xfrm>
            <a:off x="377190" y="802386"/>
            <a:ext cx="72009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45770" y="4334256"/>
            <a:ext cx="1234440" cy="1234440"/>
          </a:xfrm>
          <a:prstGeom prst="arc">
            <a:avLst/>
          </a:prstGeom>
          <a:noFill/>
          <a:ln w="15240">
            <a:solidFill>
              <a:srgbClr val="D8EAFE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80438" y="15773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5928" y="22631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5928" y="29489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5928" y="36347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5928" y="43205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9018" y="15773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4508" y="22631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4508" y="29489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44508" y="36347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4508" y="43205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17598" y="15773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13088" y="22631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13088" y="29489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13088" y="36347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13088" y="43205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86178" y="15773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81668" y="22631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81668" y="29489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81668" y="36347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81668" y="43205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54758" y="15773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0248" y="22631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50248" y="29489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50248" y="36347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0248" y="43205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23338" y="15773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18828" y="22631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18828" y="29489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18828" y="36347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18828" y="43205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91918" y="15773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87408" y="22631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87408" y="29489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87408" y="36347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87408" y="43205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60498" y="15773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55988" y="22631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55988" y="29489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55988" y="36347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5988" y="432054"/>
            <a:ext cx="17145" cy="17145"/>
          </a:xfrm>
          <a:prstGeom prst="ellipse">
            <a:avLst/>
          </a:prstGeom>
          <a:solidFill>
            <a:srgbClr val="B7D7F7"/>
          </a:solidFill>
          <a:ln w="12700">
            <a:solidFill>
              <a:srgbClr val="B7D7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2326" y="274320"/>
            <a:ext cx="3703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Output Example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322326" y="774954"/>
            <a:ext cx="740664" cy="37719"/>
          </a:xfrm>
          <a:prstGeom prst="roundRect">
            <a:avLst>
              <a:gd name="adj" fmla="val 36364"/>
            </a:avLst>
          </a:prstGeom>
          <a:solidFill>
            <a:srgbClr val="1F8EFA"/>
          </a:solidFill>
          <a:ln w="12700">
            <a:solidFill>
              <a:srgbClr val="1F8E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3746" y="1289304"/>
            <a:ext cx="2125980" cy="312039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blurRad="25400" dist="50800" dir="2700000" algn="bl" rotWithShape="0">
              <a:srgbClr val="C6D1DE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482596" y="1289304"/>
            <a:ext cx="2125980" cy="312039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blurRad="25400" dist="50800" dir="2700000" algn="bl" rotWithShape="0">
              <a:srgbClr val="C6D1DE">
                <a:alpha val="2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25162" y="1289304"/>
            <a:ext cx="2125980" cy="312039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blurRad="25400" dist="50800" dir="2700000" algn="bl" rotWithShape="0">
              <a:srgbClr val="C6D1DE">
                <a:alpha val="2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67728" y="1289304"/>
            <a:ext cx="2125980" cy="312039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blurRad="25400" dist="50800" dir="2700000" algn="bl" rotWithShape="0">
              <a:srgbClr val="C6D1DE">
                <a:alpha val="2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32054" y="1460754"/>
            <a:ext cx="356616" cy="356616"/>
          </a:xfrm>
          <a:prstGeom prst="roundRect">
            <a:avLst>
              <a:gd name="adj" fmla="val 19231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3489" y="1512189"/>
            <a:ext cx="25374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350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👤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05256" y="1563624"/>
            <a:ext cx="11658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Result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16102" y="2352294"/>
            <a:ext cx="10287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3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78%</a:t>
            </a:r>
            <a:endParaRPr lang="en-US" sz="3150" dirty="0"/>
          </a:p>
        </p:txBody>
      </p:sp>
      <p:sp>
        <p:nvSpPr>
          <p:cNvPr id="55" name="Text 53"/>
          <p:cNvSpPr/>
          <p:nvPr/>
        </p:nvSpPr>
        <p:spPr>
          <a:xfrm>
            <a:off x="850392" y="288036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algn="ctr"/>
            <a:r>
              <a:rPr lang="en-US" sz="165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582930" y="3374136"/>
            <a:ext cx="1440180" cy="123444"/>
          </a:xfrm>
          <a:prstGeom prst="roundRect">
            <a:avLst>
              <a:gd name="adj" fmla="val 22222"/>
            </a:avLst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2930" y="3374136"/>
            <a:ext cx="432054" cy="123444"/>
          </a:xfrm>
          <a:prstGeom prst="roundRect">
            <a:avLst>
              <a:gd name="adj" fmla="val 22222"/>
            </a:avLst>
          </a:prstGeom>
          <a:solidFill>
            <a:srgbClr val="2FAA5B"/>
          </a:solidFill>
          <a:ln w="12700">
            <a:solidFill>
              <a:srgbClr val="2FAA5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4984" y="3374136"/>
            <a:ext cx="576072" cy="12344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91056" y="3374136"/>
            <a:ext cx="432054" cy="123444"/>
          </a:xfrm>
          <a:prstGeom prst="roundRect">
            <a:avLst>
              <a:gd name="adj" fmla="val 22222"/>
            </a:avLst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10800000">
            <a:off x="1659636" y="3223260"/>
            <a:ext cx="150876" cy="123444"/>
          </a:xfrm>
          <a:prstGeom prst="triangl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0634" y="3771900"/>
            <a:ext cx="16596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algn="ctr"/>
            <a:r>
              <a:rPr lang="en-US" sz="975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diabetes risk probability</a:t>
            </a:r>
            <a:endParaRPr lang="en-US" sz="975" dirty="0"/>
          </a:p>
        </p:txBody>
      </p:sp>
      <p:sp>
        <p:nvSpPr>
          <p:cNvPr id="62" name="Shape 60"/>
          <p:cNvSpPr/>
          <p:nvPr/>
        </p:nvSpPr>
        <p:spPr>
          <a:xfrm>
            <a:off x="2633472" y="1460754"/>
            <a:ext cx="356616" cy="356616"/>
          </a:xfrm>
          <a:prstGeom prst="roundRect">
            <a:avLst>
              <a:gd name="adj" fmla="val 19231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84907" y="1512189"/>
            <a:ext cx="25374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350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📊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3072384" y="1563624"/>
            <a:ext cx="11658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Reasons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647188" y="1995678"/>
            <a:ext cx="192024" cy="192024"/>
          </a:xfrm>
          <a:prstGeom prst="ellipse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98623" y="2033397"/>
            <a:ext cx="82296" cy="89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2935224" y="1975104"/>
            <a:ext cx="11315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88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BMI – biggest reason</a:t>
            </a:r>
            <a:endParaRPr lang="en-US" sz="788" dirty="0"/>
          </a:p>
          <a:p>
            <a:r>
              <a:rPr lang="en-US" sz="788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increasing risk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2935224" y="2297430"/>
            <a:ext cx="1611630" cy="54864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35224" y="2297430"/>
            <a:ext cx="1321537" cy="54864"/>
          </a:xfrm>
          <a:prstGeom prst="roundRect">
            <a:avLst>
              <a:gd name="adj" fmla="val 50000"/>
            </a:avLst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47188" y="2544318"/>
            <a:ext cx="192024" cy="1920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698623" y="2582037"/>
            <a:ext cx="82296" cy="89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75" dirty="0"/>
          </a:p>
        </p:txBody>
      </p:sp>
      <p:sp>
        <p:nvSpPr>
          <p:cNvPr id="72" name="Text 70"/>
          <p:cNvSpPr/>
          <p:nvPr/>
        </p:nvSpPr>
        <p:spPr>
          <a:xfrm>
            <a:off x="2935224" y="2523744"/>
            <a:ext cx="11315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88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– second strongest</a:t>
            </a:r>
            <a:endParaRPr lang="en-US" sz="788" dirty="0"/>
          </a:p>
          <a:p>
            <a:r>
              <a:rPr lang="en-US" sz="788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</a:t>
            </a:r>
            <a:endParaRPr lang="en-US" sz="788" dirty="0"/>
          </a:p>
        </p:txBody>
      </p:sp>
      <p:sp>
        <p:nvSpPr>
          <p:cNvPr id="73" name="Shape 71"/>
          <p:cNvSpPr/>
          <p:nvPr/>
        </p:nvSpPr>
        <p:spPr>
          <a:xfrm>
            <a:off x="2935224" y="2846070"/>
            <a:ext cx="1611630" cy="54864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35225" y="2846070"/>
            <a:ext cx="1079792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47188" y="3092958"/>
            <a:ext cx="192024" cy="192024"/>
          </a:xfrm>
          <a:prstGeom prst="ellipse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698623" y="3130677"/>
            <a:ext cx="82296" cy="89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75" dirty="0"/>
          </a:p>
        </p:txBody>
      </p:sp>
      <p:sp>
        <p:nvSpPr>
          <p:cNvPr id="77" name="Text 75"/>
          <p:cNvSpPr/>
          <p:nvPr/>
        </p:nvSpPr>
        <p:spPr>
          <a:xfrm>
            <a:off x="2935224" y="3072384"/>
            <a:ext cx="11315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88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blood pressure –</a:t>
            </a:r>
            <a:endParaRPr lang="en-US" sz="788" dirty="0"/>
          </a:p>
          <a:p>
            <a:r>
              <a:rPr lang="en-US" sz="788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increases risk</a:t>
            </a:r>
            <a:endParaRPr lang="en-US" sz="788" dirty="0"/>
          </a:p>
        </p:txBody>
      </p:sp>
      <p:sp>
        <p:nvSpPr>
          <p:cNvPr id="78" name="Shape 76"/>
          <p:cNvSpPr/>
          <p:nvPr/>
        </p:nvSpPr>
        <p:spPr>
          <a:xfrm>
            <a:off x="2935224" y="3394710"/>
            <a:ext cx="1611630" cy="54864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935225" y="3394710"/>
            <a:ext cx="918629" cy="54864"/>
          </a:xfrm>
          <a:prstGeom prst="roundRect">
            <a:avLst>
              <a:gd name="adj" fmla="val 50000"/>
            </a:avLst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47188" y="3641598"/>
            <a:ext cx="192024" cy="192024"/>
          </a:xfrm>
          <a:prstGeom prst="ellipse">
            <a:avLst/>
          </a:prstGeom>
          <a:solidFill>
            <a:srgbClr val="2FAA5B"/>
          </a:solidFill>
          <a:ln w="12700">
            <a:solidFill>
              <a:srgbClr val="2FAA5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98623" y="3679317"/>
            <a:ext cx="82296" cy="89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75" dirty="0"/>
          </a:p>
        </p:txBody>
      </p:sp>
      <p:sp>
        <p:nvSpPr>
          <p:cNvPr id="82" name="Text 80"/>
          <p:cNvSpPr/>
          <p:nvPr/>
        </p:nvSpPr>
        <p:spPr>
          <a:xfrm>
            <a:off x="2935224" y="3621024"/>
            <a:ext cx="11315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88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activity –</a:t>
            </a:r>
            <a:endParaRPr lang="en-US" sz="788" dirty="0"/>
          </a:p>
          <a:p>
            <a:r>
              <a:rPr lang="en-US" sz="788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reduce risk</a:t>
            </a:r>
            <a:endParaRPr lang="en-US" sz="788" dirty="0"/>
          </a:p>
        </p:txBody>
      </p:sp>
      <p:sp>
        <p:nvSpPr>
          <p:cNvPr id="83" name="Shape 81"/>
          <p:cNvSpPr/>
          <p:nvPr/>
        </p:nvSpPr>
        <p:spPr>
          <a:xfrm>
            <a:off x="2935224" y="3943350"/>
            <a:ext cx="1611630" cy="54864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935225" y="3943350"/>
            <a:ext cx="1079792" cy="54864"/>
          </a:xfrm>
          <a:prstGeom prst="roundRect">
            <a:avLst>
              <a:gd name="adj" fmla="val 50000"/>
            </a:avLst>
          </a:prstGeom>
          <a:solidFill>
            <a:srgbClr val="2FAA5B"/>
          </a:solidFill>
          <a:ln w="12700">
            <a:solidFill>
              <a:srgbClr val="2FAA5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896612" y="1460754"/>
            <a:ext cx="356616" cy="356616"/>
          </a:xfrm>
          <a:prstGeom prst="roundRect">
            <a:avLst>
              <a:gd name="adj" fmla="val 19231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48047" y="1512189"/>
            <a:ext cx="25374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350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◔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5328666" y="1563624"/>
            <a:ext cx="11658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Insight</a:t>
            </a:r>
            <a:endParaRPr lang="en-US" sz="1200" dirty="0"/>
          </a:p>
        </p:txBody>
      </p:sp>
      <p:graphicFrame>
        <p:nvGraphicFramePr>
          <p:cNvPr id="88" name="Chart 0"/>
          <p:cNvGraphicFramePr/>
          <p:nvPr/>
        </p:nvGraphicFramePr>
        <p:xfrm>
          <a:off x="4773168" y="2101977"/>
          <a:ext cx="925830" cy="925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9" name="Shape 86"/>
          <p:cNvSpPr/>
          <p:nvPr/>
        </p:nvSpPr>
        <p:spPr>
          <a:xfrm>
            <a:off x="5616702" y="2259711"/>
            <a:ext cx="89154" cy="8915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781294" y="2245995"/>
            <a:ext cx="740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25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Status:</a:t>
            </a:r>
            <a:endParaRPr lang="en-US" sz="825" dirty="0"/>
          </a:p>
        </p:txBody>
      </p:sp>
      <p:sp>
        <p:nvSpPr>
          <p:cNvPr id="91" name="Text 88"/>
          <p:cNvSpPr/>
          <p:nvPr/>
        </p:nvSpPr>
        <p:spPr>
          <a:xfrm>
            <a:off x="6473952" y="2245995"/>
            <a:ext cx="3154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25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65%</a:t>
            </a:r>
            <a:endParaRPr lang="en-US" sz="825" dirty="0"/>
          </a:p>
        </p:txBody>
      </p:sp>
      <p:sp>
        <p:nvSpPr>
          <p:cNvPr id="92" name="Shape 89"/>
          <p:cNvSpPr/>
          <p:nvPr/>
        </p:nvSpPr>
        <p:spPr>
          <a:xfrm>
            <a:off x="5616702" y="2602611"/>
            <a:ext cx="89154" cy="8915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5781294" y="2588895"/>
            <a:ext cx="740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r>
              <a:rPr lang="en-US" sz="825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Lifestyle &amp;</a:t>
            </a:r>
            <a:endParaRPr lang="en-US" sz="825" dirty="0"/>
          </a:p>
          <a:p>
            <a:r>
              <a:rPr lang="en-US" sz="825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Access:</a:t>
            </a:r>
            <a:endParaRPr lang="en-US" sz="825" dirty="0"/>
          </a:p>
        </p:txBody>
      </p:sp>
      <p:sp>
        <p:nvSpPr>
          <p:cNvPr id="94" name="Text 91"/>
          <p:cNvSpPr/>
          <p:nvPr/>
        </p:nvSpPr>
        <p:spPr>
          <a:xfrm>
            <a:off x="6473952" y="2588895"/>
            <a:ext cx="3154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25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825" dirty="0"/>
          </a:p>
        </p:txBody>
      </p:sp>
      <p:sp>
        <p:nvSpPr>
          <p:cNvPr id="95" name="Shape 92"/>
          <p:cNvSpPr/>
          <p:nvPr/>
        </p:nvSpPr>
        <p:spPr>
          <a:xfrm>
            <a:off x="5616702" y="3055239"/>
            <a:ext cx="89154" cy="89154"/>
          </a:xfrm>
          <a:prstGeom prst="ellipse">
            <a:avLst/>
          </a:prstGeom>
          <a:solidFill>
            <a:srgbClr val="2FAA5B"/>
          </a:solidFill>
          <a:ln w="12700">
            <a:solidFill>
              <a:srgbClr val="2FAA5B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5781294" y="3041523"/>
            <a:ext cx="740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25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Demographic:</a:t>
            </a:r>
            <a:endParaRPr lang="en-US" sz="825" dirty="0"/>
          </a:p>
        </p:txBody>
      </p:sp>
      <p:sp>
        <p:nvSpPr>
          <p:cNvPr id="97" name="Text 94"/>
          <p:cNvSpPr/>
          <p:nvPr/>
        </p:nvSpPr>
        <p:spPr>
          <a:xfrm>
            <a:off x="6473952" y="3041523"/>
            <a:ext cx="3154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25" b="1" dirty="0">
                <a:solidFill>
                  <a:srgbClr val="2FA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25" dirty="0"/>
          </a:p>
        </p:txBody>
      </p:sp>
      <p:sp>
        <p:nvSpPr>
          <p:cNvPr id="98" name="Shape 95"/>
          <p:cNvSpPr/>
          <p:nvPr/>
        </p:nvSpPr>
        <p:spPr>
          <a:xfrm>
            <a:off x="4917186" y="3573018"/>
            <a:ext cx="1748790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4972050" y="3771900"/>
            <a:ext cx="174193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US" sz="975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Status is the main category</a:t>
            </a:r>
            <a:endParaRPr lang="en-US" sz="975" dirty="0"/>
          </a:p>
          <a:p>
            <a:r>
              <a:rPr lang="en-US" sz="975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driving this patient’s risk</a:t>
            </a:r>
            <a:endParaRPr lang="en-US" sz="975" dirty="0"/>
          </a:p>
        </p:txBody>
      </p:sp>
      <p:sp>
        <p:nvSpPr>
          <p:cNvPr id="100" name="Shape 97"/>
          <p:cNvSpPr/>
          <p:nvPr/>
        </p:nvSpPr>
        <p:spPr>
          <a:xfrm>
            <a:off x="7139178" y="1460754"/>
            <a:ext cx="356616" cy="356616"/>
          </a:xfrm>
          <a:prstGeom prst="roundRect">
            <a:avLst>
              <a:gd name="adj" fmla="val 19231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7190613" y="1512189"/>
            <a:ext cx="25374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350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🛡️</a:t>
            </a:r>
            <a:endParaRPr lang="en-US" sz="1350" dirty="0"/>
          </a:p>
        </p:txBody>
      </p:sp>
      <p:sp>
        <p:nvSpPr>
          <p:cNvPr id="102" name="Text 99"/>
          <p:cNvSpPr/>
          <p:nvPr/>
        </p:nvSpPr>
        <p:spPr>
          <a:xfrm>
            <a:off x="7571232" y="1488186"/>
            <a:ext cx="1268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25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</a:t>
            </a:r>
            <a:endParaRPr lang="en-US" sz="1125" dirty="0"/>
          </a:p>
          <a:p>
            <a:r>
              <a:rPr lang="en-US" sz="1125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125" dirty="0"/>
          </a:p>
        </p:txBody>
      </p:sp>
      <p:sp>
        <p:nvSpPr>
          <p:cNvPr id="103" name="Shape 100"/>
          <p:cNvSpPr/>
          <p:nvPr/>
        </p:nvSpPr>
        <p:spPr>
          <a:xfrm>
            <a:off x="7104888" y="2064258"/>
            <a:ext cx="233172" cy="233172"/>
          </a:xfrm>
          <a:prstGeom prst="ellipse">
            <a:avLst/>
          </a:prstGeom>
          <a:solidFill>
            <a:srgbClr val="DCEEFF"/>
          </a:solidFill>
          <a:ln w="12700">
            <a:solidFill>
              <a:srgbClr val="DCEEFF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7170039" y="2112264"/>
            <a:ext cx="10287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7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05" name="Text 102"/>
          <p:cNvSpPr/>
          <p:nvPr/>
        </p:nvSpPr>
        <p:spPr>
          <a:xfrm>
            <a:off x="7447788" y="2101977"/>
            <a:ext cx="13304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675" dirty="0">
                <a:solidFill>
                  <a:srgbClr val="12223A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Increase regular physical activity</a:t>
            </a:r>
            <a:endParaRPr lang="en-US" sz="675" dirty="0">
              <a:latin typeface="Aptos" panose="020B0004020202020204" pitchFamily="34" charset="0"/>
            </a:endParaRPr>
          </a:p>
        </p:txBody>
      </p:sp>
      <p:sp>
        <p:nvSpPr>
          <p:cNvPr id="106" name="Shape 103"/>
          <p:cNvSpPr/>
          <p:nvPr/>
        </p:nvSpPr>
        <p:spPr>
          <a:xfrm>
            <a:off x="7104888" y="2434590"/>
            <a:ext cx="1748790" cy="0"/>
          </a:xfrm>
          <a:prstGeom prst="line">
            <a:avLst/>
          </a:prstGeom>
          <a:noFill/>
          <a:ln w="10160">
            <a:solidFill>
              <a:srgbClr val="DCE6F2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7104888" y="2530602"/>
            <a:ext cx="233172" cy="233172"/>
          </a:xfrm>
          <a:prstGeom prst="ellipse">
            <a:avLst/>
          </a:prstGeom>
          <a:solidFill>
            <a:srgbClr val="DCEEFF"/>
          </a:solidFill>
          <a:ln w="12700">
            <a:solidFill>
              <a:srgbClr val="DCEEFF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7170039" y="2578608"/>
            <a:ext cx="10287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7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09" name="Text 106"/>
          <p:cNvSpPr/>
          <p:nvPr/>
        </p:nvSpPr>
        <p:spPr>
          <a:xfrm>
            <a:off x="7447788" y="2568321"/>
            <a:ext cx="13304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675" dirty="0">
                <a:solidFill>
                  <a:srgbClr val="12223A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Monitor and reduce BMI</a:t>
            </a:r>
            <a:endParaRPr lang="en-US" sz="675" dirty="0">
              <a:latin typeface="Aptos" panose="020B0004020202020204" pitchFamily="34" charset="0"/>
            </a:endParaRPr>
          </a:p>
        </p:txBody>
      </p:sp>
      <p:sp>
        <p:nvSpPr>
          <p:cNvPr id="110" name="Shape 107"/>
          <p:cNvSpPr/>
          <p:nvPr/>
        </p:nvSpPr>
        <p:spPr>
          <a:xfrm>
            <a:off x="7104888" y="2900934"/>
            <a:ext cx="1748790" cy="0"/>
          </a:xfrm>
          <a:prstGeom prst="line">
            <a:avLst/>
          </a:prstGeom>
          <a:noFill/>
          <a:ln w="10160">
            <a:solidFill>
              <a:srgbClr val="DCE6F2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104888" y="2996946"/>
            <a:ext cx="233172" cy="233172"/>
          </a:xfrm>
          <a:prstGeom prst="ellipse">
            <a:avLst/>
          </a:prstGeom>
          <a:solidFill>
            <a:srgbClr val="DCEEFF"/>
          </a:solidFill>
          <a:ln w="12700">
            <a:solidFill>
              <a:srgbClr val="DCEEFF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7170039" y="3044952"/>
            <a:ext cx="10287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7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7447788" y="3034665"/>
            <a:ext cx="13304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675" dirty="0">
                <a:solidFill>
                  <a:srgbClr val="12223A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Check blood pressure regularly</a:t>
            </a:r>
            <a:endParaRPr lang="en-US" sz="675" dirty="0">
              <a:latin typeface="Aptos" panose="020B0004020202020204" pitchFamily="34" charset="0"/>
            </a:endParaRPr>
          </a:p>
        </p:txBody>
      </p:sp>
      <p:sp>
        <p:nvSpPr>
          <p:cNvPr id="114" name="Shape 111"/>
          <p:cNvSpPr/>
          <p:nvPr/>
        </p:nvSpPr>
        <p:spPr>
          <a:xfrm>
            <a:off x="7104888" y="3367278"/>
            <a:ext cx="1748790" cy="0"/>
          </a:xfrm>
          <a:prstGeom prst="line">
            <a:avLst/>
          </a:prstGeom>
          <a:noFill/>
          <a:ln w="10160">
            <a:solidFill>
              <a:srgbClr val="DCE6F2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7104888" y="3463290"/>
            <a:ext cx="233172" cy="233172"/>
          </a:xfrm>
          <a:prstGeom prst="ellipse">
            <a:avLst/>
          </a:prstGeom>
          <a:solidFill>
            <a:srgbClr val="DCEEFF"/>
          </a:solidFill>
          <a:ln w="12700">
            <a:solidFill>
              <a:srgbClr val="DCEEFF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7170039" y="3511296"/>
            <a:ext cx="10287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7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117" name="Text 114"/>
          <p:cNvSpPr/>
          <p:nvPr/>
        </p:nvSpPr>
        <p:spPr>
          <a:xfrm>
            <a:off x="7447788" y="3501009"/>
            <a:ext cx="13304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675" dirty="0">
                <a:solidFill>
                  <a:srgbClr val="12223A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Consult a healthcare professional</a:t>
            </a:r>
            <a:endParaRPr lang="en-US" sz="675" dirty="0">
              <a:latin typeface="Aptos" panose="020B0004020202020204" pitchFamily="34" charset="0"/>
            </a:endParaRPr>
          </a:p>
        </p:txBody>
      </p:sp>
      <p:sp>
        <p:nvSpPr>
          <p:cNvPr id="118" name="Shape 115"/>
          <p:cNvSpPr/>
          <p:nvPr/>
        </p:nvSpPr>
        <p:spPr>
          <a:xfrm>
            <a:off x="7104888" y="3929634"/>
            <a:ext cx="1748790" cy="0"/>
          </a:xfrm>
          <a:prstGeom prst="line">
            <a:avLst/>
          </a:prstGeom>
          <a:noFill/>
          <a:ln w="10160">
            <a:solidFill>
              <a:srgbClr val="DCE6F2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7139178" y="4046220"/>
            <a:ext cx="164592" cy="1645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F8EFA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7197471" y="4077081"/>
            <a:ext cx="4800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algn="ctr"/>
            <a:r>
              <a:rPr lang="en-US" sz="675" b="1" dirty="0">
                <a:solidFill>
                  <a:srgbClr val="1F8E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675" dirty="0"/>
          </a:p>
        </p:txBody>
      </p:sp>
      <p:sp>
        <p:nvSpPr>
          <p:cNvPr id="121" name="Text 118"/>
          <p:cNvSpPr/>
          <p:nvPr/>
        </p:nvSpPr>
        <p:spPr>
          <a:xfrm>
            <a:off x="7399782" y="4018788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698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education and early awareness</a:t>
            </a:r>
            <a:endParaRPr lang="en-US" sz="698" dirty="0"/>
          </a:p>
          <a:p>
            <a:r>
              <a:rPr lang="en-US" sz="698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not a medical diagnosis</a:t>
            </a:r>
            <a:endParaRPr lang="en-US" sz="698" dirty="0"/>
          </a:p>
        </p:txBody>
      </p:sp>
      <p:sp>
        <p:nvSpPr>
          <p:cNvPr id="122" name="Shape 119"/>
          <p:cNvSpPr/>
          <p:nvPr/>
        </p:nvSpPr>
        <p:spPr>
          <a:xfrm>
            <a:off x="1165860" y="4677156"/>
            <a:ext cx="6816852" cy="42519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blurRad="25400" dist="50800" dir="2700000" algn="bl" rotWithShape="0">
              <a:srgbClr val="C6D1DE">
                <a:alpha val="22000"/>
              </a:srgbClr>
            </a:outerShdw>
          </a:effectLst>
        </p:spPr>
      </p:sp>
      <p:sp>
        <p:nvSpPr>
          <p:cNvPr id="123" name="Shape 120"/>
          <p:cNvSpPr/>
          <p:nvPr/>
        </p:nvSpPr>
        <p:spPr>
          <a:xfrm>
            <a:off x="1627872" y="4705310"/>
            <a:ext cx="356616" cy="356616"/>
          </a:xfrm>
          <a:prstGeom prst="roundRect">
            <a:avLst>
              <a:gd name="adj" fmla="val 19231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1679307" y="4756745"/>
            <a:ext cx="25374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350" dirty="0">
                <a:solidFill>
                  <a:srgbClr val="12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📄</a:t>
            </a:r>
            <a:endParaRPr lang="en-US" sz="1350" dirty="0"/>
          </a:p>
        </p:txBody>
      </p:sp>
      <p:sp>
        <p:nvSpPr>
          <p:cNvPr id="125" name="Text 122"/>
          <p:cNvSpPr/>
          <p:nvPr/>
        </p:nvSpPr>
        <p:spPr>
          <a:xfrm>
            <a:off x="2125980" y="4834890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US" sz="1125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final output extends binary prediction into probability, risk level, explanation, and action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72350" y="-445770"/>
            <a:ext cx="2194560" cy="2194560"/>
          </a:xfrm>
          <a:prstGeom prst="arc">
            <a:avLst/>
          </a:prstGeom>
          <a:solidFill>
            <a:srgbClr val="FBFDFF">
              <a:alpha val="0"/>
            </a:srgbClr>
          </a:solidFill>
          <a:ln w="25400">
            <a:solidFill>
              <a:srgbClr val="D9ECF9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77190" y="4011930"/>
            <a:ext cx="1508760" cy="1508760"/>
          </a:xfrm>
          <a:prstGeom prst="arc">
            <a:avLst/>
          </a:prstGeom>
          <a:solidFill>
            <a:srgbClr val="FBFDFF">
              <a:alpha val="0"/>
            </a:srgbClr>
          </a:solidFill>
          <a:ln w="25400">
            <a:solidFill>
              <a:srgbClr val="D9ECF9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7190" y="260604"/>
            <a:ext cx="60350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</a:p>
        </p:txBody>
      </p:sp>
      <p:sp>
        <p:nvSpPr>
          <p:cNvPr id="7" name="Shape 5"/>
          <p:cNvSpPr/>
          <p:nvPr/>
        </p:nvSpPr>
        <p:spPr>
          <a:xfrm>
            <a:off x="377190" y="802386"/>
            <a:ext cx="72009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headEnd type="none"/>
            <a:tailEnd type="none"/>
          </a:ln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00C173F-79FD-E0CE-0CA6-E43EA3736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829458"/>
            <a:ext cx="6462761" cy="43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27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" y="0"/>
            <a:ext cx="9143771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2434590"/>
            <a:ext cx="28803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2037759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F766E"/>
                </a:solidFill>
              </a:rPr>
              <a:t>Adding 2017 &amp; 2019 BRFSS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97880" y="822960"/>
            <a:ext cx="2537460" cy="3154680"/>
          </a:xfrm>
          <a:prstGeom prst="roundRect">
            <a:avLst>
              <a:gd name="adj" fmla="val 40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37910" y="113157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75" b="1" dirty="0">
                <a:solidFill>
                  <a:srgbClr val="2563EB"/>
                </a:solidFill>
              </a:rPr>
              <a:t>2015 → 2017 → 2019</a:t>
            </a:r>
            <a:endParaRPr lang="en-US" sz="1275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227064" y="1611630"/>
          <a:ext cx="1885950" cy="1611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6343650" y="3394710"/>
            <a:ext cx="1645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0B1F3A"/>
                </a:solidFill>
              </a:rPr>
              <a:t>Combined data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0B1F3A"/>
                </a:solidFill>
              </a:rPr>
              <a:t>769K rows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750" kern="1200">
                <a:solidFill>
                  <a:srgbClr val="64748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770" y="240030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Diabetes Target Mapping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45770" y="740664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2930" y="946404"/>
            <a:ext cx="891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b="1" dirty="0">
                <a:solidFill>
                  <a:srgbClr val="0B1F3A"/>
                </a:solidFill>
              </a:rPr>
              <a:t>Raw value</a:t>
            </a:r>
            <a:endParaRPr lang="en-US" sz="863" dirty="0"/>
          </a:p>
        </p:txBody>
      </p:sp>
      <p:sp>
        <p:nvSpPr>
          <p:cNvPr id="6" name="Text 4"/>
          <p:cNvSpPr/>
          <p:nvPr/>
        </p:nvSpPr>
        <p:spPr>
          <a:xfrm>
            <a:off x="1680210" y="946404"/>
            <a:ext cx="22631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b="1" dirty="0">
                <a:solidFill>
                  <a:srgbClr val="0B1F3A"/>
                </a:solidFill>
              </a:rPr>
              <a:t>Meaning</a:t>
            </a:r>
            <a:endParaRPr lang="en-US" sz="863" dirty="0"/>
          </a:p>
        </p:txBody>
      </p:sp>
      <p:sp>
        <p:nvSpPr>
          <p:cNvPr id="7" name="Text 5"/>
          <p:cNvSpPr/>
          <p:nvPr/>
        </p:nvSpPr>
        <p:spPr>
          <a:xfrm>
            <a:off x="4183380" y="946404"/>
            <a:ext cx="14401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b="1" dirty="0">
                <a:solidFill>
                  <a:srgbClr val="0B1F3A"/>
                </a:solidFill>
              </a:rPr>
              <a:t>Action</a:t>
            </a:r>
            <a:endParaRPr lang="en-US" sz="863" dirty="0"/>
          </a:p>
        </p:txBody>
      </p:sp>
      <p:sp>
        <p:nvSpPr>
          <p:cNvPr id="8" name="Shape 6"/>
          <p:cNvSpPr/>
          <p:nvPr/>
        </p:nvSpPr>
        <p:spPr>
          <a:xfrm>
            <a:off x="582930" y="1193292"/>
            <a:ext cx="5040630" cy="0"/>
          </a:xfrm>
          <a:prstGeom prst="line">
            <a:avLst/>
          </a:prstGeom>
          <a:noFill/>
          <a:ln w="1778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2930" y="1337310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2563EB"/>
                </a:solidFill>
              </a:rPr>
              <a:t>1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680210" y="1337310"/>
            <a:ext cx="21945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111827"/>
                </a:solidFill>
              </a:rPr>
              <a:t>Yes, diabetes</a:t>
            </a:r>
            <a:endParaRPr lang="en-US" sz="788" dirty="0"/>
          </a:p>
        </p:txBody>
      </p:sp>
      <p:sp>
        <p:nvSpPr>
          <p:cNvPr id="11" name="Text 9"/>
          <p:cNvSpPr/>
          <p:nvPr/>
        </p:nvSpPr>
        <p:spPr>
          <a:xfrm>
            <a:off x="4183380" y="1337310"/>
            <a:ext cx="1508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b="1" dirty="0">
                <a:solidFill>
                  <a:srgbClr val="0F766E"/>
                </a:solidFill>
              </a:rPr>
              <a:t>1 = Positive risk class</a:t>
            </a:r>
            <a:endParaRPr lang="en-US" sz="788" dirty="0"/>
          </a:p>
        </p:txBody>
      </p:sp>
      <p:sp>
        <p:nvSpPr>
          <p:cNvPr id="12" name="Shape 10"/>
          <p:cNvSpPr/>
          <p:nvPr/>
        </p:nvSpPr>
        <p:spPr>
          <a:xfrm>
            <a:off x="582930" y="1666494"/>
            <a:ext cx="504063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2930" y="1872234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2563EB"/>
                </a:solidFill>
              </a:rPr>
              <a:t>4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680210" y="1872234"/>
            <a:ext cx="21945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111827"/>
                </a:solidFill>
              </a:rPr>
              <a:t>Prediabetes / borderline diabetes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183380" y="1872234"/>
            <a:ext cx="1508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b="1" dirty="0">
                <a:solidFill>
                  <a:srgbClr val="0F766E"/>
                </a:solidFill>
              </a:rPr>
              <a:t>1 = Positive risk class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582930" y="2201418"/>
            <a:ext cx="504063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2930" y="2407158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2563EB"/>
                </a:solidFill>
              </a:rPr>
              <a:t>3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680210" y="2407158"/>
            <a:ext cx="21945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111827"/>
                </a:solidFill>
              </a:rPr>
              <a:t>No diabetes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4183380" y="2407158"/>
            <a:ext cx="1508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b="1" dirty="0">
                <a:solidFill>
                  <a:srgbClr val="0F766E"/>
                </a:solidFill>
              </a:rPr>
              <a:t>0 = Negative class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582930" y="2736342"/>
            <a:ext cx="504063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930" y="2942082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64748B"/>
                </a:solidFill>
              </a:rPr>
              <a:t>2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680210" y="2942082"/>
            <a:ext cx="21945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111827"/>
                </a:solidFill>
              </a:rPr>
              <a:t>Diabetes only during pregnancy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4183380" y="2942082"/>
            <a:ext cx="1508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DC2626"/>
                </a:solidFill>
              </a:rPr>
              <a:t>Remove</a:t>
            </a:r>
            <a:endParaRPr lang="en-US" sz="788" dirty="0"/>
          </a:p>
        </p:txBody>
      </p:sp>
      <p:sp>
        <p:nvSpPr>
          <p:cNvPr id="24" name="Shape 22"/>
          <p:cNvSpPr/>
          <p:nvPr/>
        </p:nvSpPr>
        <p:spPr>
          <a:xfrm>
            <a:off x="582930" y="3271266"/>
            <a:ext cx="504063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2930" y="3477006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64748B"/>
                </a:solidFill>
              </a:rPr>
              <a:t>7 / 9 / Missing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680210" y="3477006"/>
            <a:ext cx="21945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111827"/>
                </a:solidFill>
              </a:rPr>
              <a:t>Don’t know / Refused / Missing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4183380" y="3477006"/>
            <a:ext cx="1508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DC2626"/>
                </a:solidFill>
              </a:rPr>
              <a:t>Remove</a:t>
            </a:r>
            <a:endParaRPr lang="en-US" sz="788" dirty="0"/>
          </a:p>
        </p:txBody>
      </p:sp>
      <p:sp>
        <p:nvSpPr>
          <p:cNvPr id="28" name="Shape 26"/>
          <p:cNvSpPr/>
          <p:nvPr/>
        </p:nvSpPr>
        <p:spPr>
          <a:xfrm>
            <a:off x="582930" y="3806190"/>
            <a:ext cx="504063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00750" y="1337310"/>
            <a:ext cx="2537460" cy="1495044"/>
          </a:xfrm>
          <a:prstGeom prst="roundRect">
            <a:avLst>
              <a:gd name="adj" fmla="val 45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5916" y="1591056"/>
            <a:ext cx="21945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B1F3A"/>
                </a:solidFill>
              </a:rPr>
              <a:t>Final target definition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6206490" y="1920240"/>
            <a:ext cx="2091690" cy="5143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938" dirty="0">
                <a:solidFill>
                  <a:srgbClr val="111827"/>
                </a:solidFill>
              </a:rPr>
              <a:t>0 = No diabetes</a:t>
            </a:r>
            <a:endParaRPr lang="en-US" sz="938" dirty="0"/>
          </a:p>
          <a:p>
            <a:r>
              <a:rPr lang="en-US" sz="938" dirty="0">
                <a:solidFill>
                  <a:srgbClr val="111827"/>
                </a:solidFill>
              </a:rPr>
              <a:t>1 = Diabetes-related risk group</a:t>
            </a:r>
            <a:endParaRPr lang="en-US" sz="938" dirty="0"/>
          </a:p>
          <a:p>
            <a:r>
              <a:rPr lang="en-US" sz="938" dirty="0">
                <a:solidFill>
                  <a:srgbClr val="111827"/>
                </a:solidFill>
              </a:rPr>
              <a:t>     including prediabetes and diabetes</a:t>
            </a:r>
            <a:endParaRPr lang="en-US" sz="938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750" kern="1200">
                <a:solidFill>
                  <a:srgbClr val="64748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8610" y="150876"/>
            <a:ext cx="65151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Raw BRFSS Data to Clean Binary Data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08610" y="534924"/>
            <a:ext cx="8915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77190" y="877824"/>
            <a:ext cx="2331720" cy="35661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D1D5DB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6918" y="994410"/>
            <a:ext cx="192024" cy="192024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806" y="98755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E3A5F"/>
                </a:solidFill>
              </a:rPr>
              <a:t>Data Source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2930" y="1303020"/>
            <a:ext cx="188595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F172A"/>
                </a:solidFill>
              </a:rPr>
              <a:t>CDC BRFSS Annual Survey Data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2930" y="1591056"/>
            <a:ext cx="188595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64748B"/>
                </a:solidFill>
              </a:rPr>
              <a:t>Download original yearly survey data as SAS Transport (.XPT) files.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582930" y="2109915"/>
            <a:ext cx="1645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1E3A5F"/>
                </a:solidFill>
              </a:rPr>
              <a:t>Example years used: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9506" y="2264587"/>
            <a:ext cx="1680210" cy="61722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788" dirty="0">
                <a:solidFill>
                  <a:srgbClr val="0F172A"/>
                </a:solidFill>
              </a:rPr>
              <a:t>2017 BRFSS raw file</a:t>
            </a:r>
            <a:endParaRPr lang="en-US" sz="788" dirty="0"/>
          </a:p>
          <a:p>
            <a:r>
              <a:rPr lang="en-US" sz="788" dirty="0">
                <a:solidFill>
                  <a:srgbClr val="0F172A"/>
                </a:solidFill>
              </a:rPr>
              <a:t>2019 BRFSS raw file</a:t>
            </a:r>
            <a:endParaRPr lang="en-US" sz="788" dirty="0"/>
          </a:p>
          <a:p>
            <a:r>
              <a:rPr lang="en-US" sz="788" dirty="0">
                <a:solidFill>
                  <a:srgbClr val="0F172A"/>
                </a:solidFill>
              </a:rPr>
              <a:t>2015 Kaggle clean reference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643219" y="3725314"/>
            <a:ext cx="174879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506" y="2836151"/>
            <a:ext cx="1892808" cy="6995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700" dirty="0">
                <a:solidFill>
                  <a:srgbClr val="64748B"/>
                </a:solidFill>
              </a:rPr>
              <a:t>Source:</a:t>
            </a:r>
            <a:br>
              <a:rPr lang="en-US" sz="700" dirty="0">
                <a:solidFill>
                  <a:srgbClr val="64748B"/>
                </a:solidFill>
              </a:rPr>
            </a:br>
            <a:r>
              <a:rPr lang="en-US" sz="700" dirty="0">
                <a:solidFill>
                  <a:srgbClr val="64748B"/>
                </a:solidFill>
                <a:hlinkClick r:id="rId3"/>
              </a:rPr>
              <a:t>CDC BRFSS Annual Data</a:t>
            </a:r>
            <a:endParaRPr lang="en-US" sz="700" dirty="0">
              <a:solidFill>
                <a:srgbClr val="64748B"/>
              </a:solidFill>
            </a:endParaRPr>
          </a:p>
          <a:p>
            <a:r>
              <a:rPr lang="en-US" sz="700" dirty="0">
                <a:solidFill>
                  <a:srgbClr val="64748B"/>
                </a:solidFill>
                <a:hlinkClick r:id="rId4"/>
              </a:rPr>
              <a:t>2017</a:t>
            </a:r>
            <a:r>
              <a:rPr lang="en-US" sz="700" dirty="0">
                <a:solidFill>
                  <a:srgbClr val="64748B"/>
                </a:solidFill>
              </a:rPr>
              <a:t> 2017 BRFSS Data (SAS Transport Format) [ZIP – 101 MB]</a:t>
            </a:r>
          </a:p>
          <a:p>
            <a:r>
              <a:rPr lang="en-US" sz="700" dirty="0">
                <a:solidFill>
                  <a:srgbClr val="64748B"/>
                </a:solidFill>
                <a:hlinkClick r:id="rId5"/>
              </a:rPr>
              <a:t>2019</a:t>
            </a:r>
            <a:r>
              <a:rPr lang="en-US" sz="700" dirty="0">
                <a:solidFill>
                  <a:srgbClr val="64748B"/>
                </a:solidFill>
              </a:rPr>
              <a:t> 2019 BRFSS Data (SAS Transport Format) [ZIP – 101 MB]</a:t>
            </a:r>
            <a:br>
              <a:rPr lang="en-US" sz="700" dirty="0">
                <a:solidFill>
                  <a:srgbClr val="64748B"/>
                </a:solidFill>
              </a:rPr>
            </a:br>
            <a:r>
              <a:rPr lang="en-US" sz="700" dirty="0">
                <a:solidFill>
                  <a:srgbClr val="64748B"/>
                </a:solidFill>
                <a:hlinkClick r:id="rId6"/>
              </a:rPr>
              <a:t>Kaggle Diabetes Health Indicators dataset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880360" y="877824"/>
            <a:ext cx="586359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D1D5DB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90088" y="994410"/>
            <a:ext cx="192024" cy="192024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987552"/>
            <a:ext cx="53972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E3A5F"/>
                </a:solidFill>
              </a:rPr>
              <a:t>Cleaning Pipeline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20390" y="1337310"/>
            <a:ext cx="1062990" cy="52120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2686" y="1460754"/>
            <a:ext cx="192024" cy="1920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2686" y="1491615"/>
            <a:ext cx="1920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449574" y="144703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50" b="1" dirty="0">
                <a:solidFill>
                  <a:srgbClr val="0F172A"/>
                </a:solidFill>
              </a:rPr>
              <a:t>Download .XPT</a:t>
            </a:r>
            <a:endParaRPr lang="en-US" sz="750" dirty="0"/>
          </a:p>
          <a:p>
            <a:r>
              <a:rPr lang="en-US" sz="750" b="1" dirty="0">
                <a:solidFill>
                  <a:srgbClr val="0F172A"/>
                </a:solidFill>
              </a:rPr>
              <a:t>CDC raw annual file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91990" y="1337310"/>
            <a:ext cx="1062990" cy="52120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4286" y="1460754"/>
            <a:ext cx="192024" cy="1920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4286" y="1491615"/>
            <a:ext cx="1920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821174" y="144703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50" b="1" dirty="0">
                <a:solidFill>
                  <a:srgbClr val="0F172A"/>
                </a:solidFill>
              </a:rPr>
              <a:t>Convert to CSV</a:t>
            </a:r>
            <a:endParaRPr lang="en-US" sz="750" dirty="0"/>
          </a:p>
          <a:p>
            <a:r>
              <a:rPr lang="en-US" sz="750" b="1" dirty="0">
                <a:solidFill>
                  <a:srgbClr val="0F172A"/>
                </a:solidFill>
              </a:rPr>
              <a:t>read_sas → to_csv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863590" y="1337310"/>
            <a:ext cx="1062990" cy="52120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5886" y="1460754"/>
            <a:ext cx="192024" cy="1920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5886" y="1491615"/>
            <a:ext cx="1920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192774" y="144703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50" b="1" dirty="0">
                <a:solidFill>
                  <a:srgbClr val="0F172A"/>
                </a:solidFill>
              </a:rPr>
              <a:t>Select features</a:t>
            </a:r>
            <a:endParaRPr lang="en-US" sz="750" dirty="0"/>
          </a:p>
          <a:p>
            <a:r>
              <a:rPr lang="en-US" sz="750" b="1" dirty="0">
                <a:solidFill>
                  <a:srgbClr val="0F172A"/>
                </a:solidFill>
              </a:rPr>
              <a:t>match 2015 indicators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235190" y="1337310"/>
            <a:ext cx="1062990" cy="52120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7486" y="1460754"/>
            <a:ext cx="192024" cy="1920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7486" y="1491615"/>
            <a:ext cx="1920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7564374" y="144703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50" b="1" dirty="0">
                <a:solidFill>
                  <a:srgbClr val="0F172A"/>
                </a:solidFill>
              </a:rPr>
              <a:t>Rename columns</a:t>
            </a:r>
            <a:endParaRPr lang="en-US" sz="750" dirty="0"/>
          </a:p>
          <a:p>
            <a:r>
              <a:rPr lang="en-US" sz="750" b="1" dirty="0">
                <a:solidFill>
                  <a:srgbClr val="0F172A"/>
                </a:solidFill>
              </a:rPr>
              <a:t>same names as 2015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806190" y="2091690"/>
            <a:ext cx="1062990" cy="52120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88486" y="2215134"/>
            <a:ext cx="192024" cy="1920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8486" y="2245995"/>
            <a:ext cx="1920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135374" y="220141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50" b="1" dirty="0">
                <a:solidFill>
                  <a:srgbClr val="0F172A"/>
                </a:solidFill>
              </a:rPr>
              <a:t>Clean values</a:t>
            </a:r>
            <a:endParaRPr lang="en-US" sz="750" dirty="0"/>
          </a:p>
          <a:p>
            <a:r>
              <a:rPr lang="en-US" sz="750" b="1" dirty="0">
                <a:solidFill>
                  <a:srgbClr val="0F172A"/>
                </a:solidFill>
              </a:rPr>
              <a:t>remove invalid codes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177790" y="2091690"/>
            <a:ext cx="1062990" cy="52120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60086" y="2215134"/>
            <a:ext cx="192024" cy="1920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60086" y="2245995"/>
            <a:ext cx="1920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FFFFFF"/>
                </a:solidFill>
              </a:rPr>
              <a:t>6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506974" y="220141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50" b="1" dirty="0">
                <a:solidFill>
                  <a:srgbClr val="0F172A"/>
                </a:solidFill>
              </a:rPr>
              <a:t>Binary target</a:t>
            </a:r>
            <a:endParaRPr lang="en-US" sz="750" dirty="0"/>
          </a:p>
          <a:p>
            <a:r>
              <a:rPr lang="en-US" sz="750" b="1" dirty="0">
                <a:solidFill>
                  <a:srgbClr val="0F172A"/>
                </a:solidFill>
              </a:rPr>
              <a:t>0/1 diabetes label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549390" y="2091690"/>
            <a:ext cx="1062990" cy="52120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CBD5E1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631686" y="2215134"/>
            <a:ext cx="192024" cy="1920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1686" y="2245995"/>
            <a:ext cx="19202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FFFFFF"/>
                </a:solidFill>
              </a:rPr>
              <a:t>7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878574" y="220141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50" b="1" dirty="0">
                <a:solidFill>
                  <a:srgbClr val="0F172A"/>
                </a:solidFill>
              </a:rPr>
              <a:t>Save clean CSV</a:t>
            </a:r>
            <a:endParaRPr lang="en-US" sz="750" dirty="0"/>
          </a:p>
          <a:p>
            <a:r>
              <a:rPr lang="en-US" sz="750" b="1" dirty="0">
                <a:solidFill>
                  <a:srgbClr val="0F172A"/>
                </a:solidFill>
              </a:rPr>
              <a:t>ready for modeling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83380" y="1597914"/>
            <a:ext cx="26060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554980" y="1597914"/>
            <a:ext cx="26060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926580" y="1597914"/>
            <a:ext cx="26060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763256" y="1865376"/>
            <a:ext cx="0" cy="226314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869180" y="2352294"/>
            <a:ext cx="26060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240780" y="2352294"/>
            <a:ext cx="26060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154680" y="3257550"/>
            <a:ext cx="1632204" cy="85725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D1D5DB">
                <a:alpha val="14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264408" y="3374136"/>
            <a:ext cx="192024" cy="192024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11296" y="3367278"/>
            <a:ext cx="1165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E3A5F"/>
                </a:solidFill>
              </a:rPr>
              <a:t>Feature Match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326130" y="3634740"/>
            <a:ext cx="13030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28" dirty="0">
                <a:solidFill>
                  <a:srgbClr val="0F172A"/>
                </a:solidFill>
              </a:rPr>
              <a:t>Keep only columns that also exist in the 2015 diabetes dataset.</a:t>
            </a:r>
            <a:endParaRPr lang="en-US" sz="728" dirty="0"/>
          </a:p>
        </p:txBody>
      </p:sp>
      <p:sp>
        <p:nvSpPr>
          <p:cNvPr id="60" name="Shape 58"/>
          <p:cNvSpPr/>
          <p:nvPr/>
        </p:nvSpPr>
        <p:spPr>
          <a:xfrm>
            <a:off x="4937760" y="3257550"/>
            <a:ext cx="1632204" cy="85725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D1D5DB">
                <a:alpha val="14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047488" y="3374136"/>
            <a:ext cx="192024" cy="192024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94376" y="3367278"/>
            <a:ext cx="1165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E3A5F"/>
                </a:solidFill>
              </a:rPr>
              <a:t>Column Names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109210" y="3634740"/>
            <a:ext cx="13030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728" dirty="0">
                <a:solidFill>
                  <a:srgbClr val="0F172A"/>
                </a:solidFill>
              </a:rPr>
              <a:t>Rename raw BRFSS codes to clear ML names such as BMI, Age, HighBP.</a:t>
            </a:r>
            <a:endParaRPr lang="en-US" sz="728" dirty="0"/>
          </a:p>
        </p:txBody>
      </p:sp>
      <p:sp>
        <p:nvSpPr>
          <p:cNvPr id="64" name="Shape 62"/>
          <p:cNvSpPr/>
          <p:nvPr/>
        </p:nvSpPr>
        <p:spPr>
          <a:xfrm>
            <a:off x="6720840" y="3257550"/>
            <a:ext cx="1632204" cy="85725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D1D5DB">
                <a:alpha val="14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830568" y="3374136"/>
            <a:ext cx="192024" cy="192024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77456" y="3367278"/>
            <a:ext cx="1165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E3A5F"/>
                </a:solidFill>
              </a:rPr>
              <a:t>Binary Target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892290" y="3634740"/>
            <a:ext cx="13030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28" dirty="0">
                <a:solidFill>
                  <a:srgbClr val="0F172A"/>
                </a:solidFill>
              </a:rPr>
              <a:t>Group the diabetes column into only 2 classes: 0 and 1.</a:t>
            </a:r>
            <a:endParaRPr lang="en-US" sz="728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770" y="240030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Raw BRFSS Data to Clean Binary Data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45770" y="740664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14350" y="994410"/>
          <a:ext cx="4217670" cy="3188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109210" y="1062990"/>
            <a:ext cx="3360420" cy="301752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14950" y="1303020"/>
            <a:ext cx="29146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0B1F3A"/>
                </a:solidFill>
              </a:rPr>
              <a:t>Why rows decrease after cleaning?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5314950" y="1680210"/>
            <a:ext cx="284607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75" dirty="0">
                <a:solidFill>
                  <a:srgbClr val="111827"/>
                </a:solidFill>
              </a:rPr>
              <a:t>Raw BRFSS has more answer categories and many survey variables. We keep only records with a clear diabetes status and the same selected 21 features used by the 2015 dataset.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5314950" y="2880360"/>
            <a:ext cx="85725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2563EB"/>
                </a:solidFill>
              </a:rPr>
              <a:t>253K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314950" y="3236976"/>
            <a:ext cx="857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64748B"/>
                </a:solidFill>
              </a:rPr>
              <a:t>Clean 2015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275070" y="2880360"/>
            <a:ext cx="85725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F766E"/>
                </a:solidFill>
              </a:rPr>
              <a:t>275K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75070" y="3236976"/>
            <a:ext cx="857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64748B"/>
                </a:solidFill>
              </a:rPr>
              <a:t>Clean 2017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235190" y="2880360"/>
            <a:ext cx="85725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97316"/>
                </a:solidFill>
              </a:rPr>
              <a:t>240K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35190" y="3236976"/>
            <a:ext cx="857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64748B"/>
                </a:solidFill>
              </a:rPr>
              <a:t>Clean 2019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314950" y="3771900"/>
            <a:ext cx="2880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b="1" dirty="0">
                <a:solidFill>
                  <a:srgbClr val="0F766E"/>
                </a:solidFill>
              </a:rPr>
              <a:t>Clean binary data = ready structure for model training</a:t>
            </a:r>
            <a:endParaRPr lang="en-US" sz="86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750" kern="1200">
                <a:solidFill>
                  <a:srgbClr val="64748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770" y="240030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Combined Dataset and Class Imbalance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45770" y="740664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617220" y="925830"/>
          <a:ext cx="2983230" cy="2983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977640" y="1303020"/>
            <a:ext cx="14401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2563EB"/>
                </a:solidFill>
              </a:rPr>
              <a:t>84.55%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3991356" y="1680210"/>
            <a:ext cx="1645920" cy="37719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/>
          <a:lstStyle/>
          <a:p>
            <a:r>
              <a:rPr lang="en-US" sz="900" dirty="0">
                <a:solidFill>
                  <a:srgbClr val="111827"/>
                </a:solidFill>
              </a:rPr>
              <a:t>Class 0 = 650,997</a:t>
            </a:r>
            <a:endParaRPr lang="en-US" sz="900" dirty="0"/>
          </a:p>
          <a:p>
            <a:r>
              <a:rPr lang="en-US" sz="900" dirty="0">
                <a:solidFill>
                  <a:srgbClr val="111827"/>
                </a:solidFill>
              </a:rPr>
              <a:t>No diabetes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977640" y="2434590"/>
            <a:ext cx="14401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97316"/>
                </a:solidFill>
              </a:rPr>
              <a:t>15.45%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3991356" y="2811780"/>
            <a:ext cx="1783080" cy="37719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/>
          <a:lstStyle/>
          <a:p>
            <a:r>
              <a:rPr lang="en-US" sz="900" dirty="0">
                <a:solidFill>
                  <a:srgbClr val="111827"/>
                </a:solidFill>
              </a:rPr>
              <a:t>Class 1 = 119,922</a:t>
            </a:r>
            <a:endParaRPr lang="en-US" sz="900" dirty="0"/>
          </a:p>
          <a:p>
            <a:r>
              <a:rPr lang="en-US" sz="900" dirty="0">
                <a:solidFill>
                  <a:srgbClr val="111827"/>
                </a:solidFill>
              </a:rPr>
              <a:t>Prediabetes or diabetes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37910" y="925830"/>
            <a:ext cx="2400300" cy="318897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3650" y="1200150"/>
            <a:ext cx="19888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64748B"/>
                </a:solidFill>
              </a:rPr>
              <a:t>Total combined rows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6343650" y="1460754"/>
            <a:ext cx="19888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0B1F3A"/>
                </a:solidFill>
              </a:rPr>
              <a:t>769,919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343650" y="2057400"/>
            <a:ext cx="1988820" cy="720090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825" dirty="0">
                <a:solidFill>
                  <a:srgbClr val="111827"/>
                </a:solidFill>
              </a:rPr>
              <a:t>Most records are class 0. If we train directly without care, the model may become good at predicting “no diabetes” but weaker at finding real risk cases.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6343650" y="3354108"/>
            <a:ext cx="19888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10" b="1" dirty="0">
                <a:solidFill>
                  <a:srgbClr val="0F766E"/>
                </a:solidFill>
              </a:rPr>
              <a:t>Next: use stratified split + class balancing such as SMOTE</a:t>
            </a:r>
            <a:endParaRPr lang="en-US" sz="8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750" kern="1200">
                <a:solidFill>
                  <a:srgbClr val="64748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1553</Words>
  <Application>Microsoft Office PowerPoint</Application>
  <PresentationFormat>On-screen Show (16:9)</PresentationFormat>
  <Paragraphs>336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Using Feature Grouping</dc:title>
  <dc:subject>PptxGenJS Presentation</dc:subject>
  <dc:creator>PptxGenJS</dc:creator>
  <cp:lastModifiedBy>﻿Nhor Povketya</cp:lastModifiedBy>
  <cp:revision>89</cp:revision>
  <dcterms:created xsi:type="dcterms:W3CDTF">2026-04-21T09:54:52Z</dcterms:created>
  <dcterms:modified xsi:type="dcterms:W3CDTF">2026-05-06T18:04:06Z</dcterms:modified>
</cp:coreProperties>
</file>