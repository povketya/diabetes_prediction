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80" r:id="rId22"/>
    <p:sldId id="279" r:id="rId23"/>
    <p:sldId id="278" r:id="rId24"/>
  </p:sldIdLst>
  <p:sldSz cx="18288000" cy="10287000"/>
  <p:notesSz cx="6858000" cy="9144000"/>
  <p:embeddedFontLst>
    <p:embeddedFont>
      <p:font typeface="Arimo" panose="020B0604020202020204" charset="0"/>
      <p:regular r:id="rId27"/>
    </p:embeddedFont>
    <p:embeddedFont>
      <p:font typeface="Arimo Italics" panose="020B0604020202020204" charset="0"/>
      <p:regular r:id="rId28"/>
    </p:embeddedFont>
    <p:embeddedFont>
      <p:font typeface="Canva Sans" panose="020B0604020202020204" charset="0"/>
      <p:regular r:id="rId29"/>
    </p:embeddedFont>
    <p:embeddedFont>
      <p:font typeface="Canva Sans Bold" panose="020B0604020202020204" charset="0"/>
      <p:regular r:id="rId30"/>
    </p:embeddedFont>
    <p:embeddedFont>
      <p:font typeface="Canva Sans Italics" panose="020B0604020202020204" charset="0"/>
      <p:regular r:id="rId31"/>
    </p:embeddedFont>
    <p:embeddedFont>
      <p:font typeface="Helios Extended Bold" panose="020B0604020202020204" charset="0"/>
      <p:regular r:id="rId32"/>
    </p:embeddedFon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Lato Bold" panose="020F0502020204030203" charset="0"/>
      <p:regular r:id="rId37"/>
      <p:bold r:id="rId38"/>
    </p:embeddedFont>
    <p:embeddedFont>
      <p:font typeface="Source Sans 3" panose="020B0604020202020204" charset="0"/>
      <p:regular r:id="rId39"/>
    </p:embeddedFont>
    <p:embeddedFont>
      <p:font typeface="Source Sans 3 Bold" panose="020B0604020202020204" charset="0"/>
      <p:regular r:id="rId40"/>
    </p:embeddedFont>
    <p:embeddedFont>
      <p:font typeface="Source Sans 3 Bold Italics" panose="020B0604020202020204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2" autoAdjust="0"/>
  </p:normalViewPr>
  <p:slideViewPr>
    <p:cSldViewPr>
      <p:cViewPr varScale="1">
        <p:scale>
          <a:sx n="55" d="100"/>
          <a:sy n="55" d="100"/>
        </p:scale>
        <p:origin x="68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C0F78-BB70-B5FC-0A4C-B6AE7142F6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B2D39-3E59-EF4A-1143-9D479323B8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521E4B-23C6-4AB5-9FAA-134751A7C0B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371C4-F20B-390B-93BD-3D774D779C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8FF5A-C219-8FB2-E32C-2B5EDA6D58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C8084-E201-4FFF-A294-724BC936E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0795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16E26-A795-4E1B-83CD-E0CE27D40F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2E454-182F-47E2-9BAF-D8783C69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8330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1.18071" TargetMode="External"/><Relationship Id="rId2" Type="http://schemas.openxmlformats.org/officeDocument/2006/relationships/hyperlink" Target="https://www.cdc.gov/pcd/issues/2019/19_0109.ht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science/article/pii/S0933365725000673" TargetMode="External"/><Relationship Id="rId5" Type="http://schemas.openxmlformats.org/officeDocument/2006/relationships/hyperlink" Target="https://www.sciencedirect.com/org/science/article/pii/S2049361425001662" TargetMode="External"/><Relationship Id="rId4" Type="http://schemas.openxmlformats.org/officeDocument/2006/relationships/hyperlink" Target="https://www.sciencedirect.com/science/article/pii/S2772671124002419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.sv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2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81814" y="2745247"/>
            <a:ext cx="11627413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59530" y="4403374"/>
            <a:ext cx="13166509" cy="14881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715"/>
              </a:lnSpc>
            </a:pPr>
            <a:r>
              <a:rPr lang="en-US" sz="5715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EXPLAINABLE AI FOR DIABETES RISK PREDICTION AND ACTIONABLE INSIGHTS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0" y="7522703"/>
            <a:ext cx="1693593" cy="2764297"/>
          </a:xfrm>
          <a:custGeom>
            <a:avLst/>
            <a:gdLst/>
            <a:ahLst/>
            <a:cxnLst/>
            <a:rect l="l" t="t" r="r" b="b"/>
            <a:pathLst>
              <a:path w="1693593" h="2764297">
                <a:moveTo>
                  <a:pt x="1693593" y="2764297"/>
                </a:moveTo>
                <a:lnTo>
                  <a:pt x="0" y="2764297"/>
                </a:lnTo>
                <a:lnTo>
                  <a:pt x="0" y="0"/>
                </a:lnTo>
                <a:lnTo>
                  <a:pt x="1693593" y="0"/>
                </a:lnTo>
                <a:lnTo>
                  <a:pt x="1693593" y="276429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781258" y="8596267"/>
            <a:ext cx="6725483" cy="576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53"/>
              </a:lnSpc>
              <a:spcBef>
                <a:spcPct val="0"/>
              </a:spcBef>
            </a:pPr>
            <a:r>
              <a:rPr lang="en-US" sz="1681" b="1" i="1">
                <a:solidFill>
                  <a:srgbClr val="000000"/>
                </a:solidFill>
                <a:latin typeface="Source Sans 3 Bold Italics"/>
                <a:ea typeface="Source Sans 3 Bold Italics"/>
                <a:cs typeface="Source Sans 3 Bold Italics"/>
                <a:sym typeface="Source Sans 3 Bold Italics"/>
              </a:rPr>
              <a:t>Presenter: Nhor Povketya</a:t>
            </a:r>
          </a:p>
          <a:p>
            <a:pPr marL="0" lvl="0" indent="0" algn="ctr">
              <a:lnSpc>
                <a:spcPts val="2353"/>
              </a:lnSpc>
              <a:spcBef>
                <a:spcPct val="0"/>
              </a:spcBef>
            </a:pPr>
            <a:r>
              <a:rPr lang="en-US" sz="1681" b="1" i="1">
                <a:solidFill>
                  <a:srgbClr val="000000"/>
                </a:solidFill>
                <a:latin typeface="Source Sans 3 Bold Italics"/>
                <a:ea typeface="Source Sans 3 Bold Italics"/>
                <a:cs typeface="Source Sans 3 Bold Italics"/>
                <a:sym typeface="Source Sans 3 Bold Italics"/>
              </a:rPr>
              <a:t>Advisor: Dr. Khim Chamroeun</a:t>
            </a:r>
          </a:p>
        </p:txBody>
      </p:sp>
      <p:sp>
        <p:nvSpPr>
          <p:cNvPr id="6" name="Freeform 6"/>
          <p:cNvSpPr/>
          <p:nvPr/>
        </p:nvSpPr>
        <p:spPr>
          <a:xfrm>
            <a:off x="1135052" y="732348"/>
            <a:ext cx="1117398" cy="1139746"/>
          </a:xfrm>
          <a:custGeom>
            <a:avLst/>
            <a:gdLst/>
            <a:ahLst/>
            <a:cxnLst/>
            <a:rect l="l" t="t" r="r" b="b"/>
            <a:pathLst>
              <a:path w="1117398" h="1139746">
                <a:moveTo>
                  <a:pt x="0" y="0"/>
                </a:moveTo>
                <a:lnTo>
                  <a:pt x="1117398" y="0"/>
                </a:lnTo>
                <a:lnTo>
                  <a:pt x="1117398" y="1139746"/>
                </a:lnTo>
                <a:lnTo>
                  <a:pt x="0" y="1139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000425" y="732348"/>
            <a:ext cx="1139746" cy="1139746"/>
          </a:xfrm>
          <a:custGeom>
            <a:avLst/>
            <a:gdLst/>
            <a:ahLst/>
            <a:cxnLst/>
            <a:rect l="l" t="t" r="r" b="b"/>
            <a:pathLst>
              <a:path w="1139746" h="1139746">
                <a:moveTo>
                  <a:pt x="0" y="0"/>
                </a:moveTo>
                <a:lnTo>
                  <a:pt x="1139746" y="0"/>
                </a:lnTo>
                <a:lnTo>
                  <a:pt x="1139746" y="1139746"/>
                </a:lnTo>
                <a:lnTo>
                  <a:pt x="0" y="11397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221316" y="843626"/>
            <a:ext cx="917189" cy="917189"/>
          </a:xfrm>
          <a:custGeom>
            <a:avLst/>
            <a:gdLst/>
            <a:ahLst/>
            <a:cxnLst/>
            <a:rect l="l" t="t" r="r" b="b"/>
            <a:pathLst>
              <a:path w="917189" h="917189">
                <a:moveTo>
                  <a:pt x="0" y="0"/>
                </a:moveTo>
                <a:lnTo>
                  <a:pt x="917189" y="0"/>
                </a:lnTo>
                <a:lnTo>
                  <a:pt x="917189" y="917189"/>
                </a:lnTo>
                <a:lnTo>
                  <a:pt x="0" y="917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192868" y="375333"/>
            <a:ext cx="7903793" cy="183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39"/>
              </a:lnSpc>
            </a:pPr>
            <a:r>
              <a:rPr lang="en-US" sz="3799" b="1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Royal University of Phnom Penh</a:t>
            </a:r>
          </a:p>
          <a:p>
            <a:pPr marL="0" lvl="0" indent="0" algn="ctr">
              <a:lnSpc>
                <a:spcPts val="4939"/>
              </a:lnSpc>
            </a:pPr>
            <a:r>
              <a:rPr lang="en-US" sz="3799" b="1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Faculty of Engineering</a:t>
            </a:r>
          </a:p>
          <a:p>
            <a:pPr marL="0" lvl="0" indent="0" algn="ctr">
              <a:lnSpc>
                <a:spcPts val="4939"/>
              </a:lnSpc>
            </a:pPr>
            <a:r>
              <a:rPr lang="en-US" sz="3750" b="1">
                <a:solidFill>
                  <a:srgbClr val="253439"/>
                </a:solidFill>
                <a:latin typeface="Lato Bold"/>
                <a:ea typeface="Lato Bold"/>
                <a:cs typeface="Lato Bold"/>
                <a:sym typeface="Lato Bold"/>
              </a:rPr>
              <a:t>Major: Data Science and Engineering</a:t>
            </a:r>
            <a:endParaRPr lang="en-US" sz="3750" b="1">
              <a:solidFill>
                <a:srgbClr val="253439"/>
              </a:solidFill>
              <a:latin typeface="Lato Bold"/>
              <a:ea typeface="Lato Bold"/>
              <a:cs typeface="Lat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9894" y="2110983"/>
            <a:ext cx="1734859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72269" y="1031998"/>
            <a:ext cx="886298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OUTLINE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2065" y="2567161"/>
            <a:ext cx="11076795" cy="5929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8039" lvl="1" indent="-364020" algn="l">
              <a:lnSpc>
                <a:spcPts val="6744"/>
              </a:lnSpc>
              <a:buFont typeface="Arial"/>
              <a:buChar char="•"/>
            </a:pPr>
            <a:r>
              <a:rPr lang="en-US" sz="3372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Background and Motivation</a:t>
            </a:r>
          </a:p>
          <a:p>
            <a:pPr marL="728039" lvl="1" indent="-364020" algn="l">
              <a:lnSpc>
                <a:spcPts val="6744"/>
              </a:lnSpc>
              <a:buFont typeface="Arial"/>
              <a:buChar char="•"/>
            </a:pPr>
            <a:r>
              <a:rPr lang="en-US" sz="3372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Research Objective</a:t>
            </a:r>
          </a:p>
          <a:p>
            <a:pPr marL="728039" lvl="1" indent="-364020" algn="l">
              <a:lnSpc>
                <a:spcPts val="6744"/>
              </a:lnSpc>
              <a:buFont typeface="Arial"/>
              <a:buChar char="•"/>
            </a:pPr>
            <a:r>
              <a:rPr lang="en-US" sz="3372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Literature Review</a:t>
            </a:r>
          </a:p>
          <a:p>
            <a:pPr marL="728039" lvl="1" indent="-364020" algn="l">
              <a:lnSpc>
                <a:spcPts val="6744"/>
              </a:lnSpc>
              <a:buFont typeface="Arial"/>
              <a:buChar char="•"/>
            </a:pPr>
            <a:r>
              <a:rPr lang="en-US" sz="3372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Methodology</a:t>
            </a:r>
          </a:p>
          <a:p>
            <a:pPr marL="728039" lvl="1" indent="-364020" algn="l">
              <a:lnSpc>
                <a:spcPts val="6744"/>
              </a:lnSpc>
              <a:buFont typeface="Arial"/>
              <a:buChar char="•"/>
            </a:pPr>
            <a:r>
              <a:rPr lang="en-US" sz="3372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Results</a:t>
            </a:r>
          </a:p>
          <a:p>
            <a:pPr marL="728039" lvl="1" indent="-364020" algn="l">
              <a:lnSpc>
                <a:spcPts val="6744"/>
              </a:lnSpc>
              <a:buFont typeface="Arial"/>
              <a:buChar char="•"/>
            </a:pPr>
            <a:r>
              <a:rPr lang="en-US" sz="3372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Conclusion</a:t>
            </a:r>
          </a:p>
          <a:p>
            <a:pPr marL="728039" lvl="1" indent="-364020" algn="l">
              <a:lnSpc>
                <a:spcPts val="6744"/>
              </a:lnSpc>
              <a:buFont typeface="Arial"/>
              <a:buChar char="•"/>
            </a:pPr>
            <a:r>
              <a:rPr lang="en-US" sz="337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66819" y="2227110"/>
            <a:ext cx="6086971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00144" y="1233850"/>
            <a:ext cx="886298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BACKGROUND AND 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2025" y="2845913"/>
            <a:ext cx="12986552" cy="5590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395" lvl="1" indent="-345197" algn="l">
              <a:lnSpc>
                <a:spcPts val="6395"/>
              </a:lnSpc>
              <a:buFont typeface="Arial"/>
              <a:buChar char="•"/>
            </a:pPr>
            <a:r>
              <a:rPr lang="en-US" sz="3197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Diabetes is a chronic disease associated with serious complications such as heart disease, kidney failure, and vision loss</a:t>
            </a:r>
          </a:p>
          <a:p>
            <a:pPr marL="690395" lvl="1" indent="-345197" algn="l">
              <a:lnSpc>
                <a:spcPts val="6395"/>
              </a:lnSpc>
              <a:buFont typeface="Arial"/>
              <a:buChar char="•"/>
            </a:pPr>
            <a:r>
              <a:rPr lang="en-US" sz="3197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Early risk prediction can support prevention and screening</a:t>
            </a:r>
          </a:p>
          <a:p>
            <a:pPr marL="690395" lvl="1" indent="-345197" algn="l">
              <a:lnSpc>
                <a:spcPts val="6395"/>
              </a:lnSpc>
              <a:buFont typeface="Arial"/>
              <a:buChar char="•"/>
            </a:pPr>
            <a:r>
              <a:rPr lang="en-US" sz="3197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Machine learning identifies risk patterns from health and lifestyle survey data</a:t>
            </a:r>
          </a:p>
          <a:p>
            <a:pPr marL="690395" lvl="1" indent="-345197" algn="l">
              <a:lnSpc>
                <a:spcPts val="6395"/>
              </a:lnSpc>
              <a:buFont typeface="Arial"/>
              <a:buChar char="•"/>
            </a:pPr>
            <a:r>
              <a:rPr lang="en-US" sz="3197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Explainable AI helps users understand model predictions, reveals reasoning behind model predictions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4795582" y="-818055"/>
            <a:ext cx="3859732" cy="3064215"/>
          </a:xfrm>
          <a:custGeom>
            <a:avLst/>
            <a:gdLst/>
            <a:ahLst/>
            <a:cxnLst/>
            <a:rect l="l" t="t" r="r" b="b"/>
            <a:pathLst>
              <a:path w="3859732" h="3064215">
                <a:moveTo>
                  <a:pt x="3859732" y="0"/>
                </a:moveTo>
                <a:lnTo>
                  <a:pt x="0" y="0"/>
                </a:lnTo>
                <a:lnTo>
                  <a:pt x="0" y="3064215"/>
                </a:lnTo>
                <a:lnTo>
                  <a:pt x="3859732" y="3064215"/>
                </a:lnTo>
                <a:lnTo>
                  <a:pt x="38597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20280" y="9258300"/>
            <a:ext cx="2867720" cy="625684"/>
          </a:xfrm>
          <a:custGeom>
            <a:avLst/>
            <a:gdLst/>
            <a:ahLst/>
            <a:cxnLst/>
            <a:rect l="l" t="t" r="r" b="b"/>
            <a:pathLst>
              <a:path w="2867720" h="625684">
                <a:moveTo>
                  <a:pt x="0" y="0"/>
                </a:moveTo>
                <a:lnTo>
                  <a:pt x="2867720" y="0"/>
                </a:lnTo>
                <a:lnTo>
                  <a:pt x="2867720" y="625684"/>
                </a:lnTo>
                <a:lnTo>
                  <a:pt x="0" y="625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11189" y="718030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Introduction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C7F1-D3DD-5B1B-B371-05B06B21BCA0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393304" y="8122558"/>
            <a:ext cx="3295695" cy="2616429"/>
          </a:xfrm>
          <a:custGeom>
            <a:avLst/>
            <a:gdLst/>
            <a:ahLst/>
            <a:cxnLst/>
            <a:rect l="l" t="t" r="r" b="b"/>
            <a:pathLst>
              <a:path w="3295695" h="2616429">
                <a:moveTo>
                  <a:pt x="3295695" y="2616429"/>
                </a:moveTo>
                <a:lnTo>
                  <a:pt x="0" y="2616429"/>
                </a:lnTo>
                <a:lnTo>
                  <a:pt x="0" y="0"/>
                </a:lnTo>
                <a:lnTo>
                  <a:pt x="3295695" y="0"/>
                </a:lnTo>
                <a:lnTo>
                  <a:pt x="3295695" y="26164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74126" y="2141857"/>
            <a:ext cx="4365965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39677" y="1178271"/>
            <a:ext cx="6128343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1096" y="2856599"/>
            <a:ext cx="1444016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4473" y="6556296"/>
            <a:ext cx="1444016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4473" y="3937816"/>
            <a:ext cx="1444016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4473" y="7916091"/>
            <a:ext cx="1444016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06205" y="2867076"/>
            <a:ext cx="883875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u="none" strike="noStrike" spc="-41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Traditional diabetes screening may require time, cost, and medical resources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06205" y="6536293"/>
            <a:ext cx="9657293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spc="-41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He</a:t>
            </a:r>
            <a:r>
              <a:rPr lang="en-US" sz="2099" u="none" strike="noStrike" spc="-41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alth datasets may contain missing values and imbalanced data, which can affect model performance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6205" y="3891417"/>
            <a:ext cx="8838753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spc="-41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Ex</a:t>
            </a:r>
            <a:r>
              <a:rPr lang="en-US" sz="2099" u="none" strike="noStrike" spc="-41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isting prediction systems often focus only on prediction accuracy without explaining the results clearly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06205" y="7914727"/>
            <a:ext cx="10033379" cy="708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spc="-41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2099" u="none" strike="noStrike" spc="-41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eed for explainable risk prediction system to raise awareness and support early screening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84473" y="5372916"/>
            <a:ext cx="1444016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06205" y="5383393"/>
            <a:ext cx="1023248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spc="-41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Cambod</a:t>
            </a:r>
            <a:r>
              <a:rPr lang="en-US" sz="2099" u="none" strike="noStrike" spc="-41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ia has limited AI-based diabetes prediction research using local health data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420280" y="403016"/>
            <a:ext cx="2867720" cy="625684"/>
          </a:xfrm>
          <a:custGeom>
            <a:avLst/>
            <a:gdLst/>
            <a:ahLst/>
            <a:cxnLst/>
            <a:rect l="l" t="t" r="r" b="b"/>
            <a:pathLst>
              <a:path w="2867720" h="625684">
                <a:moveTo>
                  <a:pt x="0" y="0"/>
                </a:moveTo>
                <a:lnTo>
                  <a:pt x="2867720" y="0"/>
                </a:lnTo>
                <a:lnTo>
                  <a:pt x="2867720" y="625684"/>
                </a:lnTo>
                <a:lnTo>
                  <a:pt x="0" y="625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111189" y="718030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Introduction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2F3BF67-2374-768B-8D72-55063351FBD8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393304" y="8122558"/>
            <a:ext cx="3295695" cy="2616429"/>
          </a:xfrm>
          <a:custGeom>
            <a:avLst/>
            <a:gdLst/>
            <a:ahLst/>
            <a:cxnLst/>
            <a:rect l="l" t="t" r="r" b="b"/>
            <a:pathLst>
              <a:path w="3295695" h="2616429">
                <a:moveTo>
                  <a:pt x="3295695" y="2616429"/>
                </a:moveTo>
                <a:lnTo>
                  <a:pt x="0" y="2616429"/>
                </a:lnTo>
                <a:lnTo>
                  <a:pt x="0" y="0"/>
                </a:lnTo>
                <a:lnTo>
                  <a:pt x="3295695" y="0"/>
                </a:lnTo>
                <a:lnTo>
                  <a:pt x="3295695" y="26164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2192657"/>
            <a:ext cx="4425312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200152"/>
            <a:ext cx="7461407" cy="82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RESEARCH 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60194"/>
            <a:ext cx="13154706" cy="669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383" lvl="1" indent="-321692" algn="l">
              <a:lnSpc>
                <a:spcPts val="5960"/>
              </a:lnSpc>
              <a:buFont typeface="Arial"/>
              <a:buChar char="•"/>
            </a:pPr>
            <a:r>
              <a:rPr lang="en-US" sz="298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Develop machine learning models for diabetes risk prediction using survey-based health indicators</a:t>
            </a:r>
          </a:p>
          <a:p>
            <a:pPr marL="643383" lvl="1" indent="-321692" algn="l">
              <a:lnSpc>
                <a:spcPts val="5960"/>
              </a:lnSpc>
              <a:buFont typeface="Arial"/>
              <a:buChar char="•"/>
            </a:pPr>
            <a:r>
              <a:rPr lang="en-US" sz="298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Train and validate the models using BRFSS 2017 data, and evaluate the final model on Cambodia STEPS as an independent test set</a:t>
            </a:r>
          </a:p>
          <a:p>
            <a:pPr marL="643383" lvl="1" indent="-321692" algn="l">
              <a:lnSpc>
                <a:spcPts val="5960"/>
              </a:lnSpc>
              <a:buFont typeface="Arial"/>
              <a:buChar char="•"/>
            </a:pPr>
            <a:r>
              <a:rPr lang="en-US" sz="298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Compare model performance using Recall, Precision, Accuracy, and F1-score</a:t>
            </a:r>
          </a:p>
          <a:p>
            <a:pPr marL="643383" lvl="1" indent="-321692" algn="l">
              <a:lnSpc>
                <a:spcPts val="5960"/>
              </a:lnSpc>
              <a:buFont typeface="Arial"/>
              <a:buChar char="•"/>
            </a:pPr>
            <a:r>
              <a:rPr lang="en-US" sz="298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Apply Explainable AI (SHAP) to identify key diabetes risk factors and explain individual predictions</a:t>
            </a:r>
          </a:p>
          <a:p>
            <a:pPr marL="643383" lvl="1" indent="-321692" algn="l">
              <a:lnSpc>
                <a:spcPts val="5960"/>
              </a:lnSpc>
              <a:buFont typeface="Arial"/>
              <a:buChar char="•"/>
            </a:pPr>
            <a:r>
              <a:rPr lang="en-US" sz="298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 actionable insights to support diabetes risk awareness and early screening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1189" y="718030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Introduction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D3C516-4994-EB87-F643-341B87E38F12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102540" y="2239504"/>
            <a:ext cx="3059571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249609"/>
            <a:ext cx="7409823" cy="82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RESEARCH QUESTIONS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12257476" y="3386557"/>
            <a:ext cx="764526" cy="976621"/>
          </a:xfrm>
          <a:custGeom>
            <a:avLst/>
            <a:gdLst/>
            <a:ahLst/>
            <a:cxnLst/>
            <a:rect l="l" t="t" r="r" b="b"/>
            <a:pathLst>
              <a:path w="764526" h="976621">
                <a:moveTo>
                  <a:pt x="0" y="0"/>
                </a:moveTo>
                <a:lnTo>
                  <a:pt x="764526" y="0"/>
                </a:lnTo>
                <a:lnTo>
                  <a:pt x="764526" y="976620"/>
                </a:lnTo>
                <a:lnTo>
                  <a:pt x="0" y="97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536782" y="3386557"/>
            <a:ext cx="915435" cy="976621"/>
          </a:xfrm>
          <a:custGeom>
            <a:avLst/>
            <a:gdLst/>
            <a:ahLst/>
            <a:cxnLst/>
            <a:rect l="l" t="t" r="r" b="b"/>
            <a:pathLst>
              <a:path w="915435" h="976621">
                <a:moveTo>
                  <a:pt x="0" y="0"/>
                </a:moveTo>
                <a:lnTo>
                  <a:pt x="915435" y="0"/>
                </a:lnTo>
                <a:lnTo>
                  <a:pt x="915435" y="976620"/>
                </a:lnTo>
                <a:lnTo>
                  <a:pt x="0" y="976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68210" y="3443991"/>
            <a:ext cx="795529" cy="919186"/>
          </a:xfrm>
          <a:custGeom>
            <a:avLst/>
            <a:gdLst/>
            <a:ahLst/>
            <a:cxnLst/>
            <a:rect l="l" t="t" r="r" b="b"/>
            <a:pathLst>
              <a:path w="795529" h="919186">
                <a:moveTo>
                  <a:pt x="0" y="0"/>
                </a:moveTo>
                <a:lnTo>
                  <a:pt x="795529" y="0"/>
                </a:lnTo>
                <a:lnTo>
                  <a:pt x="795529" y="919186"/>
                </a:lnTo>
                <a:lnTo>
                  <a:pt x="0" y="919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94370" y="5363686"/>
            <a:ext cx="4769643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 health survey data from Cambodia STEPS and BRFSS be used to predict diabetes risk without blood test data?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95052" y="5363686"/>
            <a:ext cx="4769643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Which machine learning model is the best for finding people who may have diabetes risk?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19076" y="5363686"/>
            <a:ext cx="4769643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Which health indicators contribute most to diabetes risk prediction according to SHAP analysis?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420280" y="9258300"/>
            <a:ext cx="2867720" cy="625684"/>
          </a:xfrm>
          <a:custGeom>
            <a:avLst/>
            <a:gdLst/>
            <a:ahLst/>
            <a:cxnLst/>
            <a:rect l="l" t="t" r="r" b="b"/>
            <a:pathLst>
              <a:path w="2867720" h="625684">
                <a:moveTo>
                  <a:pt x="0" y="0"/>
                </a:moveTo>
                <a:lnTo>
                  <a:pt x="2867720" y="0"/>
                </a:lnTo>
                <a:lnTo>
                  <a:pt x="2867720" y="625684"/>
                </a:lnTo>
                <a:lnTo>
                  <a:pt x="0" y="6256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V="1">
            <a:off x="17055230" y="0"/>
            <a:ext cx="1232770" cy="1942761"/>
          </a:xfrm>
          <a:custGeom>
            <a:avLst/>
            <a:gdLst/>
            <a:ahLst/>
            <a:cxnLst/>
            <a:rect l="l" t="t" r="r" b="b"/>
            <a:pathLst>
              <a:path w="1232770" h="1942761">
                <a:moveTo>
                  <a:pt x="0" y="1942761"/>
                </a:moveTo>
                <a:lnTo>
                  <a:pt x="1232770" y="1942761"/>
                </a:lnTo>
                <a:lnTo>
                  <a:pt x="1232770" y="0"/>
                </a:lnTo>
                <a:lnTo>
                  <a:pt x="0" y="0"/>
                </a:lnTo>
                <a:lnTo>
                  <a:pt x="0" y="194276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111189" y="718030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Introduction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A126AD75-A10A-ACBF-0AF0-DCA45550B396}"/>
              </a:ext>
            </a:extLst>
          </p:cNvPr>
          <p:cNvSpPr txBox="1"/>
          <p:nvPr/>
        </p:nvSpPr>
        <p:spPr>
          <a:xfrm>
            <a:off x="596834" y="4749108"/>
            <a:ext cx="144401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RQ1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9EF09453-488B-3C9A-B5A3-1C3BF5F19B59}"/>
              </a:ext>
            </a:extLst>
          </p:cNvPr>
          <p:cNvSpPr txBox="1"/>
          <p:nvPr/>
        </p:nvSpPr>
        <p:spPr>
          <a:xfrm>
            <a:off x="5937079" y="4749108"/>
            <a:ext cx="144401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RQ2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BAC6A3CA-C6AA-367D-DF9B-83099391AA6A}"/>
              </a:ext>
            </a:extLst>
          </p:cNvPr>
          <p:cNvSpPr txBox="1"/>
          <p:nvPr/>
        </p:nvSpPr>
        <p:spPr>
          <a:xfrm>
            <a:off x="11661448" y="4749108"/>
            <a:ext cx="144401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7C898B"/>
                </a:solidFill>
                <a:latin typeface="Lato"/>
                <a:ea typeface="Lato"/>
                <a:cs typeface="Lato"/>
                <a:sym typeface="Lato"/>
              </a:rPr>
              <a:t>RQ3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B282260-D1CF-4213-3FE2-E6440F8C6C8D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41849" y="1981564"/>
            <a:ext cx="3080043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41849" y="942975"/>
            <a:ext cx="8156084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LITERATURE REVIEW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94360" y="2333297"/>
          <a:ext cx="16782049" cy="7567938"/>
        </p:xfrm>
        <a:graphic>
          <a:graphicData uri="http://schemas.openxmlformats.org/drawingml/2006/table">
            <a:tbl>
              <a:tblPr/>
              <a:tblGrid>
                <a:gridCol w="6296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0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0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313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Paper / Author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 Used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Dataset Type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Accuracy / Result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8051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u="sng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2" tooltip="https://www.cdc.gov/pcd/issues/2019/19_0109.htm"/>
                        </a:rPr>
                        <a:t>Xie et al. (2019) — </a:t>
                      </a:r>
                      <a:r>
                        <a:rPr lang="en-US" sz="1500" i="1" u="sng">
                          <a:solidFill>
                            <a:srgbClr val="000000"/>
                          </a:solidFill>
                          <a:latin typeface="Canva Sans Italics"/>
                          <a:ea typeface="Canva Sans Italics"/>
                          <a:cs typeface="Canva Sans Italics"/>
                          <a:sym typeface="Canva Sans Italics"/>
                          <a:hlinkClick r:id="rId2" tooltip="https://www.cdc.gov/pcd/issues/2019/19_0109.htm"/>
                        </a:rPr>
                        <a:t>Building Risk Prediction Models for Type 2 Diabetes Using Machine Learning Techniques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SVM, Decision Tree, Logistic Regression, Random Forest, Neural Network, Naive Bayes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BRFSS 2014 survey data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Neural Network: </a:t>
                      </a: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82.4% accuracy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, AUC </a:t>
                      </a: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0.7949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 Decision Tree had highest sensitivity </a:t>
                      </a: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51.6%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2772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u="sng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3" tooltip="https://arxiv.org/abs/2501.18071"/>
                        </a:rPr>
                        <a:t>Khokhar et al. — </a:t>
                      </a:r>
                      <a:r>
                        <a:rPr lang="en-US" sz="1500" i="1" u="sng">
                          <a:solidFill>
                            <a:srgbClr val="000000"/>
                          </a:solidFill>
                          <a:latin typeface="Canva Sans Italics"/>
                          <a:ea typeface="Canva Sans Italics"/>
                          <a:cs typeface="Canva Sans Italics"/>
                          <a:sym typeface="Canva Sans Italics"/>
                          <a:hlinkClick r:id="rId3" tooltip="https://arxiv.org/abs/2501.18071"/>
                        </a:rPr>
                        <a:t>Towards Transparent and Accurate Diabetes Prediction Using ML and XAI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Forest, XGBoost, LightGBM, Ensemble Model + SHAP/LIME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Diabetes Binary Health Indicators dataset from BRFSS 2015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Ensemble model: </a:t>
                      </a: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92.50% accuracy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, ROC-AUC </a:t>
                      </a:r>
                      <a:r>
                        <a:rPr lang="en-US" sz="15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0.975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 Important features: BMI, Age, General Health, Income, Physical Activity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8051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u="sng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4" tooltip="https://www.sciencedirect.com/science/article/pii/S2772671124002419"/>
                        </a:rPr>
                        <a:t>Katiyar et al. (2024) </a:t>
                      </a:r>
                      <a:r>
                        <a:rPr lang="en-US" sz="1500" i="1" u="sng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  <a:hlinkClick r:id="rId4" tooltip="https://www.sciencedirect.com/science/article/pii/S2772671124002419"/>
                        </a:rPr>
                        <a:t>Recent Advancements Using ML &amp; DL Approaches for Diabetes Detection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ML and Deep Learning Models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Multiple Diabetes Datasets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ML and DL models achieved high prediction performance, dataset quality significantly affects results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330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u="sng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5" tooltip="https://www.sciencedirect.com/org/science/article/pii/S2049361425001662"/>
                        </a:rPr>
                        <a:t>Li et al. (2025) Performance of Diabetes Risk Prediction Models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Statistical Models + Machine Learning Models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Population Health Datasets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Risk prediction models can support early screening and prevention of Type 2 Diabetes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8421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u="sng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6" tooltip="https://www.sciencedirect.com/science/article/pii/S0933365725000673"/>
                        </a:rPr>
                        <a:t>Khokhar et al. (2025) Advances in Artificial Intelligence for Diabetes Prediction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 Regression, SVM, Random Forest, XGBoost, CNN, RNN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Multiple Public Diabetes Datasets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Reviewed 53 studies, highlighted strong performance of ML models and the need for explainable and clinically relevant systems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0E33DAE9-175C-88B0-3B91-F06FBFDCE0E5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83132" y="9208459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5420280" y="8895617"/>
            <a:ext cx="2867720" cy="625684"/>
          </a:xfrm>
          <a:custGeom>
            <a:avLst/>
            <a:gdLst/>
            <a:ahLst/>
            <a:cxnLst/>
            <a:rect l="l" t="t" r="r" b="b"/>
            <a:pathLst>
              <a:path w="2867720" h="625684">
                <a:moveTo>
                  <a:pt x="2867720" y="0"/>
                </a:moveTo>
                <a:lnTo>
                  <a:pt x="0" y="0"/>
                </a:lnTo>
                <a:lnTo>
                  <a:pt x="0" y="625684"/>
                </a:lnTo>
                <a:lnTo>
                  <a:pt x="2867720" y="625684"/>
                </a:lnTo>
                <a:lnTo>
                  <a:pt x="28677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721471" y="2335364"/>
            <a:ext cx="15132669" cy="7108411"/>
          </a:xfrm>
          <a:custGeom>
            <a:avLst/>
            <a:gdLst/>
            <a:ahLst/>
            <a:cxnLst/>
            <a:rect l="l" t="t" r="r" b="b"/>
            <a:pathLst>
              <a:path w="15132669" h="7108411">
                <a:moveTo>
                  <a:pt x="0" y="0"/>
                </a:moveTo>
                <a:lnTo>
                  <a:pt x="15132669" y="0"/>
                </a:lnTo>
                <a:lnTo>
                  <a:pt x="15132669" y="7108411"/>
                </a:lnTo>
                <a:lnTo>
                  <a:pt x="0" y="7108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97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11189" y="1356194"/>
            <a:ext cx="9168058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Syst</a:t>
            </a:r>
            <a:r>
              <a:rPr lang="en-US" sz="4800" u="none" strike="noStrike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em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1189" y="527530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Methodology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E2ECA6-8454-E462-0AF9-CA3AB91A577F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55230" y="8344239"/>
            <a:ext cx="1232770" cy="1942761"/>
          </a:xfrm>
          <a:custGeom>
            <a:avLst/>
            <a:gdLst/>
            <a:ahLst/>
            <a:cxnLst/>
            <a:rect l="l" t="t" r="r" b="b"/>
            <a:pathLst>
              <a:path w="1232770" h="1942761">
                <a:moveTo>
                  <a:pt x="0" y="0"/>
                </a:moveTo>
                <a:lnTo>
                  <a:pt x="1232770" y="0"/>
                </a:lnTo>
                <a:lnTo>
                  <a:pt x="1232770" y="1942761"/>
                </a:lnTo>
                <a:lnTo>
                  <a:pt x="0" y="1942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95580" y="2177074"/>
            <a:ext cx="1708972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596635" y="3171244"/>
            <a:ext cx="7360437" cy="4783564"/>
            <a:chOff x="0" y="0"/>
            <a:chExt cx="1938551" cy="1259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38551" cy="1259869"/>
            </a:xfrm>
            <a:custGeom>
              <a:avLst/>
              <a:gdLst/>
              <a:ahLst/>
              <a:cxnLst/>
              <a:rect l="l" t="t" r="r" b="b"/>
              <a:pathLst>
                <a:path w="1938551" h="1259869">
                  <a:moveTo>
                    <a:pt x="0" y="0"/>
                  </a:moveTo>
                  <a:lnTo>
                    <a:pt x="1938551" y="0"/>
                  </a:lnTo>
                  <a:lnTo>
                    <a:pt x="1938551" y="1259869"/>
                  </a:lnTo>
                  <a:lnTo>
                    <a:pt x="0" y="1259869"/>
                  </a:lnTo>
                  <a:close/>
                </a:path>
              </a:pathLst>
            </a:custGeom>
            <a:solidFill>
              <a:srgbClr val="ECE7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38551" cy="1297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50711" y="3171244"/>
            <a:ext cx="7360437" cy="4783564"/>
            <a:chOff x="0" y="0"/>
            <a:chExt cx="1938551" cy="12598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38551" cy="1259869"/>
            </a:xfrm>
            <a:custGeom>
              <a:avLst/>
              <a:gdLst/>
              <a:ahLst/>
              <a:cxnLst/>
              <a:rect l="l" t="t" r="r" b="b"/>
              <a:pathLst>
                <a:path w="1938551" h="1259869">
                  <a:moveTo>
                    <a:pt x="0" y="0"/>
                  </a:moveTo>
                  <a:lnTo>
                    <a:pt x="1938551" y="0"/>
                  </a:lnTo>
                  <a:lnTo>
                    <a:pt x="1938551" y="1259869"/>
                  </a:lnTo>
                  <a:lnTo>
                    <a:pt x="0" y="1259869"/>
                  </a:lnTo>
                  <a:close/>
                </a:path>
              </a:pathLst>
            </a:custGeom>
            <a:solidFill>
              <a:srgbClr val="ECE7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38551" cy="1297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95580" y="1099653"/>
            <a:ext cx="6632339" cy="81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4"/>
              </a:lnSpc>
              <a:spcBef>
                <a:spcPct val="0"/>
              </a:spcBef>
            </a:pPr>
            <a:r>
              <a:rPr lang="en-US" sz="4803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DATASET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37743" y="3666410"/>
            <a:ext cx="3397932" cy="59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1"/>
              </a:lnSpc>
              <a:spcBef>
                <a:spcPct val="0"/>
              </a:spcBef>
            </a:pPr>
            <a:r>
              <a:rPr lang="en-US" sz="3565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Cambodia STEPS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5858" y="3666410"/>
            <a:ext cx="2990143" cy="59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1"/>
              </a:lnSpc>
              <a:spcBef>
                <a:spcPct val="0"/>
              </a:spcBef>
            </a:pPr>
            <a:r>
              <a:rPr lang="en-US" sz="3565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BRFSS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8161" y="4758129"/>
            <a:ext cx="6497385" cy="215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65"/>
              </a:lnSpc>
              <a:spcBef>
                <a:spcPct val="0"/>
              </a:spcBef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Local survey data collected in Cambodia</a:t>
            </a:r>
          </a:p>
          <a:p>
            <a:pPr marL="441853" lvl="1" indent="-220926" algn="just">
              <a:lnSpc>
                <a:spcPts val="2865"/>
              </a:lnSpc>
              <a:spcBef>
                <a:spcPct val="0"/>
              </a:spcBef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Demographic indicators (age, sex, education)</a:t>
            </a:r>
          </a:p>
          <a:p>
            <a:pPr marL="441853" lvl="1" indent="-220926" algn="just">
              <a:lnSpc>
                <a:spcPts val="2865"/>
              </a:lnSpc>
              <a:spcBef>
                <a:spcPct val="0"/>
              </a:spcBef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Health indicators (BMI, blood pressure, cholesterol)</a:t>
            </a:r>
          </a:p>
          <a:p>
            <a:pPr marL="441853" lvl="1" indent="-220926" algn="just">
              <a:lnSpc>
                <a:spcPts val="2865"/>
              </a:lnSpc>
              <a:spcBef>
                <a:spcPct val="0"/>
              </a:spcBef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Lifestyle indicators (smoking, physical activity, diet)</a:t>
            </a:r>
          </a:p>
          <a:p>
            <a:pPr marL="441853" lvl="1" indent="-220926" algn="just">
              <a:lnSpc>
                <a:spcPts val="2865"/>
              </a:lnSpc>
              <a:spcBef>
                <a:spcPct val="0"/>
              </a:spcBef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873 rows after preprocessing with 14% of Positive rate</a:t>
            </a:r>
          </a:p>
          <a:p>
            <a:pPr marL="441853" lvl="1" indent="-220926" algn="just">
              <a:lnSpc>
                <a:spcPts val="2865"/>
              </a:lnSpc>
              <a:spcBef>
                <a:spcPct val="0"/>
              </a:spcBef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Target: Diabetes status (0 = non-diabetes, 1 = diabetes)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82237" y="4910529"/>
            <a:ext cx="6497385" cy="1795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65"/>
              </a:lnSpc>
              <a:spcBef>
                <a:spcPct val="0"/>
              </a:spcBef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Larger benchmark dataset from the United States</a:t>
            </a:r>
          </a:p>
          <a:p>
            <a:pPr marL="441853" lvl="1" indent="-220926" algn="just">
              <a:lnSpc>
                <a:spcPts val="2865"/>
              </a:lnSpc>
              <a:spcBef>
                <a:spcPct val="0"/>
              </a:spcBef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Similar health and lifestyle indicators</a:t>
            </a:r>
          </a:p>
          <a:p>
            <a:pPr marL="441853" lvl="1" indent="-220926" algn="just">
              <a:lnSpc>
                <a:spcPts val="2865"/>
              </a:lnSpc>
              <a:spcBef>
                <a:spcPct val="0"/>
              </a:spcBef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Used for training  2017</a:t>
            </a:r>
          </a:p>
          <a:p>
            <a:pPr marL="441853" lvl="1" indent="-220926" algn="just">
              <a:lnSpc>
                <a:spcPts val="2865"/>
              </a:lnSpc>
              <a:spcBef>
                <a:spcPct val="0"/>
              </a:spcBef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275746 rows after preprocessing 16% of Positive rate</a:t>
            </a:r>
          </a:p>
          <a:p>
            <a:pPr marL="441853" lvl="1" indent="-220926" algn="just">
              <a:lnSpc>
                <a:spcPts val="2865"/>
              </a:lnSpc>
              <a:spcBef>
                <a:spcPct val="0"/>
              </a:spcBef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Target: Diabetes status (0 = non-diabetes, 1 = diabetes)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1189" y="528868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Methodology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EE022E5-CB48-8690-9571-CBD2F10F7487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20280" y="9258300"/>
            <a:ext cx="2867720" cy="625684"/>
          </a:xfrm>
          <a:custGeom>
            <a:avLst/>
            <a:gdLst/>
            <a:ahLst/>
            <a:cxnLst/>
            <a:rect l="l" t="t" r="r" b="b"/>
            <a:pathLst>
              <a:path w="2867720" h="625684">
                <a:moveTo>
                  <a:pt x="0" y="0"/>
                </a:moveTo>
                <a:lnTo>
                  <a:pt x="2867720" y="0"/>
                </a:lnTo>
                <a:lnTo>
                  <a:pt x="2867720" y="625684"/>
                </a:lnTo>
                <a:lnTo>
                  <a:pt x="0" y="625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8344239"/>
            <a:ext cx="1232770" cy="1942761"/>
          </a:xfrm>
          <a:custGeom>
            <a:avLst/>
            <a:gdLst/>
            <a:ahLst/>
            <a:cxnLst/>
            <a:rect l="l" t="t" r="r" b="b"/>
            <a:pathLst>
              <a:path w="1232770" h="1942761">
                <a:moveTo>
                  <a:pt x="0" y="0"/>
                </a:moveTo>
                <a:lnTo>
                  <a:pt x="1232770" y="0"/>
                </a:lnTo>
                <a:lnTo>
                  <a:pt x="1232770" y="1942761"/>
                </a:lnTo>
                <a:lnTo>
                  <a:pt x="0" y="1942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17055230" y="0"/>
            <a:ext cx="1232770" cy="1942761"/>
          </a:xfrm>
          <a:custGeom>
            <a:avLst/>
            <a:gdLst/>
            <a:ahLst/>
            <a:cxnLst/>
            <a:rect l="l" t="t" r="r" b="b"/>
            <a:pathLst>
              <a:path w="1232770" h="1942761">
                <a:moveTo>
                  <a:pt x="0" y="1942761"/>
                </a:moveTo>
                <a:lnTo>
                  <a:pt x="1232770" y="1942761"/>
                </a:lnTo>
                <a:lnTo>
                  <a:pt x="1232770" y="0"/>
                </a:lnTo>
                <a:lnTo>
                  <a:pt x="0" y="0"/>
                </a:lnTo>
                <a:lnTo>
                  <a:pt x="0" y="19427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2158200"/>
            <a:ext cx="2549970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285455" y="3181984"/>
            <a:ext cx="1189006" cy="1341810"/>
          </a:xfrm>
          <a:custGeom>
            <a:avLst/>
            <a:gdLst/>
            <a:ahLst/>
            <a:cxnLst/>
            <a:rect l="l" t="t" r="r" b="b"/>
            <a:pathLst>
              <a:path w="1189006" h="1341810">
                <a:moveTo>
                  <a:pt x="0" y="0"/>
                </a:moveTo>
                <a:lnTo>
                  <a:pt x="1189006" y="0"/>
                </a:lnTo>
                <a:lnTo>
                  <a:pt x="1189006" y="1341810"/>
                </a:lnTo>
                <a:lnTo>
                  <a:pt x="0" y="1341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655946" y="3379548"/>
            <a:ext cx="1145443" cy="1084124"/>
          </a:xfrm>
          <a:custGeom>
            <a:avLst/>
            <a:gdLst/>
            <a:ahLst/>
            <a:cxnLst/>
            <a:rect l="l" t="t" r="r" b="b"/>
            <a:pathLst>
              <a:path w="1145443" h="1084124">
                <a:moveTo>
                  <a:pt x="0" y="0"/>
                </a:moveTo>
                <a:lnTo>
                  <a:pt x="1145443" y="0"/>
                </a:lnTo>
                <a:lnTo>
                  <a:pt x="1145443" y="1084124"/>
                </a:lnTo>
                <a:lnTo>
                  <a:pt x="0" y="10841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69594" y="3147782"/>
            <a:ext cx="1197132" cy="1322674"/>
          </a:xfrm>
          <a:custGeom>
            <a:avLst/>
            <a:gdLst/>
            <a:ahLst/>
            <a:cxnLst/>
            <a:rect l="l" t="t" r="r" b="b"/>
            <a:pathLst>
              <a:path w="1197132" h="1322674">
                <a:moveTo>
                  <a:pt x="0" y="0"/>
                </a:moveTo>
                <a:lnTo>
                  <a:pt x="1197132" y="0"/>
                </a:lnTo>
                <a:lnTo>
                  <a:pt x="1197132" y="1322674"/>
                </a:lnTo>
                <a:lnTo>
                  <a:pt x="0" y="13226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1068803"/>
            <a:ext cx="9015450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SELECTED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9300" y="4501840"/>
            <a:ext cx="3919389" cy="49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86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Demographic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34543" y="4530700"/>
            <a:ext cx="4833193" cy="49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86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Health Status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58566" y="4521332"/>
            <a:ext cx="5212018" cy="506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86"/>
              </a:lnSpc>
              <a:spcBef>
                <a:spcPct val="0"/>
              </a:spcBef>
            </a:pPr>
            <a:r>
              <a:rPr lang="en-US" sz="2918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Lifestyle &amp; Healthcare Access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3860" y="5635386"/>
            <a:ext cx="4769643" cy="129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</a:t>
            </a:r>
            <a:endParaRPr lang="en-US"/>
          </a:p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Sex</a:t>
            </a:r>
            <a:endParaRPr lang="en-US" sz="2400">
              <a:solidFill>
                <a:srgbClr val="000000"/>
              </a:solidFill>
              <a:latin typeface="Source Sans 3"/>
              <a:ea typeface="Source Sans 3"/>
              <a:cs typeface="Source Sans 3"/>
            </a:endParaRPr>
          </a:p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Education</a:t>
            </a:r>
            <a:endParaRPr lang="en-US" sz="2400">
              <a:solidFill>
                <a:srgbClr val="000000"/>
              </a:solidFill>
              <a:latin typeface="Source Sans 3"/>
              <a:ea typeface="Source Sans 3"/>
              <a:cs typeface="Source Sans 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34543" y="5635386"/>
            <a:ext cx="4769643" cy="129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High Blood Pressure</a:t>
            </a:r>
            <a:endParaRPr lang="en-US"/>
          </a:p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High Cholesterol</a:t>
            </a:r>
            <a:endParaRPr lang="en-US" sz="2400">
              <a:solidFill>
                <a:srgbClr val="000000"/>
              </a:solidFill>
              <a:latin typeface="Source Sans 3"/>
              <a:ea typeface="Source Sans 3"/>
              <a:cs typeface="Source Sans 3"/>
            </a:endParaRPr>
          </a:p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BMI</a:t>
            </a:r>
            <a:endParaRPr lang="en-US" sz="2400">
              <a:solidFill>
                <a:srgbClr val="000000"/>
              </a:solidFill>
              <a:latin typeface="Source Sans 3"/>
              <a:ea typeface="Source Sans 3"/>
              <a:cs typeface="Source Sans 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458566" y="5607280"/>
            <a:ext cx="4769643" cy="216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Smoker</a:t>
            </a:r>
            <a:endParaRPr lang="en-US"/>
          </a:p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Physical Activity</a:t>
            </a:r>
            <a:endParaRPr lang="en-US" sz="2400">
              <a:solidFill>
                <a:srgbClr val="000000"/>
              </a:solidFill>
              <a:latin typeface="Source Sans 3"/>
              <a:ea typeface="Source Sans 3"/>
              <a:cs typeface="Source Sans 3"/>
            </a:endParaRPr>
          </a:p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Fruits</a:t>
            </a:r>
            <a:endParaRPr lang="en-US" sz="2400">
              <a:solidFill>
                <a:srgbClr val="000000"/>
              </a:solidFill>
              <a:latin typeface="Source Sans 3"/>
              <a:ea typeface="Source Sans 3"/>
              <a:cs typeface="Source Sans 3"/>
            </a:endParaRPr>
          </a:p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Vegetables</a:t>
            </a:r>
            <a:endParaRPr lang="en-US" sz="2400">
              <a:solidFill>
                <a:srgbClr val="000000"/>
              </a:solidFill>
              <a:latin typeface="Source Sans 3"/>
              <a:ea typeface="Source Sans 3"/>
              <a:cs typeface="Source Sans 3"/>
            </a:endParaRPr>
          </a:p>
          <a:p>
            <a:pPr marL="342900" lvl="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Heavy Alcohol Consumption</a:t>
            </a:r>
            <a:endParaRPr lang="en-US" sz="2400">
              <a:solidFill>
                <a:srgbClr val="000000"/>
              </a:solidFill>
              <a:latin typeface="Source Sans 3"/>
              <a:ea typeface="Source Sans 3"/>
              <a:cs typeface="Source Sans 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11189" y="528868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Methodology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12EBCE-CE63-3D69-12FA-7B637F87087F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94407" y="0"/>
            <a:ext cx="1693593" cy="2764297"/>
          </a:xfrm>
          <a:custGeom>
            <a:avLst/>
            <a:gdLst/>
            <a:ahLst/>
            <a:cxnLst/>
            <a:rect l="l" t="t" r="r" b="b"/>
            <a:pathLst>
              <a:path w="1693593" h="2764297">
                <a:moveTo>
                  <a:pt x="0" y="0"/>
                </a:moveTo>
                <a:lnTo>
                  <a:pt x="1693593" y="0"/>
                </a:lnTo>
                <a:lnTo>
                  <a:pt x="1693593" y="2764297"/>
                </a:lnTo>
                <a:lnTo>
                  <a:pt x="0" y="2764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2191146"/>
            <a:ext cx="2601667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348037" y="1382149"/>
            <a:ext cx="5062308" cy="7028058"/>
            <a:chOff x="0" y="0"/>
            <a:chExt cx="784284" cy="10888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84284" cy="1088830"/>
            </a:xfrm>
            <a:custGeom>
              <a:avLst/>
              <a:gdLst/>
              <a:ahLst/>
              <a:cxnLst/>
              <a:rect l="l" t="t" r="r" b="b"/>
              <a:pathLst>
                <a:path w="784284" h="1088830">
                  <a:moveTo>
                    <a:pt x="35175" y="0"/>
                  </a:moveTo>
                  <a:lnTo>
                    <a:pt x="749109" y="0"/>
                  </a:lnTo>
                  <a:cubicBezTo>
                    <a:pt x="768536" y="0"/>
                    <a:pt x="784284" y="15748"/>
                    <a:pt x="784284" y="35175"/>
                  </a:cubicBezTo>
                  <a:lnTo>
                    <a:pt x="784284" y="1053656"/>
                  </a:lnTo>
                  <a:cubicBezTo>
                    <a:pt x="784284" y="1062985"/>
                    <a:pt x="780578" y="1071931"/>
                    <a:pt x="773982" y="1078528"/>
                  </a:cubicBezTo>
                  <a:cubicBezTo>
                    <a:pt x="767385" y="1085124"/>
                    <a:pt x="758438" y="1088830"/>
                    <a:pt x="749109" y="1088830"/>
                  </a:cubicBezTo>
                  <a:lnTo>
                    <a:pt x="35175" y="1088830"/>
                  </a:lnTo>
                  <a:cubicBezTo>
                    <a:pt x="15748" y="1088830"/>
                    <a:pt x="0" y="1073082"/>
                    <a:pt x="0" y="1053656"/>
                  </a:cubicBezTo>
                  <a:lnTo>
                    <a:pt x="0" y="35175"/>
                  </a:lnTo>
                  <a:cubicBezTo>
                    <a:pt x="0" y="25846"/>
                    <a:pt x="3706" y="16899"/>
                    <a:pt x="10302" y="10302"/>
                  </a:cubicBezTo>
                  <a:cubicBezTo>
                    <a:pt x="16899" y="3706"/>
                    <a:pt x="25846" y="0"/>
                    <a:pt x="35175" y="0"/>
                  </a:cubicBezTo>
                  <a:close/>
                </a:path>
              </a:pathLst>
            </a:custGeom>
            <a:blipFill>
              <a:blip r:embed="rId4"/>
              <a:stretch>
                <a:fillRect l="-1801" r="-18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190261"/>
            <a:ext cx="7416303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 SPLITTING STRATEGY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0267" y="2870309"/>
            <a:ext cx="8962175" cy="369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31"/>
              </a:lnSpc>
            </a:pPr>
            <a:r>
              <a:rPr lang="en-US" sz="2377" spc="-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BRFSS 2017 Dataset</a:t>
            </a:r>
          </a:p>
          <a:p>
            <a:pPr marL="513195" lvl="1" indent="-256598" algn="l">
              <a:lnSpc>
                <a:spcPts val="4231"/>
              </a:lnSpc>
              <a:buFont typeface="Arial"/>
              <a:buChar char="•"/>
            </a:pPr>
            <a:r>
              <a:rPr lang="en-US" sz="2377" spc="-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80% Training Set: Used for model learning and fitting</a:t>
            </a:r>
          </a:p>
          <a:p>
            <a:pPr marL="513195" lvl="1" indent="-256598" algn="l">
              <a:lnSpc>
                <a:spcPts val="4231"/>
              </a:lnSpc>
              <a:buFont typeface="Arial"/>
              <a:buChar char="•"/>
            </a:pPr>
            <a:r>
              <a:rPr lang="en-US" sz="2377" spc="-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20% Validation Set: Used for model selection and decision threshold tuning</a:t>
            </a:r>
          </a:p>
          <a:p>
            <a:pPr marL="0" lvl="0" indent="0" algn="just">
              <a:lnSpc>
                <a:spcPts val="4231"/>
              </a:lnSpc>
            </a:pPr>
            <a:r>
              <a:rPr lang="en-US" sz="2377" spc="-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Cambodia STEPS Dataset</a:t>
            </a:r>
          </a:p>
          <a:p>
            <a:pPr marL="513195" lvl="1" indent="-256598" algn="l">
              <a:lnSpc>
                <a:spcPts val="4231"/>
              </a:lnSpc>
              <a:buFont typeface="Arial"/>
              <a:buChar char="•"/>
            </a:pPr>
            <a:r>
              <a:rPr lang="en-US" sz="2377" spc="-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Independent Test Set: Used for final cross-population evaluation only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1189" y="528868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Methodology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5CB0FA-901F-F5A3-8364-6548AE9AD221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090370"/>
            <a:ext cx="2476665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37373" y="1115606"/>
            <a:ext cx="7958256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MACHINE LEARNING MODELS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829" y="2411609"/>
            <a:ext cx="7499239" cy="540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3" lvl="1" indent="-388622" algn="just">
              <a:lnSpc>
                <a:spcPts val="7200"/>
              </a:lnSpc>
              <a:buAutoNum type="arabicPeriod"/>
            </a:pPr>
            <a:r>
              <a:rPr lang="en-US" sz="3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Logistic Regression</a:t>
            </a:r>
          </a:p>
          <a:p>
            <a:pPr marL="777243" lvl="1" indent="-388622" algn="just">
              <a:lnSpc>
                <a:spcPts val="7200"/>
              </a:lnSpc>
              <a:buAutoNum type="arabicPeriod"/>
            </a:pPr>
            <a:r>
              <a:rPr lang="en-US" sz="3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Random Forest</a:t>
            </a:r>
          </a:p>
          <a:p>
            <a:pPr marL="777243" lvl="1" indent="-388622" algn="just">
              <a:lnSpc>
                <a:spcPts val="7200"/>
              </a:lnSpc>
              <a:buAutoNum type="arabicPeriod"/>
            </a:pPr>
            <a:r>
              <a:rPr lang="en-US" sz="3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XGBoost</a:t>
            </a:r>
          </a:p>
          <a:p>
            <a:pPr marL="777243" lvl="1" indent="-388622" algn="just">
              <a:lnSpc>
                <a:spcPts val="7200"/>
              </a:lnSpc>
              <a:buAutoNum type="arabicPeriod"/>
            </a:pPr>
            <a:r>
              <a:rPr lang="en-US" sz="3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LightGBM</a:t>
            </a:r>
          </a:p>
          <a:p>
            <a:pPr marL="777243" lvl="1" indent="-388622" algn="just">
              <a:lnSpc>
                <a:spcPts val="7200"/>
              </a:lnSpc>
              <a:buAutoNum type="arabicPeriod"/>
            </a:pPr>
            <a:r>
              <a:rPr lang="en-US" sz="3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CatBoost</a:t>
            </a:r>
          </a:p>
          <a:p>
            <a:pPr marL="777243" lvl="1" indent="-388622" algn="just">
              <a:lnSpc>
                <a:spcPts val="7200"/>
              </a:lnSpc>
              <a:buAutoNum type="arabicPeriod"/>
            </a:pPr>
            <a:r>
              <a:rPr lang="en-US" sz="3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Soft Voting Ensemble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058511" y="3211063"/>
            <a:ext cx="3200789" cy="2464173"/>
            <a:chOff x="0" y="0"/>
            <a:chExt cx="1055771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5771" cy="812800"/>
            </a:xfrm>
            <a:custGeom>
              <a:avLst/>
              <a:gdLst/>
              <a:ahLst/>
              <a:cxnLst/>
              <a:rect l="l" t="t" r="r" b="b"/>
              <a:pathLst>
                <a:path w="1055771" h="812800">
                  <a:moveTo>
                    <a:pt x="527885" y="0"/>
                  </a:moveTo>
                  <a:cubicBezTo>
                    <a:pt x="236342" y="0"/>
                    <a:pt x="0" y="181951"/>
                    <a:pt x="0" y="406400"/>
                  </a:cubicBezTo>
                  <a:cubicBezTo>
                    <a:pt x="0" y="630849"/>
                    <a:pt x="236342" y="812800"/>
                    <a:pt x="527885" y="812800"/>
                  </a:cubicBezTo>
                  <a:cubicBezTo>
                    <a:pt x="819428" y="812800"/>
                    <a:pt x="1055771" y="630849"/>
                    <a:pt x="1055771" y="406400"/>
                  </a:cubicBezTo>
                  <a:cubicBezTo>
                    <a:pt x="1055771" y="181951"/>
                    <a:pt x="819428" y="0"/>
                    <a:pt x="527885" y="0"/>
                  </a:cubicBezTo>
                  <a:close/>
                </a:path>
              </a:pathLst>
            </a:custGeom>
            <a:blipFill>
              <a:blip r:embed="rId2"/>
              <a:stretch>
                <a:fillRect l="-1582" r="-158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58511" y="6227466"/>
            <a:ext cx="3200789" cy="2464173"/>
            <a:chOff x="0" y="0"/>
            <a:chExt cx="1055771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5771" cy="812800"/>
            </a:xfrm>
            <a:custGeom>
              <a:avLst/>
              <a:gdLst/>
              <a:ahLst/>
              <a:cxnLst/>
              <a:rect l="l" t="t" r="r" b="b"/>
              <a:pathLst>
                <a:path w="1055771" h="812800">
                  <a:moveTo>
                    <a:pt x="527885" y="0"/>
                  </a:moveTo>
                  <a:cubicBezTo>
                    <a:pt x="236342" y="0"/>
                    <a:pt x="0" y="181951"/>
                    <a:pt x="0" y="406400"/>
                  </a:cubicBezTo>
                  <a:cubicBezTo>
                    <a:pt x="0" y="630849"/>
                    <a:pt x="236342" y="812800"/>
                    <a:pt x="527885" y="812800"/>
                  </a:cubicBezTo>
                  <a:cubicBezTo>
                    <a:pt x="819428" y="812800"/>
                    <a:pt x="1055771" y="630849"/>
                    <a:pt x="1055771" y="406400"/>
                  </a:cubicBezTo>
                  <a:cubicBezTo>
                    <a:pt x="1055771" y="181951"/>
                    <a:pt x="819428" y="0"/>
                    <a:pt x="527885" y="0"/>
                  </a:cubicBezTo>
                  <a:close/>
                </a:path>
              </a:pathLst>
            </a:custGeom>
            <a:blipFill>
              <a:blip r:embed="rId3"/>
              <a:stretch>
                <a:fillRect l="-1582" r="-158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6710822" y="-485181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477571" y="8524634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111189" y="528868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Methodology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1341C6-5444-AADE-E9A4-93400715FA90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20280" y="9258300"/>
            <a:ext cx="2867720" cy="625684"/>
          </a:xfrm>
          <a:custGeom>
            <a:avLst/>
            <a:gdLst/>
            <a:ahLst/>
            <a:cxnLst/>
            <a:rect l="l" t="t" r="r" b="b"/>
            <a:pathLst>
              <a:path w="2867720" h="625684">
                <a:moveTo>
                  <a:pt x="0" y="0"/>
                </a:moveTo>
                <a:lnTo>
                  <a:pt x="2867720" y="0"/>
                </a:lnTo>
                <a:lnTo>
                  <a:pt x="2867720" y="625684"/>
                </a:lnTo>
                <a:lnTo>
                  <a:pt x="0" y="625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8344239"/>
            <a:ext cx="1232770" cy="1942761"/>
          </a:xfrm>
          <a:custGeom>
            <a:avLst/>
            <a:gdLst/>
            <a:ahLst/>
            <a:cxnLst/>
            <a:rect l="l" t="t" r="r" b="b"/>
            <a:pathLst>
              <a:path w="1232770" h="1942761">
                <a:moveTo>
                  <a:pt x="0" y="0"/>
                </a:moveTo>
                <a:lnTo>
                  <a:pt x="1232770" y="0"/>
                </a:lnTo>
                <a:lnTo>
                  <a:pt x="1232770" y="1942761"/>
                </a:lnTo>
                <a:lnTo>
                  <a:pt x="0" y="19427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17055230" y="0"/>
            <a:ext cx="1232770" cy="1942761"/>
          </a:xfrm>
          <a:custGeom>
            <a:avLst/>
            <a:gdLst/>
            <a:ahLst/>
            <a:cxnLst/>
            <a:rect l="l" t="t" r="r" b="b"/>
            <a:pathLst>
              <a:path w="1232770" h="1942761">
                <a:moveTo>
                  <a:pt x="0" y="1942761"/>
                </a:moveTo>
                <a:lnTo>
                  <a:pt x="1232770" y="1942761"/>
                </a:lnTo>
                <a:lnTo>
                  <a:pt x="1232770" y="0"/>
                </a:lnTo>
                <a:lnTo>
                  <a:pt x="0" y="0"/>
                </a:lnTo>
                <a:lnTo>
                  <a:pt x="0" y="19427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255102" y="2162305"/>
            <a:ext cx="2249874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232770" y="1198742"/>
            <a:ext cx="6127155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EVALUATION METRICS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1189" y="528868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80039" y="3171429"/>
            <a:ext cx="6842987" cy="578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26"/>
              </a:lnSpc>
              <a:spcBef>
                <a:spcPct val="0"/>
              </a:spcBef>
            </a:pPr>
            <a:r>
              <a:rPr lang="en-US" sz="3376" spc="-67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Recall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80039" y="5375721"/>
            <a:ext cx="6842987" cy="578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26"/>
              </a:lnSpc>
              <a:spcBef>
                <a:spcPct val="0"/>
              </a:spcBef>
            </a:pPr>
            <a:r>
              <a:rPr lang="en-US" sz="3376" spc="-67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Accuracy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80039" y="4274992"/>
            <a:ext cx="6842987" cy="578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26"/>
              </a:lnSpc>
              <a:spcBef>
                <a:spcPct val="0"/>
              </a:spcBef>
            </a:pPr>
            <a:r>
              <a:rPr lang="en-US" sz="3376" spc="-67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Precision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80039" y="6470758"/>
            <a:ext cx="6842987" cy="578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26"/>
              </a:lnSpc>
              <a:spcBef>
                <a:spcPct val="0"/>
              </a:spcBef>
            </a:pPr>
            <a:r>
              <a:rPr lang="en-US" sz="3376" spc="-67">
                <a:solidFill>
                  <a:srgbClr val="1C191A"/>
                </a:solidFill>
                <a:latin typeface="Lato"/>
                <a:ea typeface="Lato"/>
                <a:cs typeface="Lato"/>
                <a:sym typeface="Lato"/>
              </a:rPr>
              <a:t>F1 Score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9E8E0F-37E9-D7B6-B74B-E58E5D25DDC6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66" y="1157188"/>
            <a:ext cx="13610678" cy="1014770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11189" y="1339724"/>
            <a:ext cx="8004127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Lato"/>
                <a:cs typeface="Lato"/>
                <a:sym typeface="Lato"/>
              </a:rPr>
              <a:t>Model Evaluation and Results</a:t>
            </a:r>
            <a:endParaRPr lang="en-US" sz="4800" b="1">
              <a:solidFill>
                <a:srgbClr val="000000"/>
              </a:solidFill>
              <a:latin typeface="Source Sans 3 Bold"/>
              <a:ea typeface="Lato"/>
              <a:cs typeface="Lat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01664" y="520567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</a:p>
        </p:txBody>
      </p:sp>
      <p:sp>
        <p:nvSpPr>
          <p:cNvPr id="5" name="AutoShape 5"/>
          <p:cNvSpPr/>
          <p:nvPr/>
        </p:nvSpPr>
        <p:spPr>
          <a:xfrm>
            <a:off x="1111189" y="2145882"/>
            <a:ext cx="2249874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B4565C-A8B5-E14D-EE22-DDBA9FD41822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99959" y="2252219"/>
            <a:ext cx="12688082" cy="7977631"/>
          </a:xfrm>
          <a:custGeom>
            <a:avLst/>
            <a:gdLst/>
            <a:ahLst/>
            <a:cxnLst/>
            <a:rect l="l" t="t" r="r" b="b"/>
            <a:pathLst>
              <a:path w="12688082" h="7977631">
                <a:moveTo>
                  <a:pt x="0" y="0"/>
                </a:moveTo>
                <a:lnTo>
                  <a:pt x="12688082" y="0"/>
                </a:lnTo>
                <a:lnTo>
                  <a:pt x="12688082" y="7977631"/>
                </a:lnTo>
                <a:lnTo>
                  <a:pt x="0" y="7977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11189" y="1339724"/>
            <a:ext cx="8004127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00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Lato"/>
                <a:cs typeface="Lato"/>
                <a:sym typeface="Lato"/>
              </a:rPr>
              <a:t>Confusion Metrices</a:t>
            </a:r>
            <a:endParaRPr lang="en-US" sz="4800" b="1">
              <a:solidFill>
                <a:srgbClr val="000000"/>
              </a:solidFill>
              <a:latin typeface="Source Sans 3 Bold"/>
              <a:ea typeface="Lato"/>
              <a:cs typeface="Lat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01664" y="520567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</a:p>
        </p:txBody>
      </p:sp>
      <p:sp>
        <p:nvSpPr>
          <p:cNvPr id="5" name="AutoShape 5"/>
          <p:cNvSpPr/>
          <p:nvPr/>
        </p:nvSpPr>
        <p:spPr>
          <a:xfrm>
            <a:off x="1111189" y="2147444"/>
            <a:ext cx="2249874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7F4ED7-9FC4-9798-7A10-0D478218CD68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01664" y="2169501"/>
            <a:ext cx="3105837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601647" y="3155706"/>
            <a:ext cx="5322773" cy="4945939"/>
          </a:xfrm>
          <a:custGeom>
            <a:avLst/>
            <a:gdLst/>
            <a:ahLst/>
            <a:cxnLst/>
            <a:rect l="l" t="t" r="r" b="b"/>
            <a:pathLst>
              <a:path w="5322773" h="4945939">
                <a:moveTo>
                  <a:pt x="0" y="0"/>
                </a:moveTo>
                <a:lnTo>
                  <a:pt x="5322773" y="0"/>
                </a:lnTo>
                <a:lnTo>
                  <a:pt x="5322773" y="4945939"/>
                </a:lnTo>
                <a:lnTo>
                  <a:pt x="0" y="4945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060110" y="8327314"/>
            <a:ext cx="6864310" cy="1464386"/>
          </a:xfrm>
          <a:custGeom>
            <a:avLst/>
            <a:gdLst/>
            <a:ahLst/>
            <a:cxnLst/>
            <a:rect l="l" t="t" r="r" b="b"/>
            <a:pathLst>
              <a:path w="6864310" h="1464386">
                <a:moveTo>
                  <a:pt x="0" y="0"/>
                </a:moveTo>
                <a:lnTo>
                  <a:pt x="6864310" y="0"/>
                </a:lnTo>
                <a:lnTo>
                  <a:pt x="6864310" y="1464386"/>
                </a:lnTo>
                <a:lnTo>
                  <a:pt x="0" y="1464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9240" y="9123503"/>
            <a:ext cx="2867720" cy="625684"/>
          </a:xfrm>
          <a:custGeom>
            <a:avLst/>
            <a:gdLst/>
            <a:ahLst/>
            <a:cxnLst/>
            <a:rect l="l" t="t" r="r" b="b"/>
            <a:pathLst>
              <a:path w="2867720" h="625684">
                <a:moveTo>
                  <a:pt x="0" y="0"/>
                </a:moveTo>
                <a:lnTo>
                  <a:pt x="2867720" y="0"/>
                </a:lnTo>
                <a:lnTo>
                  <a:pt x="2867720" y="625685"/>
                </a:lnTo>
                <a:lnTo>
                  <a:pt x="0" y="625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378604" y="3155706"/>
            <a:ext cx="5023018" cy="4639321"/>
          </a:xfrm>
          <a:custGeom>
            <a:avLst/>
            <a:gdLst/>
            <a:ahLst/>
            <a:cxnLst/>
            <a:rect l="l" t="t" r="r" b="b"/>
            <a:pathLst>
              <a:path w="5023018" h="4639321">
                <a:moveTo>
                  <a:pt x="0" y="0"/>
                </a:moveTo>
                <a:lnTo>
                  <a:pt x="5023018" y="0"/>
                </a:lnTo>
                <a:lnTo>
                  <a:pt x="5023018" y="4639320"/>
                </a:lnTo>
                <a:lnTo>
                  <a:pt x="0" y="46393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16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01664" y="1160586"/>
            <a:ext cx="13546908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CAMBODIA STEPS INDEPENDENT TEST RESULT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3321" y="3446770"/>
            <a:ext cx="6724892" cy="252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0906" lvl="1" indent="-275453" algn="l">
              <a:lnSpc>
                <a:spcPts val="5103"/>
              </a:lnSpc>
              <a:buFont typeface="Arial"/>
              <a:buChar char="•"/>
            </a:pPr>
            <a:r>
              <a:rPr lang="en-US" sz="255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Final selected model: Soft Voting Ensemble</a:t>
            </a:r>
          </a:p>
          <a:p>
            <a:pPr marL="550906" lvl="1" indent="-275453" algn="l">
              <a:lnSpc>
                <a:spcPts val="5103"/>
              </a:lnSpc>
              <a:buFont typeface="Arial"/>
              <a:buChar char="•"/>
            </a:pPr>
            <a:r>
              <a:rPr lang="en-US" sz="255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Lower performance is expected because the datasets come from different populations and survey systems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664" y="520567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1C95B0-C36F-05F5-96AA-E86AD9B4B175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55230" y="8344239"/>
            <a:ext cx="1232770" cy="1942761"/>
          </a:xfrm>
          <a:custGeom>
            <a:avLst/>
            <a:gdLst/>
            <a:ahLst/>
            <a:cxnLst/>
            <a:rect l="l" t="t" r="r" b="b"/>
            <a:pathLst>
              <a:path w="1232770" h="1942761">
                <a:moveTo>
                  <a:pt x="0" y="0"/>
                </a:moveTo>
                <a:lnTo>
                  <a:pt x="1232770" y="0"/>
                </a:lnTo>
                <a:lnTo>
                  <a:pt x="1232770" y="1942761"/>
                </a:lnTo>
                <a:lnTo>
                  <a:pt x="0" y="1942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08537" y="2108745"/>
            <a:ext cx="2226187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48264" y="2973416"/>
            <a:ext cx="7360437" cy="4783564"/>
            <a:chOff x="0" y="0"/>
            <a:chExt cx="1938551" cy="1259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38551" cy="1259869"/>
            </a:xfrm>
            <a:custGeom>
              <a:avLst/>
              <a:gdLst/>
              <a:ahLst/>
              <a:cxnLst/>
              <a:rect l="l" t="t" r="r" b="b"/>
              <a:pathLst>
                <a:path w="1938551" h="1259869">
                  <a:moveTo>
                    <a:pt x="0" y="0"/>
                  </a:moveTo>
                  <a:lnTo>
                    <a:pt x="1938551" y="0"/>
                  </a:lnTo>
                  <a:lnTo>
                    <a:pt x="1938551" y="1259869"/>
                  </a:lnTo>
                  <a:lnTo>
                    <a:pt x="0" y="1259869"/>
                  </a:lnTo>
                  <a:close/>
                </a:path>
              </a:pathLst>
            </a:custGeom>
            <a:solidFill>
              <a:srgbClr val="ECE7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38551" cy="1297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02340" y="2973416"/>
            <a:ext cx="7360437" cy="4783564"/>
            <a:chOff x="0" y="0"/>
            <a:chExt cx="1938551" cy="12598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38551" cy="1259869"/>
            </a:xfrm>
            <a:custGeom>
              <a:avLst/>
              <a:gdLst/>
              <a:ahLst/>
              <a:cxnLst/>
              <a:rect l="l" t="t" r="r" b="b"/>
              <a:pathLst>
                <a:path w="1938551" h="1259869">
                  <a:moveTo>
                    <a:pt x="0" y="0"/>
                  </a:moveTo>
                  <a:lnTo>
                    <a:pt x="1938551" y="0"/>
                  </a:lnTo>
                  <a:lnTo>
                    <a:pt x="1938551" y="1259869"/>
                  </a:lnTo>
                  <a:lnTo>
                    <a:pt x="0" y="1259869"/>
                  </a:lnTo>
                  <a:close/>
                </a:path>
              </a:pathLst>
            </a:custGeom>
            <a:solidFill>
              <a:srgbClr val="ECE7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38551" cy="1297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01664" y="1196104"/>
            <a:ext cx="4466118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EXPLAINABLE 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89371" y="3468582"/>
            <a:ext cx="3397932" cy="514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17"/>
              </a:lnSpc>
              <a:spcBef>
                <a:spcPct val="0"/>
              </a:spcBef>
            </a:pPr>
            <a:r>
              <a:rPr lang="en-US" sz="3012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Global Explanation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87486" y="3468582"/>
            <a:ext cx="3319114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17"/>
              </a:lnSpc>
              <a:spcBef>
                <a:spcPct val="0"/>
              </a:spcBef>
            </a:pPr>
            <a:r>
              <a:rPr lang="en-US" sz="3012" b="1" dirty="0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Local Explanation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79790" y="4560300"/>
            <a:ext cx="6497385" cy="243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43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Overall feature importance across the entire dataset using SHAP summary plots.</a:t>
            </a:r>
          </a:p>
          <a:p>
            <a:pPr marL="0" lvl="0" indent="0" algn="just">
              <a:lnSpc>
                <a:spcPts val="2443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Identifies which features most influence diabetes risk predictions globally</a:t>
            </a:r>
          </a:p>
          <a:p>
            <a:pPr marL="0" lvl="0" indent="0" algn="just">
              <a:lnSpc>
                <a:spcPts val="2443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BMI, age, blood pressure, and general health rank as top contributors</a:t>
            </a:r>
          </a:p>
          <a:p>
            <a:pPr marL="0" lvl="0" indent="0" algn="just">
              <a:lnSpc>
                <a:spcPts val="2443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SHAP summary plot visualizes direction and magnitude of each feature's impact</a:t>
            </a:r>
          </a:p>
          <a:p>
            <a:pPr marL="0" lvl="0" indent="0" algn="just">
              <a:lnSpc>
                <a:spcPts val="2443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Enables model-level transparency for researchers and practitioners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3866" y="4712700"/>
            <a:ext cx="6497385" cy="243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43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Individual prediction rationale for a single patient using SHAP force plots.</a:t>
            </a:r>
          </a:p>
          <a:p>
            <a:pPr marL="0" lvl="0" indent="0" algn="just">
              <a:lnSpc>
                <a:spcPts val="2443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Explains why the model assigned a specific risk probability to one person</a:t>
            </a:r>
          </a:p>
          <a:p>
            <a:pPr marL="0" lvl="0" indent="0" algn="just">
              <a:lnSpc>
                <a:spcPts val="2443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Shows which features pushed the prediction higher or lower</a:t>
            </a:r>
          </a:p>
          <a:p>
            <a:pPr marL="0" lvl="0" indent="0" algn="just">
              <a:lnSpc>
                <a:spcPts val="2443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SHAP force plot highlights positive and negative contributing factors</a:t>
            </a:r>
          </a:p>
          <a:p>
            <a:pPr marL="0" lvl="0" indent="0" algn="just">
              <a:lnSpc>
                <a:spcPts val="2443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Builds trust by making individual predictions interpretable and actionable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1664" y="520567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1A36AB-28E5-56EC-3C8C-3004FB344110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8186" y="1326430"/>
            <a:ext cx="21996186" cy="8613391"/>
            <a:chOff x="0" y="0"/>
            <a:chExt cx="1170957" cy="458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957" cy="458530"/>
            </a:xfrm>
            <a:custGeom>
              <a:avLst/>
              <a:gdLst/>
              <a:ahLst/>
              <a:cxnLst/>
              <a:rect l="l" t="t" r="r" b="b"/>
              <a:pathLst>
                <a:path w="1170957" h="458530">
                  <a:moveTo>
                    <a:pt x="967757" y="0"/>
                  </a:moveTo>
                  <a:cubicBezTo>
                    <a:pt x="1079981" y="0"/>
                    <a:pt x="1170957" y="102645"/>
                    <a:pt x="1170957" y="229265"/>
                  </a:cubicBezTo>
                  <a:cubicBezTo>
                    <a:pt x="1170957" y="355885"/>
                    <a:pt x="1079981" y="458530"/>
                    <a:pt x="967757" y="458530"/>
                  </a:cubicBezTo>
                  <a:lnTo>
                    <a:pt x="203200" y="458530"/>
                  </a:lnTo>
                  <a:cubicBezTo>
                    <a:pt x="90976" y="458530"/>
                    <a:pt x="0" y="355885"/>
                    <a:pt x="0" y="229265"/>
                  </a:cubicBezTo>
                  <a:cubicBezTo>
                    <a:pt x="0" y="10264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70957" cy="506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7929" y="9939821"/>
            <a:ext cx="248490" cy="2484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010810" y="1028700"/>
            <a:ext cx="248490" cy="2484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12960" y="3367220"/>
            <a:ext cx="8205693" cy="5415867"/>
          </a:xfrm>
          <a:custGeom>
            <a:avLst/>
            <a:gdLst/>
            <a:ahLst/>
            <a:cxnLst/>
            <a:rect l="l" t="t" r="r" b="b"/>
            <a:pathLst>
              <a:path w="8205693" h="5415867">
                <a:moveTo>
                  <a:pt x="0" y="0"/>
                </a:moveTo>
                <a:lnTo>
                  <a:pt x="8205693" y="0"/>
                </a:lnTo>
                <a:lnTo>
                  <a:pt x="8205693" y="5415866"/>
                </a:lnTo>
                <a:lnTo>
                  <a:pt x="0" y="5415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1153837"/>
            <a:ext cx="15529061" cy="89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2"/>
              </a:lnSpc>
            </a:pPr>
            <a:r>
              <a:rPr lang="en-US" sz="4800" b="1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SHAP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568389"/>
            <a:ext cx="15529061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  <a:spcBef>
                <a:spcPct val="0"/>
              </a:spcBef>
            </a:pPr>
            <a:r>
              <a:rPr lang="en-US" sz="2299" spc="16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SHAP was used to explain how the final Soft Voting Ensemble model makes diabetes risk predictions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1664" y="520567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108537" y="2108745"/>
            <a:ext cx="2226187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969915" y="3367220"/>
            <a:ext cx="7396032" cy="5525552"/>
          </a:xfrm>
          <a:custGeom>
            <a:avLst/>
            <a:gdLst/>
            <a:ahLst/>
            <a:cxnLst/>
            <a:rect l="l" t="t" r="r" b="b"/>
            <a:pathLst>
              <a:path w="7396032" h="5525552">
                <a:moveTo>
                  <a:pt x="0" y="0"/>
                </a:moveTo>
                <a:lnTo>
                  <a:pt x="7396032" y="0"/>
                </a:lnTo>
                <a:lnTo>
                  <a:pt x="7396032" y="5525551"/>
                </a:lnTo>
                <a:lnTo>
                  <a:pt x="0" y="55255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65C43D-D2C3-EFBB-6775-0EBE225619D9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28700" y="2144984"/>
            <a:ext cx="5114308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11129"/>
            <a:ext cx="10700255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RISK OUTPUT &amp; ACTIONABLE INSIGHTS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1664" y="520567"/>
            <a:ext cx="8651943" cy="40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sz="30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01664" y="3021700"/>
            <a:ext cx="7360437" cy="4783564"/>
            <a:chOff x="0" y="0"/>
            <a:chExt cx="1938551" cy="12598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38551" cy="1259869"/>
            </a:xfrm>
            <a:custGeom>
              <a:avLst/>
              <a:gdLst/>
              <a:ahLst/>
              <a:cxnLst/>
              <a:rect l="l" t="t" r="r" b="b"/>
              <a:pathLst>
                <a:path w="1938551" h="1259869">
                  <a:moveTo>
                    <a:pt x="0" y="0"/>
                  </a:moveTo>
                  <a:lnTo>
                    <a:pt x="1938551" y="0"/>
                  </a:lnTo>
                  <a:lnTo>
                    <a:pt x="1938551" y="1259869"/>
                  </a:lnTo>
                  <a:lnTo>
                    <a:pt x="0" y="1259869"/>
                  </a:lnTo>
                  <a:close/>
                </a:path>
              </a:pathLst>
            </a:custGeom>
            <a:solidFill>
              <a:srgbClr val="ECE7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38551" cy="1297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55740" y="3021700"/>
            <a:ext cx="7360437" cy="4783564"/>
            <a:chOff x="0" y="0"/>
            <a:chExt cx="1938551" cy="12598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38551" cy="1259869"/>
            </a:xfrm>
            <a:custGeom>
              <a:avLst/>
              <a:gdLst/>
              <a:ahLst/>
              <a:cxnLst/>
              <a:rect l="l" t="t" r="r" b="b"/>
              <a:pathLst>
                <a:path w="1938551" h="1259869">
                  <a:moveTo>
                    <a:pt x="0" y="0"/>
                  </a:moveTo>
                  <a:lnTo>
                    <a:pt x="1938551" y="0"/>
                  </a:lnTo>
                  <a:lnTo>
                    <a:pt x="1938551" y="1259869"/>
                  </a:lnTo>
                  <a:lnTo>
                    <a:pt x="0" y="1259869"/>
                  </a:lnTo>
                  <a:close/>
                </a:path>
              </a:pathLst>
            </a:custGeom>
            <a:solidFill>
              <a:srgbClr val="ECE7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38551" cy="1297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842772" y="3516866"/>
            <a:ext cx="3397932" cy="48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1"/>
              </a:lnSpc>
              <a:spcBef>
                <a:spcPct val="0"/>
              </a:spcBef>
            </a:pPr>
            <a:r>
              <a:rPr lang="en-US" sz="2786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Risk Levels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40887" y="3516866"/>
            <a:ext cx="2990143" cy="48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1"/>
              </a:lnSpc>
              <a:spcBef>
                <a:spcPct val="0"/>
              </a:spcBef>
            </a:pPr>
            <a:r>
              <a:rPr lang="en-US" sz="2786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Actionable Insights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4059" y="4171105"/>
            <a:ext cx="6497385" cy="280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30"/>
              </a:lnSpc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🟢 Low Risk</a:t>
            </a:r>
          </a:p>
          <a:p>
            <a:pPr marL="0" lvl="0" indent="0" algn="just">
              <a:lnSpc>
                <a:spcPts val="2530"/>
              </a:lnSpc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Probability &lt; 30%</a:t>
            </a:r>
          </a:p>
          <a:p>
            <a:pPr marL="0" lvl="0" indent="0" algn="just">
              <a:lnSpc>
                <a:spcPts val="2530"/>
              </a:lnSpc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Continue healthy habits and routine check-ups</a:t>
            </a:r>
          </a:p>
          <a:p>
            <a:pPr marL="0" lvl="0" indent="0" algn="just">
              <a:lnSpc>
                <a:spcPts val="2530"/>
              </a:lnSpc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🟡 Moderate Risk</a:t>
            </a:r>
          </a:p>
          <a:p>
            <a:pPr marL="0" lvl="0" indent="0" algn="just">
              <a:lnSpc>
                <a:spcPts val="2530"/>
              </a:lnSpc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Probability 30% – 69%</a:t>
            </a:r>
          </a:p>
          <a:p>
            <a:pPr marL="0" lvl="0" indent="0" algn="just">
              <a:lnSpc>
                <a:spcPts val="2530"/>
              </a:lnSpc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Consult a healthcare provider and monitor key indicators</a:t>
            </a:r>
          </a:p>
          <a:p>
            <a:pPr marL="0" lvl="0" indent="0" algn="just">
              <a:lnSpc>
                <a:spcPts val="2530"/>
              </a:lnSpc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🔴 High Risk</a:t>
            </a:r>
          </a:p>
          <a:p>
            <a:pPr marL="0" lvl="0" indent="0" algn="just">
              <a:lnSpc>
                <a:spcPts val="2530"/>
              </a:lnSpc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Probability ≥ 70%</a:t>
            </a:r>
          </a:p>
          <a:p>
            <a:pPr marL="0" lvl="0" indent="0" algn="just">
              <a:lnSpc>
                <a:spcPts val="2530"/>
              </a:lnSpc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Seek medical advice promptly and take preventive action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87266" y="4322466"/>
            <a:ext cx="6497385" cy="217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30"/>
              </a:lnSpc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Actionable Insights:</a:t>
            </a:r>
          </a:p>
          <a:p>
            <a:pPr marL="341500" lvl="1" indent="-170750" algn="just">
              <a:lnSpc>
                <a:spcPts val="2530"/>
              </a:lnSpc>
              <a:buFont typeface="Arial"/>
              <a:buChar char="•"/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Check blood sugar with a healthcare provider</a:t>
            </a:r>
          </a:p>
          <a:p>
            <a:pPr marL="341500" lvl="1" indent="-170750" algn="just">
              <a:lnSpc>
                <a:spcPts val="2530"/>
              </a:lnSpc>
              <a:buFont typeface="Arial"/>
              <a:buChar char="•"/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Maintain a healthy BMI</a:t>
            </a:r>
          </a:p>
          <a:p>
            <a:pPr marL="341500" lvl="1" indent="-170750" algn="just">
              <a:lnSpc>
                <a:spcPts val="2530"/>
              </a:lnSpc>
              <a:buFont typeface="Arial"/>
              <a:buChar char="•"/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Increase physical activity</a:t>
            </a:r>
          </a:p>
          <a:p>
            <a:pPr marL="341500" lvl="1" indent="-170750" algn="just">
              <a:lnSpc>
                <a:spcPts val="2530"/>
              </a:lnSpc>
              <a:buFont typeface="Arial"/>
              <a:buChar char="•"/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Improve diet by reducing sugar and eating more vegetables and fruits</a:t>
            </a:r>
          </a:p>
          <a:p>
            <a:pPr marL="341500" lvl="1" indent="-170750" algn="just">
              <a:lnSpc>
                <a:spcPts val="2530"/>
              </a:lnSpc>
              <a:buFont typeface="Arial"/>
              <a:buChar char="•"/>
            </a:pPr>
            <a:r>
              <a:rPr lang="en-US" sz="158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Monitor blood pressure and cholesterol regularly</a:t>
            </a:r>
          </a:p>
          <a:p>
            <a:pPr marL="0" lvl="0" indent="0" algn="just">
              <a:lnSpc>
                <a:spcPts val="2530"/>
              </a:lnSpc>
            </a:pPr>
            <a:endParaRPr lang="en-US" sz="1581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530764" y="3908233"/>
            <a:ext cx="2931337" cy="1694308"/>
          </a:xfrm>
          <a:custGeom>
            <a:avLst/>
            <a:gdLst/>
            <a:ahLst/>
            <a:cxnLst/>
            <a:rect l="l" t="t" r="r" b="b"/>
            <a:pathLst>
              <a:path w="2931337" h="1694308">
                <a:moveTo>
                  <a:pt x="0" y="0"/>
                </a:moveTo>
                <a:lnTo>
                  <a:pt x="2931337" y="0"/>
                </a:lnTo>
                <a:lnTo>
                  <a:pt x="2931337" y="1694308"/>
                </a:lnTo>
                <a:lnTo>
                  <a:pt x="0" y="1694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4F9CC7-2DAE-8A1B-A508-686FCA6B6A15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93284" y="2002178"/>
            <a:ext cx="2971190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291028" y="933606"/>
            <a:ext cx="8582525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+mn-lt"/>
                <a:cs typeface="+mn-lt"/>
                <a:sym typeface="Source Sans 3 Bold"/>
              </a:rPr>
              <a:t>Limitation and Future Work</a:t>
            </a:r>
            <a:endParaRPr lang="en-US" b="1">
              <a:latin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93284" y="2393747"/>
            <a:ext cx="13154706" cy="617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Limitation:</a:t>
            </a:r>
            <a:endParaRPr lang="en-US" sz="3000">
              <a:solidFill>
                <a:srgbClr val="000000"/>
              </a:solidFill>
              <a:latin typeface="Source Sans 3"/>
              <a:ea typeface="Arimo"/>
              <a:cs typeface="Arimo"/>
            </a:endParaRPr>
          </a:p>
          <a:p>
            <a:pPr marL="541655" indent="-270510">
              <a:lnSpc>
                <a:spcPct val="150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Cambodia STEPS dataset is small: 873 records</a:t>
            </a:r>
            <a:endParaRPr lang="en-US" sz="3000">
              <a:latin typeface="Source Sans 3"/>
            </a:endParaRPr>
          </a:p>
          <a:p>
            <a:pPr marL="541655" lvl="1" indent="-270510">
              <a:lnSpc>
                <a:spcPct val="150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Data is imbalanced, with only about 14% diabetes cases</a:t>
            </a:r>
            <a:endParaRPr lang="en-US" sz="3000">
              <a:ea typeface="Calibri"/>
              <a:cs typeface="Calibri"/>
            </a:endParaRPr>
          </a:p>
          <a:p>
            <a:pPr marL="541655" lvl="1" indent="-270510">
              <a:lnSpc>
                <a:spcPct val="150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BRFSS and STEPS are from different populations</a:t>
            </a:r>
            <a:endParaRPr lang="en-US" sz="3000">
              <a:ea typeface="Calibri"/>
              <a:cs typeface="Calibri"/>
            </a:endParaRPr>
          </a:p>
          <a:p>
            <a:pPr marL="541655" lvl="1" indent="-270510">
              <a:lnSpc>
                <a:spcPct val="150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No clinical blood test data such as glucose or HbA1c</a:t>
            </a:r>
            <a:endParaRPr lang="en-US" sz="3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30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Future Work:</a:t>
            </a:r>
            <a:endParaRPr lang="en-US" sz="3000">
              <a:solidFill>
                <a:srgbClr val="000000"/>
              </a:solidFill>
              <a:latin typeface="Source Sans 3"/>
              <a:ea typeface="Source Sans 3"/>
              <a:cs typeface="Source Sans 3"/>
            </a:endParaRPr>
          </a:p>
          <a:p>
            <a:pPr marL="541655" indent="-270510">
              <a:lnSpc>
                <a:spcPct val="150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Collect more Cambodia health data</a:t>
            </a:r>
            <a:endParaRPr lang="en-US" sz="3000">
              <a:solidFill>
                <a:srgbClr val="000000"/>
              </a:solidFill>
              <a:latin typeface="Source Sans 3"/>
              <a:ea typeface="+mn-lt"/>
              <a:cs typeface="+mn-lt"/>
            </a:endParaRPr>
          </a:p>
          <a:p>
            <a:pPr marL="541655" lvl="1" indent="-270510">
              <a:lnSpc>
                <a:spcPct val="150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Add clinical features such as glucose and HbA1c</a:t>
            </a:r>
            <a:endParaRPr lang="en-US" sz="3000">
              <a:ea typeface="Calibri"/>
              <a:cs typeface="Calibri"/>
            </a:endParaRPr>
          </a:p>
          <a:p>
            <a:pPr marL="541655" lvl="1" indent="-270510">
              <a:lnSpc>
                <a:spcPct val="150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Improve model performance on local data</a:t>
            </a:r>
            <a:endParaRPr lang="en-US" sz="3000">
              <a:ea typeface="Calibri"/>
              <a:cs typeface="Calibri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383600" y="8738388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391580" y="8945458"/>
            <a:ext cx="2867720" cy="625684"/>
          </a:xfrm>
          <a:custGeom>
            <a:avLst/>
            <a:gdLst/>
            <a:ahLst/>
            <a:cxnLst/>
            <a:rect l="l" t="t" r="r" b="b"/>
            <a:pathLst>
              <a:path w="2867720" h="625684">
                <a:moveTo>
                  <a:pt x="0" y="0"/>
                </a:moveTo>
                <a:lnTo>
                  <a:pt x="2867720" y="0"/>
                </a:lnTo>
                <a:lnTo>
                  <a:pt x="2867720" y="625684"/>
                </a:lnTo>
                <a:lnTo>
                  <a:pt x="0" y="625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D9D9FF-98C5-7E4A-78B0-4F05718AA661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93284" y="2002178"/>
            <a:ext cx="2971190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253552" y="942975"/>
            <a:ext cx="8582525" cy="82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284" y="2899664"/>
            <a:ext cx="13154706" cy="4370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Built an explainable AI system for diabetes risk prediction</a:t>
            </a:r>
            <a:endParaRPr lang="en-US" sz="32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Trained models using BRFSS 2017 data</a:t>
            </a:r>
            <a:endParaRPr lang="en-US" sz="320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Tested the final model on Cambodia STEPS</a:t>
            </a:r>
            <a:endParaRPr lang="en-US" sz="320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Selected Soft Voting Ensemble as the final model</a:t>
            </a:r>
            <a:endParaRPr lang="en-US" sz="320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Used SHAP to explain important risk factors</a:t>
            </a:r>
            <a:endParaRPr lang="en-US" sz="320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urce Sans 3"/>
                <a:ea typeface="+mn-lt"/>
                <a:cs typeface="+mn-lt"/>
                <a:sym typeface="Source Sans 3"/>
              </a:rPr>
              <a:t>Generated risk level and actionable recommendations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383600" y="8738388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391580" y="8945458"/>
            <a:ext cx="2867720" cy="625684"/>
          </a:xfrm>
          <a:custGeom>
            <a:avLst/>
            <a:gdLst/>
            <a:ahLst/>
            <a:cxnLst/>
            <a:rect l="l" t="t" r="r" b="b"/>
            <a:pathLst>
              <a:path w="2867720" h="625684">
                <a:moveTo>
                  <a:pt x="0" y="0"/>
                </a:moveTo>
                <a:lnTo>
                  <a:pt x="2867720" y="0"/>
                </a:lnTo>
                <a:lnTo>
                  <a:pt x="2867720" y="625684"/>
                </a:lnTo>
                <a:lnTo>
                  <a:pt x="0" y="625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F40A1B-78D0-80B1-830C-CC24F73D5518}"/>
              </a:ext>
            </a:extLst>
          </p:cNvPr>
          <p:cNvSpPr/>
          <p:nvPr/>
        </p:nvSpPr>
        <p:spPr>
          <a:xfrm>
            <a:off x="17221200" y="9382539"/>
            <a:ext cx="701884" cy="7018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64994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716C-C0AD-C1CE-B24C-A40CAC57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E4DF680-1D81-C4BE-6489-726D415F86BE}"/>
              </a:ext>
            </a:extLst>
          </p:cNvPr>
          <p:cNvSpPr/>
          <p:nvPr/>
        </p:nvSpPr>
        <p:spPr>
          <a:xfrm>
            <a:off x="1077800" y="1561842"/>
            <a:ext cx="984994" cy="0"/>
          </a:xfrm>
          <a:prstGeom prst="line">
            <a:avLst/>
          </a:prstGeom>
          <a:ln w="38100" cap="flat">
            <a:solidFill>
              <a:srgbClr val="766D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FB69D08-F8F9-E4F7-060B-6EECDCEE656C}"/>
              </a:ext>
            </a:extLst>
          </p:cNvPr>
          <p:cNvSpPr txBox="1"/>
          <p:nvPr/>
        </p:nvSpPr>
        <p:spPr>
          <a:xfrm>
            <a:off x="1028700" y="690016"/>
            <a:ext cx="8582525" cy="82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Source Sans 3 Bold"/>
                <a:sym typeface="Source Sans 3 Bold"/>
              </a:rPr>
              <a:t>Demo</a:t>
            </a:r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ADD4D99-7067-CB3D-2C58-A3FF69798F26}"/>
              </a:ext>
            </a:extLst>
          </p:cNvPr>
          <p:cNvSpPr/>
          <p:nvPr/>
        </p:nvSpPr>
        <p:spPr>
          <a:xfrm>
            <a:off x="16383600" y="8738388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demo_v2">
            <a:hlinkClick r:id="" action="ppaction://media"/>
            <a:extLst>
              <a:ext uri="{FF2B5EF4-FFF2-40B4-BE49-F238E27FC236}">
                <a16:creationId xmlns:a16="http://schemas.microsoft.com/office/drawing/2014/main" id="{82568C24-8FB4-55E2-FE0F-BBB282A74A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69028" y="1829254"/>
            <a:ext cx="15233072" cy="833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16306" y="3732879"/>
            <a:ext cx="11741035" cy="192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0"/>
              </a:lnSpc>
            </a:pPr>
            <a:r>
              <a:rPr lang="en-US" sz="144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 rot="-5400000">
            <a:off x="8844097" y="2962242"/>
            <a:ext cx="235458" cy="5632453"/>
            <a:chOff x="0" y="0"/>
            <a:chExt cx="59491" cy="1423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491" cy="1423096"/>
            </a:xfrm>
            <a:custGeom>
              <a:avLst/>
              <a:gdLst/>
              <a:ahLst/>
              <a:cxnLst/>
              <a:rect l="l" t="t" r="r" b="b"/>
              <a:pathLst>
                <a:path w="59491" h="1423096">
                  <a:moveTo>
                    <a:pt x="29745" y="0"/>
                  </a:moveTo>
                  <a:lnTo>
                    <a:pt x="29745" y="0"/>
                  </a:lnTo>
                  <a:cubicBezTo>
                    <a:pt x="37634" y="0"/>
                    <a:pt x="45200" y="3134"/>
                    <a:pt x="50779" y="8712"/>
                  </a:cubicBezTo>
                  <a:cubicBezTo>
                    <a:pt x="56357" y="14291"/>
                    <a:pt x="59491" y="21856"/>
                    <a:pt x="59491" y="29745"/>
                  </a:cubicBezTo>
                  <a:lnTo>
                    <a:pt x="59491" y="1393350"/>
                  </a:lnTo>
                  <a:cubicBezTo>
                    <a:pt x="59491" y="1409778"/>
                    <a:pt x="46173" y="1423096"/>
                    <a:pt x="29745" y="1423096"/>
                  </a:cubicBezTo>
                  <a:lnTo>
                    <a:pt x="29745" y="1423096"/>
                  </a:lnTo>
                  <a:cubicBezTo>
                    <a:pt x="21856" y="1423096"/>
                    <a:pt x="14291" y="1419962"/>
                    <a:pt x="8712" y="1414383"/>
                  </a:cubicBezTo>
                  <a:cubicBezTo>
                    <a:pt x="3134" y="1408805"/>
                    <a:pt x="0" y="1401239"/>
                    <a:pt x="0" y="1393350"/>
                  </a:cubicBezTo>
                  <a:lnTo>
                    <a:pt x="0" y="29745"/>
                  </a:lnTo>
                  <a:cubicBezTo>
                    <a:pt x="0" y="13317"/>
                    <a:pt x="13317" y="0"/>
                    <a:pt x="29745" y="0"/>
                  </a:cubicBezTo>
                  <a:close/>
                </a:path>
              </a:pathLst>
            </a:custGeom>
            <a:solidFill>
              <a:srgbClr val="B9C7C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9491" cy="1461196"/>
            </a:xfrm>
            <a:prstGeom prst="rect">
              <a:avLst/>
            </a:prstGeom>
          </p:spPr>
          <p:txBody>
            <a:bodyPr lIns="52954" tIns="52954" rIns="52954" bIns="52954" rtlCol="0" anchor="ctr"/>
            <a:lstStyle/>
            <a:p>
              <a:pPr marL="0" lvl="0" indent="0"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477180" y="1130365"/>
            <a:ext cx="1352255" cy="274763"/>
            <a:chOff x="0" y="0"/>
            <a:chExt cx="1803007" cy="366350"/>
          </a:xfrm>
        </p:grpSpPr>
        <p:grpSp>
          <p:nvGrpSpPr>
            <p:cNvPr id="7" name="Group 7"/>
            <p:cNvGrpSpPr/>
            <p:nvPr/>
          </p:nvGrpSpPr>
          <p:grpSpPr>
            <a:xfrm rot="-5400000">
              <a:off x="0" y="0"/>
              <a:ext cx="366350" cy="366350"/>
              <a:chOff x="0" y="0"/>
              <a:chExt cx="178795" cy="17879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78795" cy="178795"/>
              </a:xfrm>
              <a:custGeom>
                <a:avLst/>
                <a:gdLst/>
                <a:ahLst/>
                <a:cxnLst/>
                <a:rect l="l" t="t" r="r" b="b"/>
                <a:pathLst>
                  <a:path w="178795" h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5400000">
              <a:off x="718328" y="0"/>
              <a:ext cx="366350" cy="366350"/>
              <a:chOff x="0" y="0"/>
              <a:chExt cx="178795" cy="17879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78795" cy="178795"/>
              </a:xfrm>
              <a:custGeom>
                <a:avLst/>
                <a:gdLst/>
                <a:ahLst/>
                <a:cxnLst/>
                <a:rect l="l" t="t" r="r" b="b"/>
                <a:pathLst>
                  <a:path w="178795" h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5400000">
              <a:off x="1436657" y="0"/>
              <a:ext cx="366350" cy="366350"/>
              <a:chOff x="0" y="0"/>
              <a:chExt cx="178795" cy="17879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78795" cy="178795"/>
              </a:xfrm>
              <a:custGeom>
                <a:avLst/>
                <a:gdLst/>
                <a:ahLst/>
                <a:cxnLst/>
                <a:rect l="l" t="t" r="r" b="b"/>
                <a:pathLst>
                  <a:path w="178795" h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9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1155</Words>
  <Application>Microsoft Office PowerPoint</Application>
  <PresentationFormat>Custom</PresentationFormat>
  <Paragraphs>208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8" baseType="lpstr">
      <vt:lpstr>Source Sans 3 Bold Italics</vt:lpstr>
      <vt:lpstr>Helios Extended Bold</vt:lpstr>
      <vt:lpstr>Aptos</vt:lpstr>
      <vt:lpstr>Arial</vt:lpstr>
      <vt:lpstr>Arimo Italics</vt:lpstr>
      <vt:lpstr>Canva Sans Bold</vt:lpstr>
      <vt:lpstr>Canva Sans</vt:lpstr>
      <vt:lpstr>Source Sans 3</vt:lpstr>
      <vt:lpstr>Source Sans 3 Bold</vt:lpstr>
      <vt:lpstr>Canva Sans Italics</vt:lpstr>
      <vt:lpstr>Lato Bold</vt:lpstr>
      <vt:lpstr>Calibri</vt:lpstr>
      <vt:lpstr>Arimo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</dc:creator>
  <cp:lastModifiedBy>﻿Nhor Povketya</cp:lastModifiedBy>
  <cp:revision>5</cp:revision>
  <dcterms:modified xsi:type="dcterms:W3CDTF">2026-06-25T08:31:13Z</dcterms:modified>
</cp:coreProperties>
</file>